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66" y="4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UI Preference</c:v>
                </c:pt>
              </c:strCache>
            </c:strRef>
          </c:tx>
          <c:spPr>
            <a:solidFill>
              <a:schemeClr val="accent1"/>
            </a:solidFill>
            <a:ln w="9525" cap="flat">
              <a:solidFill>
                <a:srgbClr val="F9F9F9"/>
              </a:solidFill>
              <a:prstDash val="solid"/>
              <a:round/>
            </a:ln>
            <a:effectLst/>
          </c:spPr>
          <c:dPt>
            <c:idx val="0"/>
            <c:bubble3D val="0"/>
            <c:spPr>
              <a:solidFill>
                <a:srgbClr val="2E7D32"/>
              </a:solidFill>
              <a:effectLst/>
            </c:spPr>
            <c:extLst>
              <c:ext xmlns:c16="http://schemas.microsoft.com/office/drawing/2014/chart" uri="{C3380CC4-5D6E-409C-BE32-E72D297353CC}">
                <c16:uniqueId val="{00000001-2F40-4E6D-96F2-C2D0D3D2A8D7}"/>
              </c:ext>
            </c:extLst>
          </c:dPt>
          <c:dPt>
            <c:idx val="1"/>
            <c:bubble3D val="0"/>
            <c:spPr>
              <a:solidFill>
                <a:srgbClr val="E2E8F0"/>
              </a:solidFill>
              <a:effectLst/>
            </c:spPr>
            <c:extLst>
              <c:ext xmlns:c16="http://schemas.microsoft.com/office/drawing/2014/chart" uri="{C3380CC4-5D6E-409C-BE32-E72D297353CC}">
                <c16:uniqueId val="{00000003-2F40-4E6D-96F2-C2D0D3D2A8D7}"/>
              </c:ext>
            </c:extLst>
          </c:dPt>
          <c:cat>
            <c:strRef>
              <c:f>Sheet1!$A$2:$A$3</c:f>
              <c:strCache>
                <c:ptCount val="2"/>
                <c:pt idx="0">
                  <c:v>Minimalist (clean, neat, simple)</c:v>
                </c:pt>
                <c:pt idx="1">
                  <c:v>Dense / promo-heavy</c:v>
                </c:pt>
              </c:strCache>
            </c:strRef>
          </c:cat>
          <c:val>
            <c:numRef>
              <c:f>Sheet1!$B$2:$B$3</c:f>
              <c:numCache>
                <c:formatCode>General</c:formatCode>
                <c:ptCount val="2"/>
                <c:pt idx="0">
                  <c:v>97</c:v>
                </c:pt>
                <c:pt idx="1">
                  <c:v>3</c:v>
                </c:pt>
              </c:numCache>
            </c:numRef>
          </c:val>
          <c:extLst>
            <c:ext xmlns:c16="http://schemas.microsoft.com/office/drawing/2014/chart" uri="{C3380CC4-5D6E-409C-BE32-E72D297353CC}">
              <c16:uniqueId val="{00000004-2F40-4E6D-96F2-C2D0D3D2A8D7}"/>
            </c:ext>
          </c:extLst>
        </c:ser>
        <c:dLbls>
          <c:showLegendKey val="0"/>
          <c:showVal val="0"/>
          <c:showCatName val="0"/>
          <c:showSerName val="0"/>
          <c:showPercent val="0"/>
          <c:showBubbleSize val="0"/>
          <c:showLeaderLines val="0"/>
        </c:dLbls>
        <c:firstSliceAng val="0"/>
        <c:holeSize val="65"/>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SUS Score</c:v>
                </c:pt>
              </c:strCache>
            </c:strRef>
          </c:tx>
          <c:spPr>
            <a:solidFill>
              <a:srgbClr val="2E7D32"/>
            </a:solidFill>
            <a:effectLst/>
          </c:spPr>
          <c:invertIfNegative val="0"/>
          <c:dPt>
            <c:idx val="0"/>
            <c:invertIfNegative val="0"/>
            <c:bubble3D val="0"/>
            <c:extLst>
              <c:ext xmlns:c16="http://schemas.microsoft.com/office/drawing/2014/chart" uri="{C3380CC4-5D6E-409C-BE32-E72D297353CC}">
                <c16:uniqueId val="{00000001-247C-4FFE-93B9-A6749067038B}"/>
              </c:ext>
            </c:extLst>
          </c:dPt>
          <c:dPt>
            <c:idx val="1"/>
            <c:invertIfNegative val="0"/>
            <c:bubble3D val="0"/>
            <c:extLst>
              <c:ext xmlns:c16="http://schemas.microsoft.com/office/drawing/2014/chart" uri="{C3380CC4-5D6E-409C-BE32-E72D297353CC}">
                <c16:uniqueId val="{00000003-247C-4FFE-93B9-A6749067038B}"/>
              </c:ext>
            </c:extLst>
          </c:dPt>
          <c:dPt>
            <c:idx val="2"/>
            <c:invertIfNegative val="0"/>
            <c:bubble3D val="0"/>
            <c:extLst>
              <c:ext xmlns:c16="http://schemas.microsoft.com/office/drawing/2014/chart" uri="{C3380CC4-5D6E-409C-BE32-E72D297353CC}">
                <c16:uniqueId val="{00000005-247C-4FFE-93B9-A6749067038B}"/>
              </c:ext>
            </c:extLst>
          </c:dPt>
          <c:dPt>
            <c:idx val="3"/>
            <c:invertIfNegative val="0"/>
            <c:bubble3D val="0"/>
            <c:spPr>
              <a:solidFill>
                <a:srgbClr val="F59E0B"/>
              </a:solidFill>
              <a:effectLst/>
            </c:spPr>
            <c:extLst>
              <c:ext xmlns:c16="http://schemas.microsoft.com/office/drawing/2014/chart" uri="{C3380CC4-5D6E-409C-BE32-E72D297353CC}">
                <c16:uniqueId val="{00000007-247C-4FFE-93B9-A6749067038B}"/>
              </c:ext>
            </c:extLst>
          </c:dPt>
          <c:dPt>
            <c:idx val="4"/>
            <c:invertIfNegative val="0"/>
            <c:bubble3D val="0"/>
            <c:extLst>
              <c:ext xmlns:c16="http://schemas.microsoft.com/office/drawing/2014/chart" uri="{C3380CC4-5D6E-409C-BE32-E72D297353CC}">
                <c16:uniqueId val="{00000009-247C-4FFE-93B9-A6749067038B}"/>
              </c:ext>
            </c:extLst>
          </c:dPt>
          <c:dPt>
            <c:idx val="5"/>
            <c:invertIfNegative val="0"/>
            <c:bubble3D val="0"/>
            <c:extLst>
              <c:ext xmlns:c16="http://schemas.microsoft.com/office/drawing/2014/chart" uri="{C3380CC4-5D6E-409C-BE32-E72D297353CC}">
                <c16:uniqueId val="{0000000B-247C-4FFE-93B9-A6749067038B}"/>
              </c:ext>
            </c:extLst>
          </c:dPt>
          <c:dPt>
            <c:idx val="6"/>
            <c:invertIfNegative val="0"/>
            <c:bubble3D val="0"/>
            <c:spPr>
              <a:solidFill>
                <a:srgbClr val="F59E0B"/>
              </a:solidFill>
              <a:effectLst/>
            </c:spPr>
            <c:extLst>
              <c:ext xmlns:c16="http://schemas.microsoft.com/office/drawing/2014/chart" uri="{C3380CC4-5D6E-409C-BE32-E72D297353CC}">
                <c16:uniqueId val="{0000000D-247C-4FFE-93B9-A6749067038B}"/>
              </c:ext>
            </c:extLst>
          </c:dPt>
          <c:dPt>
            <c:idx val="7"/>
            <c:invertIfNegative val="0"/>
            <c:bubble3D val="0"/>
            <c:extLst>
              <c:ext xmlns:c16="http://schemas.microsoft.com/office/drawing/2014/chart" uri="{C3380CC4-5D6E-409C-BE32-E72D297353CC}">
                <c16:uniqueId val="{0000000F-247C-4FFE-93B9-A6749067038B}"/>
              </c:ext>
            </c:extLst>
          </c:dPt>
          <c:dPt>
            <c:idx val="8"/>
            <c:invertIfNegative val="0"/>
            <c:bubble3D val="0"/>
            <c:extLst>
              <c:ext xmlns:c16="http://schemas.microsoft.com/office/drawing/2014/chart" uri="{C3380CC4-5D6E-409C-BE32-E72D297353CC}">
                <c16:uniqueId val="{00000011-247C-4FFE-93B9-A6749067038B}"/>
              </c:ext>
            </c:extLst>
          </c:dPt>
          <c:dPt>
            <c:idx val="9"/>
            <c:invertIfNegative val="0"/>
            <c:bubble3D val="0"/>
            <c:extLst>
              <c:ext xmlns:c16="http://schemas.microsoft.com/office/drawing/2014/chart" uri="{C3380CC4-5D6E-409C-BE32-E72D297353CC}">
                <c16:uniqueId val="{00000013-247C-4FFE-93B9-A6749067038B}"/>
              </c:ext>
            </c:extLst>
          </c:dPt>
          <c:dPt>
            <c:idx val="10"/>
            <c:invertIfNegative val="0"/>
            <c:bubble3D val="0"/>
            <c:extLst>
              <c:ext xmlns:c16="http://schemas.microsoft.com/office/drawing/2014/chart" uri="{C3380CC4-5D6E-409C-BE32-E72D297353CC}">
                <c16:uniqueId val="{00000015-247C-4FFE-93B9-A6749067038B}"/>
              </c:ext>
            </c:extLst>
          </c:dPt>
          <c:dPt>
            <c:idx val="11"/>
            <c:invertIfNegative val="0"/>
            <c:bubble3D val="0"/>
            <c:extLst>
              <c:ext xmlns:c16="http://schemas.microsoft.com/office/drawing/2014/chart" uri="{C3380CC4-5D6E-409C-BE32-E72D297353CC}">
                <c16:uniqueId val="{00000017-247C-4FFE-93B9-A6749067038B}"/>
              </c:ext>
            </c:extLst>
          </c:dPt>
          <c:dLbls>
            <c:numFmt formatCode="#,##0" sourceLinked="0"/>
            <c:spPr>
              <a:noFill/>
              <a:ln>
                <a:noFill/>
              </a:ln>
              <a:effectLst/>
            </c:spPr>
            <c:txPr>
              <a:bodyPr/>
              <a:lstStyle/>
              <a:p>
                <a:pPr>
                  <a:defRPr sz="800" b="0" i="0" u="none" strike="noStrike">
                    <a:solidFill>
                      <a:srgbClr val="263238"/>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R1</c:v>
                </c:pt>
                <c:pt idx="1">
                  <c:v>R2</c:v>
                </c:pt>
                <c:pt idx="2">
                  <c:v>R3</c:v>
                </c:pt>
                <c:pt idx="3">
                  <c:v>R4*</c:v>
                </c:pt>
                <c:pt idx="4">
                  <c:v>R5</c:v>
                </c:pt>
                <c:pt idx="5">
                  <c:v>R6</c:v>
                </c:pt>
                <c:pt idx="6">
                  <c:v>R7*</c:v>
                </c:pt>
                <c:pt idx="7">
                  <c:v>R8</c:v>
                </c:pt>
                <c:pt idx="8">
                  <c:v>R9</c:v>
                </c:pt>
                <c:pt idx="9">
                  <c:v>R10</c:v>
                </c:pt>
                <c:pt idx="10">
                  <c:v>R11</c:v>
                </c:pt>
                <c:pt idx="11">
                  <c:v>R12</c:v>
                </c:pt>
              </c:strCache>
            </c:strRef>
          </c:cat>
          <c:val>
            <c:numRef>
              <c:f>Sheet1!$B$2:$B$13</c:f>
              <c:numCache>
                <c:formatCode>General</c:formatCode>
                <c:ptCount val="12"/>
                <c:pt idx="0">
                  <c:v>82.5</c:v>
                </c:pt>
                <c:pt idx="1">
                  <c:v>95</c:v>
                </c:pt>
                <c:pt idx="2">
                  <c:v>75</c:v>
                </c:pt>
                <c:pt idx="3">
                  <c:v>50</c:v>
                </c:pt>
                <c:pt idx="4">
                  <c:v>72.5</c:v>
                </c:pt>
                <c:pt idx="5">
                  <c:v>75</c:v>
                </c:pt>
                <c:pt idx="6">
                  <c:v>50</c:v>
                </c:pt>
                <c:pt idx="7">
                  <c:v>87.5</c:v>
                </c:pt>
                <c:pt idx="8">
                  <c:v>100</c:v>
                </c:pt>
                <c:pt idx="9">
                  <c:v>82.5</c:v>
                </c:pt>
                <c:pt idx="10">
                  <c:v>92.5</c:v>
                </c:pt>
                <c:pt idx="11">
                  <c:v>77.5</c:v>
                </c:pt>
              </c:numCache>
            </c:numRef>
          </c:val>
          <c:extLst>
            <c:ext xmlns:c16="http://schemas.microsoft.com/office/drawing/2014/chart" uri="{C3380CC4-5D6E-409C-BE32-E72D297353CC}">
              <c16:uniqueId val="{00000018-247C-4FFE-93B9-A6749067038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max val="11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524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opening slide. Introduce the project: redesigning K24Klik, the medicine delivery app, using the Design Thinking methodology. Mention this deck is the central walkthrough for the final exam — every section of the written report maps to one of these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slide — refer back to it if asked 'what's next' or to navigate during Q&amp;A. Six parts: background, research, system design, prototyping, implementation, evaluation.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app: a real, popular pharmacy app (1M+ downloads, 4.2 rating, 44K reviews) but with real local users who need it during emergencies. The challenge statement is the north star for the whole project — 50% faster, minimalist, pop-up free. Point at the screenshot to literally show the clutter.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orientation to the app being redesigned. Mention the brand identity (K-24 green, yellow/orange accents) is preserved in the redesign — we're fixing UX, not throwing away the brand. The 5 services map directly to the bottom nav and home screen feature buttons in the original app.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sets up the 'problem' before we get to data. Three core HCI complaints: Gestalt clutter, ergonomic mental overload from pop-ups, and Thumb Zone violations. The bottom strip shows just how long the current user journey is — that's the baseline I simplified.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row by row. Two severity-4 issues (aesthetic clutter, pop-ups) and two severity-3 issues (info overload, checkout status). These four pain points become the four redesign priorities later. The screenshot on the right is the actual Product Detail Page showing the dense, stacked layout.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qualitative evidence base. Two things work (speed and trust). Three specific complaints map 1:1 to the heuristic violations from the previous slide, and each gets a concrete fix that we'll see implemented later in the prototype.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numbers: 97% want minimalism (the biggest justification for the whole redesign), 38% struggled with text readability (drove the Accordion design), and 66% wanted bilingual support (drove the EN/ID locale toggle). These three numbers map directly to three concrete features you'll see in the prototype.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carries the qualitative weight. Mention Figure 3.3 in the report has photos proving the interview happened on-site at K-24. Both personas were derived from the 32-person survey and feed directly into the HTA and prototype design decisions next.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theory backbone slide. Explain Design Thinking's 5 stages briefly, why it was chosen over UCD, then the 5 HCI frameworks that justify every later design decision — Nielsen for the heuristic table we just saw, Shneiderman for the dialog/feedback decisions, CRAP and Gestalt for visual layout, and ergonomics for the Thumb Zone + 44x44pt touch targets.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HTA breaks 'ordering medicine' into 4 streamlined branches with only 1-4 sub-steps each — directly reducing the original 6-step, multi-screen flow. Each branch maps to one of the 4 MVP screens. Privacy: UU PDP 2022 compliance via Firebase encryption, minimal data collection, and an ethical checkout warning.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4 lo-fi screens and storyboard side by side. Emphasize this is the 'Ideate' phase — rapid sketching to lock in the simplified 4-screen MVP flow from the HTA before any visual design happened. Storyboard tells the 'sick user gets medicine fast' story end to end.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theory-dense slide — connect each design choice back to the literature review framework from slide 10. Dark mode = visual ergonomics, thumb zone placement = physical ergonomics, accordions = cognitive ergonomics, then Nielsen / Shneiderman / Gestalt+CRAP cover the remaining decisions. Every item here has a corresponding slide reference in the actual course material (slides 56, 118-120, 174-177).</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features, six UX justifications. This bridges design (previous slide) to implementation (next slide) — these are the screens that became actual Flutter screens in the screens/ folder.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technologies, each with an academic/UX justification — not just 'because it's popular'. Flutter for cross-platform consistency, Riverpod for instant reactive UI (relevant to dark mode demo next), GoRouter for proper web URLs and back-button, Firebase to make the MVP 'real' with a working ERD, and Localizations for the bilingual feature from the survey.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proofs of a real, working app: (1) the Firebase console showing actual user authentication and a real order document in Firestore — not mocked data; (2) the side-by-side consistency check proving the Flutter implementation matches the Figma Hi-Fi design pixel-for-pixel in color and layout.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advanced implementation features tying back to ergonomics theory: responsive adaptive layout (works on web AND mobile) and dark mode (visual ergonomics from slide 13). Then the 6-step data lifecycle shows this is a real, live-updating cloud app — not static mockups.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evaluation methods: AI-based code review (multi-model to avoid bias) and SUS survey with 12 real users on the Figma prototype. 78.33 average clears the &gt;70 'Acceptable' threshold from the SUS interpretation scale. Note the two low outliers (R4, R7) are flagged as straight-lining but kept for honesty — and the average still holds up.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Reiterate the three flaws and their fixes, the SUS result, and three concrete future directions. This is a strong slide to end the main narrative on before opening to questions / appendix links.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slide — use this to navigate live during Q&amp;A: open the GitHub repo, the live web app, or the Figma prototype as needed if the examiner wants to see the real thing. Every link here is also documented in the report's Appendix 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9.pn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1.png"/><Relationship Id="rId10" Type="http://schemas.openxmlformats.org/officeDocument/2006/relationships/image" Target="../media/image22.png"/><Relationship Id="rId4" Type="http://schemas.openxmlformats.org/officeDocument/2006/relationships/image" Target="../media/image30.png"/><Relationship Id="rId9" Type="http://schemas.openxmlformats.org/officeDocument/2006/relationships/image" Target="../media/image32.pn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3.png"/><Relationship Id="rId7"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9.png"/><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5.png"/><Relationship Id="rId7"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44.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8778240" y="-1645920"/>
            <a:ext cx="5029200" cy="5029200"/>
          </a:xfrm>
          <a:prstGeom prst="ellipse">
            <a:avLst/>
          </a:prstGeom>
          <a:solidFill>
            <a:srgbClr val="2E7D32">
              <a:alpha val="45000"/>
            </a:srgbClr>
          </a:solidFill>
          <a:ln/>
        </p:spPr>
      </p:sp>
      <p:sp>
        <p:nvSpPr>
          <p:cNvPr id="3" name="Shape 1"/>
          <p:cNvSpPr/>
          <p:nvPr/>
        </p:nvSpPr>
        <p:spPr>
          <a:xfrm>
            <a:off x="10332720" y="4206240"/>
            <a:ext cx="3840480" cy="3840480"/>
          </a:xfrm>
          <a:prstGeom prst="ellipse">
            <a:avLst/>
          </a:prstGeom>
          <a:solidFill>
            <a:srgbClr val="97BC62">
              <a:alpha val="25000"/>
            </a:srgbClr>
          </a:solidFill>
          <a:ln/>
        </p:spPr>
      </p:sp>
      <p:sp>
        <p:nvSpPr>
          <p:cNvPr id="4" name="Shape 2"/>
          <p:cNvSpPr/>
          <p:nvPr/>
        </p:nvSpPr>
        <p:spPr>
          <a:xfrm>
            <a:off x="-1280160" y="4572000"/>
            <a:ext cx="3291840" cy="3291840"/>
          </a:xfrm>
          <a:prstGeom prst="ellipse">
            <a:avLst/>
          </a:prstGeom>
          <a:solidFill>
            <a:srgbClr val="97BC62">
              <a:alpha val="20000"/>
            </a:srgbClr>
          </a:solidFill>
          <a:ln/>
        </p:spPr>
      </p:sp>
      <p:sp>
        <p:nvSpPr>
          <p:cNvPr id="5" name="Text 3"/>
          <p:cNvSpPr/>
          <p:nvPr/>
        </p:nvSpPr>
        <p:spPr>
          <a:xfrm>
            <a:off x="822960" y="1188720"/>
            <a:ext cx="8229600" cy="365760"/>
          </a:xfrm>
          <a:prstGeom prst="rect">
            <a:avLst/>
          </a:prstGeom>
          <a:noFill/>
          <a:ln/>
        </p:spPr>
        <p:txBody>
          <a:bodyPr wrap="square" lIns="0" tIns="0" rIns="0" bIns="0" rtlCol="0" anchor="ctr"/>
          <a:lstStyle/>
          <a:p>
            <a:pPr marL="0" indent="0">
              <a:buNone/>
            </a:pPr>
            <a:r>
              <a:rPr lang="en-US" sz="1400" b="1" kern="0" spc="300" dirty="0">
                <a:solidFill>
                  <a:srgbClr val="97BC62"/>
                </a:solidFill>
                <a:latin typeface="Calibri" pitchFamily="34" charset="0"/>
                <a:ea typeface="Calibri" pitchFamily="34" charset="-122"/>
                <a:cs typeface="Calibri" pitchFamily="34" charset="-120"/>
              </a:rPr>
              <a:t>HCI &amp; UI/UX FINAL PROJECT — TUGAS AKHIR</a:t>
            </a:r>
            <a:endParaRPr lang="en-US" sz="1400" dirty="0"/>
          </a:p>
        </p:txBody>
      </p:sp>
      <p:sp>
        <p:nvSpPr>
          <p:cNvPr id="6" name="Text 4"/>
          <p:cNvSpPr/>
          <p:nvPr/>
        </p:nvSpPr>
        <p:spPr>
          <a:xfrm>
            <a:off x="822960" y="1645920"/>
            <a:ext cx="10058400" cy="1188720"/>
          </a:xfrm>
          <a:prstGeom prst="rect">
            <a:avLst/>
          </a:prstGeom>
          <a:noFill/>
          <a:ln/>
        </p:spPr>
        <p:txBody>
          <a:bodyPr wrap="square" lIns="0" tIns="0" rIns="0" bIns="0" rtlCol="0" anchor="ctr"/>
          <a:lstStyle/>
          <a:p>
            <a:pPr marL="0" indent="0">
              <a:buNone/>
            </a:pPr>
            <a:r>
              <a:rPr lang="en-US" sz="5600" b="1" dirty="0">
                <a:solidFill>
                  <a:srgbClr val="FFFFFF"/>
                </a:solidFill>
                <a:latin typeface="Cambria" pitchFamily="34" charset="0"/>
                <a:ea typeface="Cambria" pitchFamily="34" charset="-122"/>
                <a:cs typeface="Cambria" pitchFamily="34" charset="-120"/>
              </a:rPr>
              <a:t>Redesigning K24Klik</a:t>
            </a:r>
            <a:endParaRPr lang="en-US" sz="5600" dirty="0"/>
          </a:p>
        </p:txBody>
      </p:sp>
      <p:sp>
        <p:nvSpPr>
          <p:cNvPr id="7" name="Text 5"/>
          <p:cNvSpPr/>
          <p:nvPr/>
        </p:nvSpPr>
        <p:spPr>
          <a:xfrm>
            <a:off x="822960" y="2697480"/>
            <a:ext cx="9601200" cy="640080"/>
          </a:xfrm>
          <a:prstGeom prst="rect">
            <a:avLst/>
          </a:prstGeom>
          <a:noFill/>
          <a:ln/>
        </p:spPr>
        <p:txBody>
          <a:bodyPr wrap="square" lIns="0" tIns="0" rIns="0" bIns="0" rtlCol="0" anchor="ctr"/>
          <a:lstStyle/>
          <a:p>
            <a:pPr marL="0" indent="0">
              <a:buNone/>
            </a:pPr>
            <a:r>
              <a:rPr lang="en-US" sz="2000" i="1" dirty="0">
                <a:solidFill>
                  <a:srgbClr val="DCEDC8"/>
                </a:solidFill>
                <a:latin typeface="Calibri" pitchFamily="34" charset="0"/>
                <a:ea typeface="Calibri" pitchFamily="34" charset="-122"/>
                <a:cs typeface="Calibri" pitchFamily="34" charset="-120"/>
              </a:rPr>
              <a:t>A Design Thinking Approach to a Cleaner, Faster Pharmacy App</a:t>
            </a:r>
            <a:endParaRPr lang="en-US" sz="2000" dirty="0"/>
          </a:p>
        </p:txBody>
      </p:sp>
      <p:sp>
        <p:nvSpPr>
          <p:cNvPr id="8" name="Shape 6"/>
          <p:cNvSpPr/>
          <p:nvPr/>
        </p:nvSpPr>
        <p:spPr>
          <a:xfrm>
            <a:off x="822960" y="3749040"/>
            <a:ext cx="6035040" cy="2331720"/>
          </a:xfrm>
          <a:prstGeom prst="roundRect">
            <a:avLst>
              <a:gd name="adj" fmla="val 3137"/>
            </a:avLst>
          </a:prstGeom>
          <a:solidFill>
            <a:srgbClr val="2E7D32">
              <a:alpha val="65000"/>
            </a:srgbClr>
          </a:solidFill>
          <a:ln/>
        </p:spPr>
      </p:sp>
      <p:sp>
        <p:nvSpPr>
          <p:cNvPr id="9" name="Text 7"/>
          <p:cNvSpPr/>
          <p:nvPr/>
        </p:nvSpPr>
        <p:spPr>
          <a:xfrm>
            <a:off x="1143000" y="3977640"/>
            <a:ext cx="5486400" cy="192024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Bandar Qaid Ahmed Abdulrab</a:t>
            </a:r>
            <a:endParaRPr lang="en-US" sz="2000" dirty="0"/>
          </a:p>
          <a:p>
            <a:pPr marL="0" indent="0">
              <a:spcAft>
                <a:spcPts val="800"/>
              </a:spcAft>
              <a:buNone/>
            </a:pPr>
            <a:r>
              <a:rPr lang="en-US" sz="1400" dirty="0">
                <a:solidFill>
                  <a:srgbClr val="C8E6C9"/>
                </a:solidFill>
                <a:latin typeface="Calibri" pitchFamily="34" charset="0"/>
                <a:ea typeface="Calibri" pitchFamily="34" charset="-122"/>
                <a:cs typeface="Calibri" pitchFamily="34" charset="-120"/>
              </a:rPr>
              <a:t>NIM 244110601013   |   Kelas 4 Informatika A</a:t>
            </a:r>
            <a:endParaRPr lang="en-US" sz="2000" dirty="0"/>
          </a:p>
          <a:p>
            <a:pPr marL="0" indent="0">
              <a:buNone/>
            </a:pPr>
            <a:r>
              <a:rPr lang="en-US" sz="1300" dirty="0">
                <a:solidFill>
                  <a:srgbClr val="C8E6C9"/>
                </a:solidFill>
                <a:latin typeface="Calibri" pitchFamily="34" charset="0"/>
                <a:ea typeface="Calibri" pitchFamily="34" charset="-122"/>
                <a:cs typeface="Calibri" pitchFamily="34" charset="-120"/>
              </a:rPr>
              <a:t>Program Studi Informatika</a:t>
            </a:r>
            <a:endParaRPr lang="en-US" sz="2000" dirty="0"/>
          </a:p>
          <a:p>
            <a:pPr marL="0" indent="0">
              <a:buNone/>
            </a:pPr>
            <a:r>
              <a:rPr lang="en-US" sz="1300" dirty="0">
                <a:solidFill>
                  <a:srgbClr val="C8E6C9"/>
                </a:solidFill>
                <a:latin typeface="Calibri" pitchFamily="34" charset="0"/>
                <a:ea typeface="Calibri" pitchFamily="34" charset="-122"/>
                <a:cs typeface="Calibri" pitchFamily="34" charset="-120"/>
              </a:rPr>
              <a:t>Fakultas Sains dan Teknologi</a:t>
            </a:r>
            <a:endParaRPr lang="en-US" sz="2000" dirty="0"/>
          </a:p>
          <a:p>
            <a:pPr marL="0" indent="0">
              <a:buNone/>
            </a:pPr>
            <a:r>
              <a:rPr lang="en-US" sz="1300" dirty="0">
                <a:solidFill>
                  <a:srgbClr val="C8E6C9"/>
                </a:solidFill>
                <a:latin typeface="Calibri" pitchFamily="34" charset="0"/>
                <a:ea typeface="Calibri" pitchFamily="34" charset="-122"/>
                <a:cs typeface="Calibri" pitchFamily="34" charset="-120"/>
              </a:rPr>
              <a:t>UIN Prof. K.H. Saifuddin Zuhri Purwokerto — T.A. 2026</a:t>
            </a:r>
            <a:endParaRPr lang="en-US" sz="2000" dirty="0"/>
          </a:p>
        </p:txBody>
      </p:sp>
      <p:sp>
        <p:nvSpPr>
          <p:cNvPr id="10" name="Shape 8"/>
          <p:cNvSpPr/>
          <p:nvPr/>
        </p:nvSpPr>
        <p:spPr>
          <a:xfrm>
            <a:off x="7315200" y="4206240"/>
            <a:ext cx="1371600" cy="1737360"/>
          </a:xfrm>
          <a:prstGeom prst="roundRect">
            <a:avLst>
              <a:gd name="adj" fmla="val 5333"/>
            </a:avLst>
          </a:prstGeom>
          <a:solidFill>
            <a:srgbClr val="2E7D32">
              <a:alpha val="65000"/>
            </a:srgbClr>
          </a:solidFill>
          <a:ln/>
        </p:spPr>
      </p:sp>
      <p:sp>
        <p:nvSpPr>
          <p:cNvPr id="11" name="Text 9"/>
          <p:cNvSpPr/>
          <p:nvPr/>
        </p:nvSpPr>
        <p:spPr>
          <a:xfrm>
            <a:off x="7315200" y="4370832"/>
            <a:ext cx="137160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12" name="Text 10"/>
          <p:cNvSpPr/>
          <p:nvPr/>
        </p:nvSpPr>
        <p:spPr>
          <a:xfrm>
            <a:off x="7315200" y="5029200"/>
            <a:ext cx="1371600" cy="822960"/>
          </a:xfrm>
          <a:prstGeom prst="rect">
            <a:avLst/>
          </a:prstGeom>
          <a:noFill/>
          <a:ln/>
        </p:spPr>
        <p:txBody>
          <a:bodyPr wrap="square" lIns="0" tIns="0" rIns="0" bIns="0" rtlCol="0" anchor="ctr"/>
          <a:lstStyle/>
          <a:p>
            <a:pPr marL="0" indent="0" algn="ctr">
              <a:buNone/>
            </a:pPr>
            <a:r>
              <a:rPr lang="en-US" sz="1050" dirty="0">
                <a:solidFill>
                  <a:srgbClr val="DCEDC8"/>
                </a:solidFill>
                <a:latin typeface="Calibri" pitchFamily="34" charset="0"/>
                <a:ea typeface="Calibri" pitchFamily="34" charset="-122"/>
                <a:cs typeface="Calibri" pitchFamily="34" charset="-120"/>
              </a:rPr>
              <a:t>Design Thinking</a:t>
            </a:r>
            <a:endParaRPr lang="en-US" sz="1050" dirty="0"/>
          </a:p>
          <a:p>
            <a:pPr marL="0" indent="0" algn="ctr">
              <a:buNone/>
            </a:pPr>
            <a:r>
              <a:rPr lang="en-US" sz="1050" dirty="0">
                <a:solidFill>
                  <a:srgbClr val="DCEDC8"/>
                </a:solidFill>
                <a:latin typeface="Calibri" pitchFamily="34" charset="0"/>
                <a:ea typeface="Calibri" pitchFamily="34" charset="-122"/>
                <a:cs typeface="Calibri" pitchFamily="34" charset="-120"/>
              </a:rPr>
              <a:t>stages applied</a:t>
            </a:r>
            <a:endParaRPr lang="en-US" sz="1050" dirty="0"/>
          </a:p>
        </p:txBody>
      </p:sp>
      <p:sp>
        <p:nvSpPr>
          <p:cNvPr id="13" name="Shape 11"/>
          <p:cNvSpPr/>
          <p:nvPr/>
        </p:nvSpPr>
        <p:spPr>
          <a:xfrm>
            <a:off x="8823960" y="4206240"/>
            <a:ext cx="1371600" cy="1737360"/>
          </a:xfrm>
          <a:prstGeom prst="roundRect">
            <a:avLst>
              <a:gd name="adj" fmla="val 5333"/>
            </a:avLst>
          </a:prstGeom>
          <a:solidFill>
            <a:srgbClr val="2E7D32">
              <a:alpha val="65000"/>
            </a:srgbClr>
          </a:solidFill>
          <a:ln/>
        </p:spPr>
      </p:sp>
      <p:sp>
        <p:nvSpPr>
          <p:cNvPr id="14" name="Text 12"/>
          <p:cNvSpPr/>
          <p:nvPr/>
        </p:nvSpPr>
        <p:spPr>
          <a:xfrm>
            <a:off x="8823960" y="4370832"/>
            <a:ext cx="137160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32</a:t>
            </a:r>
            <a:endParaRPr lang="en-US" sz="3000" dirty="0"/>
          </a:p>
        </p:txBody>
      </p:sp>
      <p:sp>
        <p:nvSpPr>
          <p:cNvPr id="15" name="Text 13"/>
          <p:cNvSpPr/>
          <p:nvPr/>
        </p:nvSpPr>
        <p:spPr>
          <a:xfrm>
            <a:off x="8823960" y="5029200"/>
            <a:ext cx="1371600" cy="822960"/>
          </a:xfrm>
          <a:prstGeom prst="rect">
            <a:avLst/>
          </a:prstGeom>
          <a:noFill/>
          <a:ln/>
        </p:spPr>
        <p:txBody>
          <a:bodyPr wrap="square" lIns="0" tIns="0" rIns="0" bIns="0" rtlCol="0" anchor="ctr"/>
          <a:lstStyle/>
          <a:p>
            <a:pPr marL="0" indent="0" algn="ctr">
              <a:buNone/>
            </a:pPr>
            <a:r>
              <a:rPr lang="en-US" sz="1050" dirty="0">
                <a:solidFill>
                  <a:srgbClr val="DCEDC8"/>
                </a:solidFill>
                <a:latin typeface="Calibri" pitchFamily="34" charset="0"/>
                <a:ea typeface="Calibri" pitchFamily="34" charset="-122"/>
                <a:cs typeface="Calibri" pitchFamily="34" charset="-120"/>
              </a:rPr>
              <a:t>real survey</a:t>
            </a:r>
            <a:endParaRPr lang="en-US" sz="1050" dirty="0"/>
          </a:p>
          <a:p>
            <a:pPr marL="0" indent="0" algn="ctr">
              <a:buNone/>
            </a:pPr>
            <a:r>
              <a:rPr lang="en-US" sz="1050" dirty="0">
                <a:solidFill>
                  <a:srgbClr val="DCEDC8"/>
                </a:solidFill>
                <a:latin typeface="Calibri" pitchFamily="34" charset="0"/>
                <a:ea typeface="Calibri" pitchFamily="34" charset="-122"/>
                <a:cs typeface="Calibri" pitchFamily="34" charset="-120"/>
              </a:rPr>
              <a:t>respondents</a:t>
            </a:r>
            <a:endParaRPr lang="en-US" sz="1050" dirty="0"/>
          </a:p>
        </p:txBody>
      </p:sp>
      <p:sp>
        <p:nvSpPr>
          <p:cNvPr id="16" name="Shape 14"/>
          <p:cNvSpPr/>
          <p:nvPr/>
        </p:nvSpPr>
        <p:spPr>
          <a:xfrm>
            <a:off x="10332720" y="4206240"/>
            <a:ext cx="1371600" cy="1737360"/>
          </a:xfrm>
          <a:prstGeom prst="roundRect">
            <a:avLst>
              <a:gd name="adj" fmla="val 5333"/>
            </a:avLst>
          </a:prstGeom>
          <a:solidFill>
            <a:srgbClr val="2E7D32">
              <a:alpha val="65000"/>
            </a:srgbClr>
          </a:solidFill>
          <a:ln/>
        </p:spPr>
      </p:sp>
      <p:sp>
        <p:nvSpPr>
          <p:cNvPr id="17" name="Text 15"/>
          <p:cNvSpPr/>
          <p:nvPr/>
        </p:nvSpPr>
        <p:spPr>
          <a:xfrm>
            <a:off x="10332720" y="4370832"/>
            <a:ext cx="137160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78.33</a:t>
            </a:r>
            <a:endParaRPr lang="en-US" sz="3000" dirty="0"/>
          </a:p>
        </p:txBody>
      </p:sp>
      <p:sp>
        <p:nvSpPr>
          <p:cNvPr id="18" name="Text 16"/>
          <p:cNvSpPr/>
          <p:nvPr/>
        </p:nvSpPr>
        <p:spPr>
          <a:xfrm>
            <a:off x="10332720" y="5029200"/>
            <a:ext cx="1371600" cy="822960"/>
          </a:xfrm>
          <a:prstGeom prst="rect">
            <a:avLst/>
          </a:prstGeom>
          <a:noFill/>
          <a:ln/>
        </p:spPr>
        <p:txBody>
          <a:bodyPr wrap="square" lIns="0" tIns="0" rIns="0" bIns="0" rtlCol="0" anchor="ctr"/>
          <a:lstStyle/>
          <a:p>
            <a:pPr marL="0" indent="0" algn="ctr">
              <a:buNone/>
            </a:pPr>
            <a:r>
              <a:rPr lang="en-US" sz="1050" dirty="0">
                <a:solidFill>
                  <a:srgbClr val="DCEDC8"/>
                </a:solidFill>
                <a:latin typeface="Calibri" pitchFamily="34" charset="0"/>
                <a:ea typeface="Calibri" pitchFamily="34" charset="-122"/>
                <a:cs typeface="Calibri" pitchFamily="34" charset="-120"/>
              </a:rPr>
              <a:t>SUS usability</a:t>
            </a:r>
            <a:endParaRPr lang="en-US" sz="1050" dirty="0"/>
          </a:p>
          <a:p>
            <a:pPr marL="0" indent="0" algn="ctr">
              <a:buNone/>
            </a:pPr>
            <a:r>
              <a:rPr lang="en-US" sz="1050" dirty="0">
                <a:solidFill>
                  <a:srgbClr val="DCEDC8"/>
                </a:solidFill>
                <a:latin typeface="Calibri" pitchFamily="34" charset="0"/>
                <a:ea typeface="Calibri" pitchFamily="34" charset="-122"/>
                <a:cs typeface="Calibri" pitchFamily="34" charset="-120"/>
              </a:rPr>
              <a:t>score (Acceptable)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PRESENTATION ROADMAP</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What I'll Walk Through Today</a:t>
            </a:r>
            <a:endParaRPr lang="en-US" sz="3200" dirty="0"/>
          </a:p>
        </p:txBody>
      </p:sp>
      <p:sp>
        <p:nvSpPr>
          <p:cNvPr id="4" name="Shape 2"/>
          <p:cNvSpPr/>
          <p:nvPr/>
        </p:nvSpPr>
        <p:spPr>
          <a:xfrm>
            <a:off x="548640" y="1783080"/>
            <a:ext cx="3611880" cy="2148840"/>
          </a:xfrm>
          <a:prstGeom prst="roundRect">
            <a:avLst>
              <a:gd name="adj" fmla="val 3404"/>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5" name="Shape 3"/>
          <p:cNvSpPr/>
          <p:nvPr/>
        </p:nvSpPr>
        <p:spPr>
          <a:xfrm>
            <a:off x="822960" y="2057400"/>
            <a:ext cx="640080" cy="640080"/>
          </a:xfrm>
          <a:prstGeom prst="ellipse">
            <a:avLst/>
          </a:prstGeom>
          <a:solidFill>
            <a:srgbClr val="2E7D32">
              <a:alpha val="12000"/>
            </a:srgbClr>
          </a:solidFill>
          <a:ln/>
        </p:spPr>
      </p:sp>
      <p:pic>
        <p:nvPicPr>
          <p:cNvPr id="6" name="Image 0" descr="icons/search_green.png"/>
          <p:cNvPicPr>
            <a:picLocks noChangeAspect="1"/>
          </p:cNvPicPr>
          <p:nvPr/>
        </p:nvPicPr>
        <p:blipFill>
          <a:blip r:embed="rId3"/>
          <a:stretch>
            <a:fillRect/>
          </a:stretch>
        </p:blipFill>
        <p:spPr>
          <a:xfrm>
            <a:off x="966978" y="2201418"/>
            <a:ext cx="352044" cy="352044"/>
          </a:xfrm>
          <a:prstGeom prst="rect">
            <a:avLst/>
          </a:prstGeom>
        </p:spPr>
      </p:pic>
      <p:sp>
        <p:nvSpPr>
          <p:cNvPr id="7" name="Text 4"/>
          <p:cNvSpPr/>
          <p:nvPr/>
        </p:nvSpPr>
        <p:spPr>
          <a:xfrm>
            <a:off x="3383280" y="2011680"/>
            <a:ext cx="640080" cy="457200"/>
          </a:xfrm>
          <a:prstGeom prst="rect">
            <a:avLst/>
          </a:prstGeom>
          <a:noFill/>
          <a:ln/>
        </p:spPr>
        <p:txBody>
          <a:bodyPr wrap="square" lIns="0" tIns="0" rIns="0" bIns="0" rtlCol="0" anchor="ctr"/>
          <a:lstStyle/>
          <a:p>
            <a:pPr marL="0" indent="0" algn="r">
              <a:buNone/>
            </a:pPr>
            <a:r>
              <a:rPr lang="en-US" sz="2200" b="1" dirty="0">
                <a:solidFill>
                  <a:srgbClr val="E2E8F0"/>
                </a:solidFill>
                <a:latin typeface="Cambria" pitchFamily="34" charset="0"/>
                <a:ea typeface="Cambria" pitchFamily="34" charset="-122"/>
                <a:cs typeface="Cambria" pitchFamily="34" charset="-120"/>
              </a:rPr>
              <a:t>01</a:t>
            </a:r>
            <a:endParaRPr lang="en-US" sz="2200" dirty="0"/>
          </a:p>
        </p:txBody>
      </p:sp>
      <p:sp>
        <p:nvSpPr>
          <p:cNvPr id="8" name="Text 5"/>
          <p:cNvSpPr/>
          <p:nvPr/>
        </p:nvSpPr>
        <p:spPr>
          <a:xfrm>
            <a:off x="822960" y="2651760"/>
            <a:ext cx="3063240" cy="41148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Background &amp; App Audit</a:t>
            </a:r>
            <a:endParaRPr lang="en-US" sz="1500" dirty="0"/>
          </a:p>
        </p:txBody>
      </p:sp>
      <p:sp>
        <p:nvSpPr>
          <p:cNvPr id="9" name="Text 6"/>
          <p:cNvSpPr/>
          <p:nvPr/>
        </p:nvSpPr>
        <p:spPr>
          <a:xfrm>
            <a:off x="822960" y="3063240"/>
            <a:ext cx="3063240" cy="7772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Why K24Klik, app identity, and current UI/UX problems</a:t>
            </a:r>
            <a:endParaRPr lang="en-US" sz="1150" dirty="0"/>
          </a:p>
        </p:txBody>
      </p:sp>
      <p:sp>
        <p:nvSpPr>
          <p:cNvPr id="10" name="Shape 7"/>
          <p:cNvSpPr/>
          <p:nvPr/>
        </p:nvSpPr>
        <p:spPr>
          <a:xfrm>
            <a:off x="4480560" y="1783080"/>
            <a:ext cx="3611880" cy="2148840"/>
          </a:xfrm>
          <a:prstGeom prst="roundRect">
            <a:avLst>
              <a:gd name="adj" fmla="val 3404"/>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1" name="Shape 8"/>
          <p:cNvSpPr/>
          <p:nvPr/>
        </p:nvSpPr>
        <p:spPr>
          <a:xfrm>
            <a:off x="4754880" y="2057400"/>
            <a:ext cx="640080" cy="640080"/>
          </a:xfrm>
          <a:prstGeom prst="ellipse">
            <a:avLst/>
          </a:prstGeom>
          <a:solidFill>
            <a:srgbClr val="2E7D32">
              <a:alpha val="12000"/>
            </a:srgbClr>
          </a:solidFill>
          <a:ln/>
        </p:spPr>
      </p:sp>
      <p:pic>
        <p:nvPicPr>
          <p:cNvPr id="12" name="Image 1" descr="icons/comment_green.png"/>
          <p:cNvPicPr>
            <a:picLocks noChangeAspect="1"/>
          </p:cNvPicPr>
          <p:nvPr/>
        </p:nvPicPr>
        <p:blipFill>
          <a:blip r:embed="rId4"/>
          <a:stretch>
            <a:fillRect/>
          </a:stretch>
        </p:blipFill>
        <p:spPr>
          <a:xfrm>
            <a:off x="4898898" y="2201418"/>
            <a:ext cx="352044" cy="352044"/>
          </a:xfrm>
          <a:prstGeom prst="rect">
            <a:avLst/>
          </a:prstGeom>
        </p:spPr>
      </p:pic>
      <p:sp>
        <p:nvSpPr>
          <p:cNvPr id="13" name="Text 9"/>
          <p:cNvSpPr/>
          <p:nvPr/>
        </p:nvSpPr>
        <p:spPr>
          <a:xfrm>
            <a:off x="7315200" y="2011680"/>
            <a:ext cx="640080" cy="457200"/>
          </a:xfrm>
          <a:prstGeom prst="rect">
            <a:avLst/>
          </a:prstGeom>
          <a:noFill/>
          <a:ln/>
        </p:spPr>
        <p:txBody>
          <a:bodyPr wrap="square" lIns="0" tIns="0" rIns="0" bIns="0" rtlCol="0" anchor="ctr"/>
          <a:lstStyle/>
          <a:p>
            <a:pPr marL="0" indent="0" algn="r">
              <a:buNone/>
            </a:pPr>
            <a:r>
              <a:rPr lang="en-US" sz="2200" b="1" dirty="0">
                <a:solidFill>
                  <a:srgbClr val="E2E8F0"/>
                </a:solidFill>
                <a:latin typeface="Cambria" pitchFamily="34" charset="0"/>
                <a:ea typeface="Cambria" pitchFamily="34" charset="-122"/>
                <a:cs typeface="Cambria" pitchFamily="34" charset="-120"/>
              </a:rPr>
              <a:t>02</a:t>
            </a:r>
            <a:endParaRPr lang="en-US" sz="2200" dirty="0"/>
          </a:p>
        </p:txBody>
      </p:sp>
      <p:sp>
        <p:nvSpPr>
          <p:cNvPr id="14" name="Text 10"/>
          <p:cNvSpPr/>
          <p:nvPr/>
        </p:nvSpPr>
        <p:spPr>
          <a:xfrm>
            <a:off x="4754880" y="2651760"/>
            <a:ext cx="3063240" cy="41148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Research &amp; Empathy</a:t>
            </a:r>
            <a:endParaRPr lang="en-US" sz="1500" dirty="0"/>
          </a:p>
        </p:txBody>
      </p:sp>
      <p:sp>
        <p:nvSpPr>
          <p:cNvPr id="15" name="Text 11"/>
          <p:cNvSpPr/>
          <p:nvPr/>
        </p:nvSpPr>
        <p:spPr>
          <a:xfrm>
            <a:off x="4754880" y="3063240"/>
            <a:ext cx="3063240" cy="7772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Heuristic evaluation, survey, interview, personas</a:t>
            </a:r>
            <a:endParaRPr lang="en-US" sz="1150" dirty="0"/>
          </a:p>
        </p:txBody>
      </p:sp>
      <p:sp>
        <p:nvSpPr>
          <p:cNvPr id="16" name="Shape 12"/>
          <p:cNvSpPr/>
          <p:nvPr/>
        </p:nvSpPr>
        <p:spPr>
          <a:xfrm>
            <a:off x="8412480" y="1783080"/>
            <a:ext cx="3611880" cy="2148840"/>
          </a:xfrm>
          <a:prstGeom prst="roundRect">
            <a:avLst>
              <a:gd name="adj" fmla="val 3404"/>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7" name="Shape 13"/>
          <p:cNvSpPr/>
          <p:nvPr/>
        </p:nvSpPr>
        <p:spPr>
          <a:xfrm>
            <a:off x="8686800" y="2057400"/>
            <a:ext cx="640080" cy="640080"/>
          </a:xfrm>
          <a:prstGeom prst="ellipse">
            <a:avLst/>
          </a:prstGeom>
          <a:solidFill>
            <a:srgbClr val="2E7D32">
              <a:alpha val="12000"/>
            </a:srgbClr>
          </a:solidFill>
          <a:ln/>
        </p:spPr>
      </p:sp>
      <p:pic>
        <p:nvPicPr>
          <p:cNvPr id="18" name="Image 2" descr="icons/diagram_green.png"/>
          <p:cNvPicPr>
            <a:picLocks noChangeAspect="1"/>
          </p:cNvPicPr>
          <p:nvPr/>
        </p:nvPicPr>
        <p:blipFill>
          <a:blip r:embed="rId5"/>
          <a:stretch>
            <a:fillRect/>
          </a:stretch>
        </p:blipFill>
        <p:spPr>
          <a:xfrm>
            <a:off x="8830818" y="2201418"/>
            <a:ext cx="352044" cy="352044"/>
          </a:xfrm>
          <a:prstGeom prst="rect">
            <a:avLst/>
          </a:prstGeom>
        </p:spPr>
      </p:pic>
      <p:sp>
        <p:nvSpPr>
          <p:cNvPr id="19" name="Text 14"/>
          <p:cNvSpPr/>
          <p:nvPr/>
        </p:nvSpPr>
        <p:spPr>
          <a:xfrm>
            <a:off x="11247120" y="2011680"/>
            <a:ext cx="640080" cy="457200"/>
          </a:xfrm>
          <a:prstGeom prst="rect">
            <a:avLst/>
          </a:prstGeom>
          <a:noFill/>
          <a:ln/>
        </p:spPr>
        <p:txBody>
          <a:bodyPr wrap="square" lIns="0" tIns="0" rIns="0" bIns="0" rtlCol="0" anchor="ctr"/>
          <a:lstStyle/>
          <a:p>
            <a:pPr marL="0" indent="0" algn="r">
              <a:buNone/>
            </a:pPr>
            <a:r>
              <a:rPr lang="en-US" sz="2200" b="1" dirty="0">
                <a:solidFill>
                  <a:srgbClr val="E2E8F0"/>
                </a:solidFill>
                <a:latin typeface="Cambria" pitchFamily="34" charset="0"/>
                <a:ea typeface="Cambria" pitchFamily="34" charset="-122"/>
                <a:cs typeface="Cambria" pitchFamily="34" charset="-120"/>
              </a:rPr>
              <a:t>03</a:t>
            </a:r>
            <a:endParaRPr lang="en-US" sz="2200" dirty="0"/>
          </a:p>
        </p:txBody>
      </p:sp>
      <p:sp>
        <p:nvSpPr>
          <p:cNvPr id="20" name="Text 15"/>
          <p:cNvSpPr/>
          <p:nvPr/>
        </p:nvSpPr>
        <p:spPr>
          <a:xfrm>
            <a:off x="8686800" y="2651760"/>
            <a:ext cx="3063240" cy="41148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System Design</a:t>
            </a:r>
            <a:endParaRPr lang="en-US" sz="1500" dirty="0"/>
          </a:p>
        </p:txBody>
      </p:sp>
      <p:sp>
        <p:nvSpPr>
          <p:cNvPr id="21" name="Text 16"/>
          <p:cNvSpPr/>
          <p:nvPr/>
        </p:nvSpPr>
        <p:spPr>
          <a:xfrm>
            <a:off x="8686800" y="3063240"/>
            <a:ext cx="3063240" cy="7772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Hierarchical Task Analysis &amp; privacy (UU PDP) compliance</a:t>
            </a:r>
            <a:endParaRPr lang="en-US" sz="1150" dirty="0"/>
          </a:p>
        </p:txBody>
      </p:sp>
      <p:sp>
        <p:nvSpPr>
          <p:cNvPr id="22" name="Shape 17"/>
          <p:cNvSpPr/>
          <p:nvPr/>
        </p:nvSpPr>
        <p:spPr>
          <a:xfrm>
            <a:off x="548640" y="4206240"/>
            <a:ext cx="3611880" cy="2148840"/>
          </a:xfrm>
          <a:prstGeom prst="roundRect">
            <a:avLst>
              <a:gd name="adj" fmla="val 3404"/>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23" name="Shape 18"/>
          <p:cNvSpPr/>
          <p:nvPr/>
        </p:nvSpPr>
        <p:spPr>
          <a:xfrm>
            <a:off x="822960" y="4480560"/>
            <a:ext cx="640080" cy="640080"/>
          </a:xfrm>
          <a:prstGeom prst="ellipse">
            <a:avLst/>
          </a:prstGeom>
          <a:solidFill>
            <a:srgbClr val="2E7D32">
              <a:alpha val="12000"/>
            </a:srgbClr>
          </a:solidFill>
          <a:ln/>
        </p:spPr>
      </p:sp>
      <p:pic>
        <p:nvPicPr>
          <p:cNvPr id="24" name="Image 3" descr="icons/palette_green.png"/>
          <p:cNvPicPr>
            <a:picLocks noChangeAspect="1"/>
          </p:cNvPicPr>
          <p:nvPr/>
        </p:nvPicPr>
        <p:blipFill>
          <a:blip r:embed="rId6"/>
          <a:stretch>
            <a:fillRect/>
          </a:stretch>
        </p:blipFill>
        <p:spPr>
          <a:xfrm>
            <a:off x="966978" y="4624578"/>
            <a:ext cx="352044" cy="352044"/>
          </a:xfrm>
          <a:prstGeom prst="rect">
            <a:avLst/>
          </a:prstGeom>
        </p:spPr>
      </p:pic>
      <p:sp>
        <p:nvSpPr>
          <p:cNvPr id="25" name="Text 19"/>
          <p:cNvSpPr/>
          <p:nvPr/>
        </p:nvSpPr>
        <p:spPr>
          <a:xfrm>
            <a:off x="3383280" y="4434840"/>
            <a:ext cx="640080" cy="457200"/>
          </a:xfrm>
          <a:prstGeom prst="rect">
            <a:avLst/>
          </a:prstGeom>
          <a:noFill/>
          <a:ln/>
        </p:spPr>
        <p:txBody>
          <a:bodyPr wrap="square" lIns="0" tIns="0" rIns="0" bIns="0" rtlCol="0" anchor="ctr"/>
          <a:lstStyle/>
          <a:p>
            <a:pPr marL="0" indent="0" algn="r">
              <a:buNone/>
            </a:pPr>
            <a:r>
              <a:rPr lang="en-US" sz="2200" b="1" dirty="0">
                <a:solidFill>
                  <a:srgbClr val="E2E8F0"/>
                </a:solidFill>
                <a:latin typeface="Cambria" pitchFamily="34" charset="0"/>
                <a:ea typeface="Cambria" pitchFamily="34" charset="-122"/>
                <a:cs typeface="Cambria" pitchFamily="34" charset="-120"/>
              </a:rPr>
              <a:t>04</a:t>
            </a:r>
            <a:endParaRPr lang="en-US" sz="2200" dirty="0"/>
          </a:p>
        </p:txBody>
      </p:sp>
      <p:sp>
        <p:nvSpPr>
          <p:cNvPr id="26" name="Text 20"/>
          <p:cNvSpPr/>
          <p:nvPr/>
        </p:nvSpPr>
        <p:spPr>
          <a:xfrm>
            <a:off x="822960" y="5074920"/>
            <a:ext cx="3063240" cy="41148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Prototyping</a:t>
            </a:r>
            <a:endParaRPr lang="en-US" sz="1500" dirty="0"/>
          </a:p>
        </p:txBody>
      </p:sp>
      <p:sp>
        <p:nvSpPr>
          <p:cNvPr id="27" name="Text 21"/>
          <p:cNvSpPr/>
          <p:nvPr/>
        </p:nvSpPr>
        <p:spPr>
          <a:xfrm>
            <a:off x="822960" y="5486400"/>
            <a:ext cx="3063240" cy="7772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Lo-Fi wireframes → Hi-Fi Figma, theory-backed decisions</a:t>
            </a:r>
            <a:endParaRPr lang="en-US" sz="1150" dirty="0"/>
          </a:p>
        </p:txBody>
      </p:sp>
      <p:sp>
        <p:nvSpPr>
          <p:cNvPr id="28" name="Shape 22"/>
          <p:cNvSpPr/>
          <p:nvPr/>
        </p:nvSpPr>
        <p:spPr>
          <a:xfrm>
            <a:off x="4480560" y="4206240"/>
            <a:ext cx="3611880" cy="2148840"/>
          </a:xfrm>
          <a:prstGeom prst="roundRect">
            <a:avLst>
              <a:gd name="adj" fmla="val 3404"/>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29" name="Shape 23"/>
          <p:cNvSpPr/>
          <p:nvPr/>
        </p:nvSpPr>
        <p:spPr>
          <a:xfrm>
            <a:off x="4754880" y="4480560"/>
            <a:ext cx="640080" cy="640080"/>
          </a:xfrm>
          <a:prstGeom prst="ellipse">
            <a:avLst/>
          </a:prstGeom>
          <a:solidFill>
            <a:srgbClr val="2E7D32">
              <a:alpha val="12000"/>
            </a:srgbClr>
          </a:solidFill>
          <a:ln/>
        </p:spPr>
      </p:sp>
      <p:pic>
        <p:nvPicPr>
          <p:cNvPr id="30" name="Image 4" descr="icons/code_green.png"/>
          <p:cNvPicPr>
            <a:picLocks noChangeAspect="1"/>
          </p:cNvPicPr>
          <p:nvPr/>
        </p:nvPicPr>
        <p:blipFill>
          <a:blip r:embed="rId7"/>
          <a:stretch>
            <a:fillRect/>
          </a:stretch>
        </p:blipFill>
        <p:spPr>
          <a:xfrm>
            <a:off x="4898898" y="4624578"/>
            <a:ext cx="352044" cy="352044"/>
          </a:xfrm>
          <a:prstGeom prst="rect">
            <a:avLst/>
          </a:prstGeom>
        </p:spPr>
      </p:pic>
      <p:sp>
        <p:nvSpPr>
          <p:cNvPr id="31" name="Text 24"/>
          <p:cNvSpPr/>
          <p:nvPr/>
        </p:nvSpPr>
        <p:spPr>
          <a:xfrm>
            <a:off x="7315200" y="4434840"/>
            <a:ext cx="640080" cy="457200"/>
          </a:xfrm>
          <a:prstGeom prst="rect">
            <a:avLst/>
          </a:prstGeom>
          <a:noFill/>
          <a:ln/>
        </p:spPr>
        <p:txBody>
          <a:bodyPr wrap="square" lIns="0" tIns="0" rIns="0" bIns="0" rtlCol="0" anchor="ctr"/>
          <a:lstStyle/>
          <a:p>
            <a:pPr marL="0" indent="0" algn="r">
              <a:buNone/>
            </a:pPr>
            <a:r>
              <a:rPr lang="en-US" sz="2200" b="1" dirty="0">
                <a:solidFill>
                  <a:srgbClr val="E2E8F0"/>
                </a:solidFill>
                <a:latin typeface="Cambria" pitchFamily="34" charset="0"/>
                <a:ea typeface="Cambria" pitchFamily="34" charset="-122"/>
                <a:cs typeface="Cambria" pitchFamily="34" charset="-120"/>
              </a:rPr>
              <a:t>05</a:t>
            </a:r>
            <a:endParaRPr lang="en-US" sz="2200" dirty="0"/>
          </a:p>
        </p:txBody>
      </p:sp>
      <p:sp>
        <p:nvSpPr>
          <p:cNvPr id="32" name="Text 25"/>
          <p:cNvSpPr/>
          <p:nvPr/>
        </p:nvSpPr>
        <p:spPr>
          <a:xfrm>
            <a:off x="4754880" y="5074920"/>
            <a:ext cx="3063240" cy="41148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Implementation</a:t>
            </a:r>
            <a:endParaRPr lang="en-US" sz="1500" dirty="0"/>
          </a:p>
        </p:txBody>
      </p:sp>
      <p:sp>
        <p:nvSpPr>
          <p:cNvPr id="33" name="Text 26"/>
          <p:cNvSpPr/>
          <p:nvPr/>
        </p:nvSpPr>
        <p:spPr>
          <a:xfrm>
            <a:off x="4754880" y="5486400"/>
            <a:ext cx="3063240" cy="7772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Flutter + Firebase MVP, dark mode, responsive layout</a:t>
            </a:r>
            <a:endParaRPr lang="en-US" sz="1150" dirty="0"/>
          </a:p>
        </p:txBody>
      </p:sp>
      <p:sp>
        <p:nvSpPr>
          <p:cNvPr id="34" name="Shape 27"/>
          <p:cNvSpPr/>
          <p:nvPr/>
        </p:nvSpPr>
        <p:spPr>
          <a:xfrm>
            <a:off x="8412480" y="4206240"/>
            <a:ext cx="3611880" cy="2148840"/>
          </a:xfrm>
          <a:prstGeom prst="roundRect">
            <a:avLst>
              <a:gd name="adj" fmla="val 3404"/>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35" name="Shape 28"/>
          <p:cNvSpPr/>
          <p:nvPr/>
        </p:nvSpPr>
        <p:spPr>
          <a:xfrm>
            <a:off x="8686800" y="4480560"/>
            <a:ext cx="640080" cy="640080"/>
          </a:xfrm>
          <a:prstGeom prst="ellipse">
            <a:avLst/>
          </a:prstGeom>
          <a:solidFill>
            <a:srgbClr val="2E7D32">
              <a:alpha val="12000"/>
            </a:srgbClr>
          </a:solidFill>
          <a:ln/>
        </p:spPr>
      </p:sp>
      <p:pic>
        <p:nvPicPr>
          <p:cNvPr id="36" name="Image 5" descr="icons/chart_green.png"/>
          <p:cNvPicPr>
            <a:picLocks noChangeAspect="1"/>
          </p:cNvPicPr>
          <p:nvPr/>
        </p:nvPicPr>
        <p:blipFill>
          <a:blip r:embed="rId8"/>
          <a:stretch>
            <a:fillRect/>
          </a:stretch>
        </p:blipFill>
        <p:spPr>
          <a:xfrm>
            <a:off x="8830818" y="4624578"/>
            <a:ext cx="352044" cy="352044"/>
          </a:xfrm>
          <a:prstGeom prst="rect">
            <a:avLst/>
          </a:prstGeom>
        </p:spPr>
      </p:pic>
      <p:sp>
        <p:nvSpPr>
          <p:cNvPr id="37" name="Text 29"/>
          <p:cNvSpPr/>
          <p:nvPr/>
        </p:nvSpPr>
        <p:spPr>
          <a:xfrm>
            <a:off x="11247120" y="4434840"/>
            <a:ext cx="640080" cy="457200"/>
          </a:xfrm>
          <a:prstGeom prst="rect">
            <a:avLst/>
          </a:prstGeom>
          <a:noFill/>
          <a:ln/>
        </p:spPr>
        <p:txBody>
          <a:bodyPr wrap="square" lIns="0" tIns="0" rIns="0" bIns="0" rtlCol="0" anchor="ctr"/>
          <a:lstStyle/>
          <a:p>
            <a:pPr marL="0" indent="0" algn="r">
              <a:buNone/>
            </a:pPr>
            <a:r>
              <a:rPr lang="en-US" sz="2200" b="1" dirty="0">
                <a:solidFill>
                  <a:srgbClr val="E2E8F0"/>
                </a:solidFill>
                <a:latin typeface="Cambria" pitchFamily="34" charset="0"/>
                <a:ea typeface="Cambria" pitchFamily="34" charset="-122"/>
                <a:cs typeface="Cambria" pitchFamily="34" charset="-120"/>
              </a:rPr>
              <a:t>06</a:t>
            </a:r>
            <a:endParaRPr lang="en-US" sz="2200" dirty="0"/>
          </a:p>
        </p:txBody>
      </p:sp>
      <p:sp>
        <p:nvSpPr>
          <p:cNvPr id="38" name="Text 30"/>
          <p:cNvSpPr/>
          <p:nvPr/>
        </p:nvSpPr>
        <p:spPr>
          <a:xfrm>
            <a:off x="8686800" y="5074920"/>
            <a:ext cx="3063240" cy="41148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Evaluation &amp; Results</a:t>
            </a:r>
            <a:endParaRPr lang="en-US" sz="1500" dirty="0"/>
          </a:p>
        </p:txBody>
      </p:sp>
      <p:sp>
        <p:nvSpPr>
          <p:cNvPr id="39" name="Text 31"/>
          <p:cNvSpPr/>
          <p:nvPr/>
        </p:nvSpPr>
        <p:spPr>
          <a:xfrm>
            <a:off x="8686800" y="5486400"/>
            <a:ext cx="3063240" cy="7772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SUS score, AI code review, conclusion &amp; future work</a:t>
            </a:r>
            <a:endParaRPr lang="en-US" sz="1150" dirty="0"/>
          </a:p>
        </p:txBody>
      </p:sp>
      <p:sp>
        <p:nvSpPr>
          <p:cNvPr id="40" name="Text 32"/>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K24Klik Redesign — Final Project Walkthrough</a:t>
            </a:r>
            <a:endParaRPr lang="en-US" sz="1000" dirty="0"/>
          </a:p>
        </p:txBody>
      </p:sp>
      <p:sp>
        <p:nvSpPr>
          <p:cNvPr id="41" name="Text 33"/>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1.1 — BACKGROUND</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Why K24Klik?</a:t>
            </a:r>
            <a:endParaRPr lang="en-US" sz="3200" dirty="0"/>
          </a:p>
        </p:txBody>
      </p:sp>
      <p:sp>
        <p:nvSpPr>
          <p:cNvPr id="4" name="Text 2"/>
          <p:cNvSpPr/>
          <p:nvPr/>
        </p:nvSpPr>
        <p:spPr>
          <a:xfrm>
            <a:off x="548640" y="1737360"/>
            <a:ext cx="6035040" cy="2926080"/>
          </a:xfrm>
          <a:prstGeom prst="rect">
            <a:avLst/>
          </a:prstGeom>
          <a:noFill/>
          <a:ln/>
        </p:spPr>
        <p:txBody>
          <a:bodyPr wrap="square" lIns="0" tIns="0" rIns="0" bIns="0" rtlCol="0" anchor="ctr"/>
          <a:lstStyle/>
          <a:p>
            <a:pPr marL="0" indent="0">
              <a:lnSpc>
                <a:spcPct val="115000"/>
              </a:lnSpc>
              <a:spcAft>
                <a:spcPts val="1000"/>
              </a:spcAft>
              <a:buNone/>
            </a:pPr>
            <a:r>
              <a:rPr lang="en-US" sz="1600" b="1" dirty="0">
                <a:solidFill>
                  <a:srgbClr val="263238"/>
                </a:solidFill>
                <a:latin typeface="Calibri" pitchFamily="34" charset="0"/>
                <a:ea typeface="Calibri" pitchFamily="34" charset="-122"/>
                <a:cs typeface="Calibri" pitchFamily="34" charset="-120"/>
              </a:rPr>
              <a:t>Health &amp; pharmacy apps are essential — but UX often lags behind.</a:t>
            </a:r>
            <a:endParaRPr lang="en-US" sz="1600" dirty="0"/>
          </a:p>
          <a:p>
            <a:pPr marL="0" indent="0">
              <a:lnSpc>
                <a:spcPct val="115000"/>
              </a:lnSpc>
              <a:buNone/>
            </a:pPr>
            <a:r>
              <a:rPr lang="en-US" sz="1350" dirty="0">
                <a:solidFill>
                  <a:srgbClr val="263238"/>
                </a:solidFill>
                <a:latin typeface="Calibri" pitchFamily="34" charset="0"/>
                <a:ea typeface="Calibri" pitchFamily="34" charset="-122"/>
                <a:cs typeface="Calibri" pitchFamily="34" charset="-120"/>
              </a:rPr>
              <a:t>K24Klik is a national 24-minute medicine delivery platform. I focused on its use at the </a:t>
            </a:r>
            <a:r>
              <a:rPr lang="en-US" sz="1350" b="1" dirty="0">
                <a:solidFill>
                  <a:srgbClr val="2E7D32"/>
                </a:solidFill>
                <a:latin typeface="Calibri" pitchFamily="34" charset="0"/>
                <a:ea typeface="Calibri" pitchFamily="34" charset="-122"/>
                <a:cs typeface="Calibri" pitchFamily="34" charset="-120"/>
              </a:rPr>
              <a:t>local K-24 branches in Purbalingga &amp; Banyumas</a:t>
            </a:r>
            <a:r>
              <a:rPr lang="en-US" sz="1350" dirty="0">
                <a:solidFill>
                  <a:srgbClr val="263238"/>
                </a:solidFill>
                <a:latin typeface="Calibri" pitchFamily="34" charset="0"/>
                <a:ea typeface="Calibri" pitchFamily="34" charset="-122"/>
                <a:cs typeface="Calibri" pitchFamily="34" charset="-120"/>
              </a:rPr>
              <a:t> (AW Sumarmo &amp; Dukuhwaluh).</a:t>
            </a:r>
            <a:endParaRPr lang="en-US" sz="1600" dirty="0"/>
          </a:p>
          <a:p>
            <a:pPr marL="0" indent="0">
              <a:lnSpc>
                <a:spcPct val="115000"/>
              </a:lnSpc>
              <a:buNone/>
            </a:pPr>
            <a:r>
              <a:rPr lang="en-US" sz="1350" dirty="0">
                <a:solidFill>
                  <a:srgbClr val="263238"/>
                </a:solidFill>
                <a:latin typeface="Calibri" pitchFamily="34" charset="0"/>
                <a:ea typeface="Calibri" pitchFamily="34" charset="-122"/>
                <a:cs typeface="Calibri" pitchFamily="34" charset="-120"/>
              </a:rPr>
              <a:t>Even with a strong national brand, the current UI suffers from severe </a:t>
            </a:r>
            <a:r>
              <a:rPr lang="en-US" sz="1350" b="1" dirty="0">
                <a:solidFill>
                  <a:srgbClr val="263238"/>
                </a:solidFill>
                <a:latin typeface="Calibri" pitchFamily="34" charset="0"/>
                <a:ea typeface="Calibri" pitchFamily="34" charset="-122"/>
                <a:cs typeface="Calibri" pitchFamily="34" charset="-120"/>
              </a:rPr>
              <a:t>visual clutter, invasive pop-ups, and cognitive overload</a:t>
            </a:r>
            <a:r>
              <a:rPr lang="en-US" sz="1350" dirty="0">
                <a:solidFill>
                  <a:srgbClr val="263238"/>
                </a:solidFill>
                <a:latin typeface="Calibri" pitchFamily="34" charset="0"/>
                <a:ea typeface="Calibri" pitchFamily="34" charset="-122"/>
                <a:cs typeface="Calibri" pitchFamily="34" charset="-120"/>
              </a:rPr>
              <a:t> — which hurts local users trying to order medicine quickly during emergencies.</a:t>
            </a:r>
            <a:endParaRPr lang="en-US" sz="1600" dirty="0"/>
          </a:p>
        </p:txBody>
      </p:sp>
      <p:sp>
        <p:nvSpPr>
          <p:cNvPr id="5" name="Shape 3"/>
          <p:cNvSpPr/>
          <p:nvPr/>
        </p:nvSpPr>
        <p:spPr>
          <a:xfrm>
            <a:off x="548640" y="4800600"/>
            <a:ext cx="6035040" cy="1600200"/>
          </a:xfrm>
          <a:prstGeom prst="roundRect">
            <a:avLst>
              <a:gd name="adj" fmla="val 4571"/>
            </a:avLst>
          </a:prstGeom>
          <a:solidFill>
            <a:srgbClr val="2E7D32">
              <a:alpha val="8000"/>
            </a:srgbClr>
          </a:solidFill>
          <a:ln/>
        </p:spPr>
      </p:sp>
      <p:sp>
        <p:nvSpPr>
          <p:cNvPr id="6" name="Text 4"/>
          <p:cNvSpPr/>
          <p:nvPr/>
        </p:nvSpPr>
        <p:spPr>
          <a:xfrm>
            <a:off x="822960" y="4983480"/>
            <a:ext cx="5486400" cy="274320"/>
          </a:xfrm>
          <a:prstGeom prst="rect">
            <a:avLst/>
          </a:prstGeom>
          <a:noFill/>
          <a:ln/>
        </p:spPr>
        <p:txBody>
          <a:bodyPr wrap="square" lIns="0" tIns="0" rIns="0" bIns="0" rtlCol="0" anchor="ctr"/>
          <a:lstStyle/>
          <a:p>
            <a:pPr marL="0" indent="0">
              <a:buNone/>
            </a:pPr>
            <a:r>
              <a:rPr lang="en-US" sz="1100" b="1" kern="0" spc="200" dirty="0">
                <a:solidFill>
                  <a:srgbClr val="2E7D32"/>
                </a:solidFill>
                <a:latin typeface="Calibri" pitchFamily="34" charset="0"/>
                <a:ea typeface="Calibri" pitchFamily="34" charset="-122"/>
                <a:cs typeface="Calibri" pitchFamily="34" charset="-120"/>
              </a:rPr>
              <a:t>CHALLENGE STATEMENT (1.3)</a:t>
            </a:r>
            <a:endParaRPr lang="en-US" sz="1100" dirty="0"/>
          </a:p>
        </p:txBody>
      </p:sp>
      <p:sp>
        <p:nvSpPr>
          <p:cNvPr id="7" name="Text 5"/>
          <p:cNvSpPr/>
          <p:nvPr/>
        </p:nvSpPr>
        <p:spPr>
          <a:xfrm>
            <a:off x="822960" y="5257800"/>
            <a:ext cx="5486400" cy="1051560"/>
          </a:xfrm>
          <a:prstGeom prst="rect">
            <a:avLst/>
          </a:prstGeom>
          <a:noFill/>
          <a:ln/>
        </p:spPr>
        <p:txBody>
          <a:bodyPr wrap="square" lIns="0" tIns="0" rIns="0" bIns="0" rtlCol="0" anchor="ctr"/>
          <a:lstStyle/>
          <a:p>
            <a:pPr marL="0" indent="0">
              <a:lnSpc>
                <a:spcPct val="110000"/>
              </a:lnSpc>
              <a:buNone/>
            </a:pPr>
            <a:r>
              <a:rPr lang="en-US" sz="1300" i="1" dirty="0">
                <a:solidFill>
                  <a:srgbClr val="263238"/>
                </a:solidFill>
                <a:latin typeface="Calibri" pitchFamily="34" charset="0"/>
                <a:ea typeface="Calibri" pitchFamily="34" charset="-122"/>
                <a:cs typeface="Calibri" pitchFamily="34" charset="-120"/>
              </a:rPr>
              <a:t>“Redesign K24Klik so local users in Purbalingga/Banyumas can search, view details, and order medicine independently 50% faster — through a clean, minimalist design free from disruptive pop-ups.”</a:t>
            </a:r>
            <a:endParaRPr lang="en-US" sz="1300" dirty="0"/>
          </a:p>
        </p:txBody>
      </p:sp>
      <p:sp>
        <p:nvSpPr>
          <p:cNvPr id="8" name="Shape 6"/>
          <p:cNvSpPr/>
          <p:nvPr/>
        </p:nvSpPr>
        <p:spPr>
          <a:xfrm>
            <a:off x="6903720" y="1691640"/>
            <a:ext cx="2743200" cy="4800600"/>
          </a:xfrm>
          <a:prstGeom prst="roundRect">
            <a:avLst>
              <a:gd name="adj" fmla="val 2667"/>
            </a:avLst>
          </a:prstGeom>
          <a:solidFill>
            <a:srgbClr val="F1F5F2"/>
          </a:solidFill>
          <a:ln/>
          <a:effectLst>
            <a:outerShdw blurRad="101600" dist="38100" dir="2700000" algn="bl" rotWithShape="0">
              <a:srgbClr val="1B5E20">
                <a:alpha val="18000"/>
              </a:srgbClr>
            </a:outerShdw>
          </a:effectLst>
        </p:spPr>
      </p:sp>
      <p:pic>
        <p:nvPicPr>
          <p:cNvPr id="9" name="Image 0" descr="images/old_home.png"/>
          <p:cNvPicPr>
            <a:picLocks noChangeAspect="1"/>
          </p:cNvPicPr>
          <p:nvPr/>
        </p:nvPicPr>
        <p:blipFill>
          <a:blip r:embed="rId3"/>
          <a:srcRect l="24714" t="11885" r="889" b="3953"/>
          <a:stretch>
            <a:fillRect/>
          </a:stretch>
        </p:blipFill>
        <p:spPr>
          <a:xfrm>
            <a:off x="7160635" y="1782466"/>
            <a:ext cx="2229370" cy="4573228"/>
          </a:xfrm>
          <a:prstGeom prst="rect">
            <a:avLst/>
          </a:prstGeom>
        </p:spPr>
      </p:pic>
      <p:sp>
        <p:nvSpPr>
          <p:cNvPr id="10" name="Text 7"/>
          <p:cNvSpPr/>
          <p:nvPr/>
        </p:nvSpPr>
        <p:spPr>
          <a:xfrm>
            <a:off x="6903720" y="6355080"/>
            <a:ext cx="2743200" cy="32004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Current K24Klik Home Screen — v5.215.14</a:t>
            </a:r>
            <a:endParaRPr lang="en-US" sz="1000" dirty="0"/>
          </a:p>
        </p:txBody>
      </p:sp>
      <p:sp>
        <p:nvSpPr>
          <p:cNvPr id="11" name="Shape 8"/>
          <p:cNvSpPr/>
          <p:nvPr/>
        </p:nvSpPr>
        <p:spPr>
          <a:xfrm>
            <a:off x="9921240" y="1691640"/>
            <a:ext cx="1691640" cy="4800600"/>
          </a:xfrm>
          <a:prstGeom prst="roundRect">
            <a:avLst>
              <a:gd name="adj" fmla="val 4324"/>
            </a:avLst>
          </a:prstGeom>
          <a:solidFill>
            <a:srgbClr val="1B5E20"/>
          </a:solidFill>
          <a:ln/>
          <a:effectLst>
            <a:outerShdw blurRad="101600" dist="38100" dir="2700000" algn="bl" rotWithShape="0">
              <a:srgbClr val="1B5E20">
                <a:alpha val="18000"/>
              </a:srgbClr>
            </a:outerShdw>
          </a:effectLst>
        </p:spPr>
      </p:sp>
      <p:sp>
        <p:nvSpPr>
          <p:cNvPr id="12" name="Text 9"/>
          <p:cNvSpPr/>
          <p:nvPr/>
        </p:nvSpPr>
        <p:spPr>
          <a:xfrm>
            <a:off x="10058400" y="1920240"/>
            <a:ext cx="141732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4.2 / 5.0</a:t>
            </a:r>
            <a:endParaRPr lang="en-US" sz="2000" dirty="0"/>
          </a:p>
        </p:txBody>
      </p:sp>
      <p:sp>
        <p:nvSpPr>
          <p:cNvPr id="13" name="Text 10"/>
          <p:cNvSpPr/>
          <p:nvPr/>
        </p:nvSpPr>
        <p:spPr>
          <a:xfrm>
            <a:off x="10058400" y="2331720"/>
            <a:ext cx="1417320" cy="365760"/>
          </a:xfrm>
          <a:prstGeom prst="rect">
            <a:avLst/>
          </a:prstGeom>
          <a:noFill/>
          <a:ln/>
        </p:spPr>
        <p:txBody>
          <a:bodyPr wrap="square" lIns="0" tIns="0" rIns="0" bIns="0" rtlCol="0" anchor="ctr"/>
          <a:lstStyle/>
          <a:p>
            <a:pPr marL="0" indent="0">
              <a:buNone/>
            </a:pPr>
            <a:r>
              <a:rPr lang="en-US" sz="1050" dirty="0">
                <a:solidFill>
                  <a:srgbClr val="C8E6C9"/>
                </a:solidFill>
                <a:latin typeface="Calibri" pitchFamily="34" charset="0"/>
                <a:ea typeface="Calibri" pitchFamily="34" charset="-122"/>
                <a:cs typeface="Calibri" pitchFamily="34" charset="-120"/>
              </a:rPr>
              <a:t>Play Store rating</a:t>
            </a:r>
            <a:endParaRPr lang="en-US" sz="1050" dirty="0"/>
          </a:p>
        </p:txBody>
      </p:sp>
      <p:sp>
        <p:nvSpPr>
          <p:cNvPr id="14" name="Text 11"/>
          <p:cNvSpPr/>
          <p:nvPr/>
        </p:nvSpPr>
        <p:spPr>
          <a:xfrm>
            <a:off x="10058400" y="3081528"/>
            <a:ext cx="141732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44K+</a:t>
            </a:r>
            <a:endParaRPr lang="en-US" sz="2000" dirty="0"/>
          </a:p>
        </p:txBody>
      </p:sp>
      <p:sp>
        <p:nvSpPr>
          <p:cNvPr id="15" name="Text 12"/>
          <p:cNvSpPr/>
          <p:nvPr/>
        </p:nvSpPr>
        <p:spPr>
          <a:xfrm>
            <a:off x="10058400" y="3493008"/>
            <a:ext cx="1417320" cy="365760"/>
          </a:xfrm>
          <a:prstGeom prst="rect">
            <a:avLst/>
          </a:prstGeom>
          <a:noFill/>
          <a:ln/>
        </p:spPr>
        <p:txBody>
          <a:bodyPr wrap="square" lIns="0" tIns="0" rIns="0" bIns="0" rtlCol="0" anchor="ctr"/>
          <a:lstStyle/>
          <a:p>
            <a:pPr marL="0" indent="0">
              <a:buNone/>
            </a:pPr>
            <a:r>
              <a:rPr lang="en-US" sz="1050" dirty="0">
                <a:solidFill>
                  <a:srgbClr val="C8E6C9"/>
                </a:solidFill>
                <a:latin typeface="Calibri" pitchFamily="34" charset="0"/>
                <a:ea typeface="Calibri" pitchFamily="34" charset="-122"/>
                <a:cs typeface="Calibri" pitchFamily="34" charset="-120"/>
              </a:rPr>
              <a:t>total reviews</a:t>
            </a:r>
            <a:endParaRPr lang="en-US" sz="1050" dirty="0"/>
          </a:p>
        </p:txBody>
      </p:sp>
      <p:sp>
        <p:nvSpPr>
          <p:cNvPr id="16" name="Text 13"/>
          <p:cNvSpPr/>
          <p:nvPr/>
        </p:nvSpPr>
        <p:spPr>
          <a:xfrm>
            <a:off x="10058400" y="4242816"/>
            <a:ext cx="141732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1M+</a:t>
            </a:r>
            <a:endParaRPr lang="en-US" sz="2000" dirty="0"/>
          </a:p>
        </p:txBody>
      </p:sp>
      <p:sp>
        <p:nvSpPr>
          <p:cNvPr id="17" name="Text 14"/>
          <p:cNvSpPr/>
          <p:nvPr/>
        </p:nvSpPr>
        <p:spPr>
          <a:xfrm>
            <a:off x="10058400" y="4654296"/>
            <a:ext cx="1417320" cy="365760"/>
          </a:xfrm>
          <a:prstGeom prst="rect">
            <a:avLst/>
          </a:prstGeom>
          <a:noFill/>
          <a:ln/>
        </p:spPr>
        <p:txBody>
          <a:bodyPr wrap="square" lIns="0" tIns="0" rIns="0" bIns="0" rtlCol="0" anchor="ctr"/>
          <a:lstStyle/>
          <a:p>
            <a:pPr marL="0" indent="0">
              <a:buNone/>
            </a:pPr>
            <a:r>
              <a:rPr lang="en-US" sz="1050" dirty="0">
                <a:solidFill>
                  <a:srgbClr val="C8E6C9"/>
                </a:solidFill>
                <a:latin typeface="Calibri" pitchFamily="34" charset="0"/>
                <a:ea typeface="Calibri" pitchFamily="34" charset="-122"/>
                <a:cs typeface="Calibri" pitchFamily="34" charset="-120"/>
              </a:rPr>
              <a:t>downloads</a:t>
            </a:r>
            <a:endParaRPr lang="en-US" sz="1050" dirty="0"/>
          </a:p>
        </p:txBody>
      </p:sp>
      <p:sp>
        <p:nvSpPr>
          <p:cNvPr id="18" name="Text 15"/>
          <p:cNvSpPr/>
          <p:nvPr/>
        </p:nvSpPr>
        <p:spPr>
          <a:xfrm>
            <a:off x="10058400" y="5404104"/>
            <a:ext cx="141732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24 min</a:t>
            </a:r>
            <a:endParaRPr lang="en-US" sz="2000" dirty="0"/>
          </a:p>
        </p:txBody>
      </p:sp>
      <p:sp>
        <p:nvSpPr>
          <p:cNvPr id="19" name="Text 16"/>
          <p:cNvSpPr/>
          <p:nvPr/>
        </p:nvSpPr>
        <p:spPr>
          <a:xfrm>
            <a:off x="10058400" y="5815584"/>
            <a:ext cx="1417320" cy="365760"/>
          </a:xfrm>
          <a:prstGeom prst="rect">
            <a:avLst/>
          </a:prstGeom>
          <a:noFill/>
          <a:ln/>
        </p:spPr>
        <p:txBody>
          <a:bodyPr wrap="square" lIns="0" tIns="0" rIns="0" bIns="0" rtlCol="0" anchor="ctr"/>
          <a:lstStyle/>
          <a:p>
            <a:pPr marL="0" indent="0">
              <a:buNone/>
            </a:pPr>
            <a:r>
              <a:rPr lang="en-US" sz="1050" dirty="0">
                <a:solidFill>
                  <a:srgbClr val="C8E6C9"/>
                </a:solidFill>
                <a:latin typeface="Calibri" pitchFamily="34" charset="0"/>
                <a:ea typeface="Calibri" pitchFamily="34" charset="-122"/>
                <a:cs typeface="Calibri" pitchFamily="34" charset="-120"/>
              </a:rPr>
              <a:t>delivery promise</a:t>
            </a:r>
            <a:endParaRPr lang="en-US" sz="1050" dirty="0"/>
          </a:p>
        </p:txBody>
      </p:sp>
      <p:sp>
        <p:nvSpPr>
          <p:cNvPr id="20" name="Text 17"/>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Ch.1.1–1.2, Fig. 3.1</a:t>
            </a:r>
            <a:endParaRPr lang="en-US" sz="1000" dirty="0"/>
          </a:p>
        </p:txBody>
      </p:sp>
      <p:sp>
        <p:nvSpPr>
          <p:cNvPr id="21" name="Text 18"/>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1.2 — APP INFO &amp; IDENTITY</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K24Klik at a Glance</a:t>
            </a:r>
            <a:endParaRPr lang="en-US" sz="3200" dirty="0"/>
          </a:p>
        </p:txBody>
      </p:sp>
      <p:sp>
        <p:nvSpPr>
          <p:cNvPr id="4" name="Shape 2"/>
          <p:cNvSpPr/>
          <p:nvPr/>
        </p:nvSpPr>
        <p:spPr>
          <a:xfrm>
            <a:off x="548640" y="1691640"/>
            <a:ext cx="4572000" cy="4663440"/>
          </a:xfrm>
          <a:prstGeom prst="roundRect">
            <a:avLst>
              <a:gd name="adj" fmla="val 1600"/>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5" name="Text 3"/>
          <p:cNvSpPr/>
          <p:nvPr/>
        </p:nvSpPr>
        <p:spPr>
          <a:xfrm>
            <a:off x="868680" y="1874520"/>
            <a:ext cx="4023360" cy="36576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App Identity &amp; Metadata</a:t>
            </a:r>
            <a:endParaRPr lang="en-US" sz="1500" dirty="0"/>
          </a:p>
        </p:txBody>
      </p:sp>
      <p:sp>
        <p:nvSpPr>
          <p:cNvPr id="6" name="Text 4"/>
          <p:cNvSpPr/>
          <p:nvPr/>
        </p:nvSpPr>
        <p:spPr>
          <a:xfrm>
            <a:off x="868680" y="2377440"/>
            <a:ext cx="1463040" cy="365760"/>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App Name</a:t>
            </a:r>
            <a:endParaRPr lang="en-US" sz="1200" dirty="0"/>
          </a:p>
        </p:txBody>
      </p:sp>
      <p:sp>
        <p:nvSpPr>
          <p:cNvPr id="7" name="Text 5"/>
          <p:cNvSpPr/>
          <p:nvPr/>
        </p:nvSpPr>
        <p:spPr>
          <a:xfrm>
            <a:off x="2331720" y="2377440"/>
            <a:ext cx="2606040" cy="3657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K24KLIK: Beli Obat Cepat 24mnt</a:t>
            </a:r>
            <a:endParaRPr lang="en-US" sz="1200" dirty="0"/>
          </a:p>
        </p:txBody>
      </p:sp>
      <p:sp>
        <p:nvSpPr>
          <p:cNvPr id="8" name="Text 6"/>
          <p:cNvSpPr/>
          <p:nvPr/>
        </p:nvSpPr>
        <p:spPr>
          <a:xfrm>
            <a:off x="868680" y="2798064"/>
            <a:ext cx="1463040" cy="365760"/>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Developer</a:t>
            </a:r>
            <a:endParaRPr lang="en-US" sz="1200" dirty="0"/>
          </a:p>
        </p:txBody>
      </p:sp>
      <p:sp>
        <p:nvSpPr>
          <p:cNvPr id="9" name="Text 7"/>
          <p:cNvSpPr/>
          <p:nvPr/>
        </p:nvSpPr>
        <p:spPr>
          <a:xfrm>
            <a:off x="2331720" y="2798064"/>
            <a:ext cx="2606040" cy="3657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PT. K24 Klik Indonesia</a:t>
            </a:r>
            <a:endParaRPr lang="en-US" sz="1200" dirty="0"/>
          </a:p>
        </p:txBody>
      </p:sp>
      <p:sp>
        <p:nvSpPr>
          <p:cNvPr id="10" name="Text 8"/>
          <p:cNvSpPr/>
          <p:nvPr/>
        </p:nvSpPr>
        <p:spPr>
          <a:xfrm>
            <a:off x="868680" y="3218688"/>
            <a:ext cx="1463040" cy="365760"/>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Category</a:t>
            </a:r>
            <a:endParaRPr lang="en-US" sz="1200" dirty="0"/>
          </a:p>
        </p:txBody>
      </p:sp>
      <p:sp>
        <p:nvSpPr>
          <p:cNvPr id="11" name="Text 9"/>
          <p:cNvSpPr/>
          <p:nvPr/>
        </p:nvSpPr>
        <p:spPr>
          <a:xfrm>
            <a:off x="2331720" y="3218688"/>
            <a:ext cx="2606040" cy="3657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Medical / Health &amp; Fitness</a:t>
            </a:r>
            <a:endParaRPr lang="en-US" sz="1200" dirty="0"/>
          </a:p>
        </p:txBody>
      </p:sp>
      <p:sp>
        <p:nvSpPr>
          <p:cNvPr id="12" name="Text 10"/>
          <p:cNvSpPr/>
          <p:nvPr/>
        </p:nvSpPr>
        <p:spPr>
          <a:xfrm>
            <a:off x="868680" y="3639312"/>
            <a:ext cx="1463040" cy="365760"/>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Version</a:t>
            </a:r>
            <a:endParaRPr lang="en-US" sz="1200" dirty="0"/>
          </a:p>
        </p:txBody>
      </p:sp>
      <p:sp>
        <p:nvSpPr>
          <p:cNvPr id="13" name="Text 11"/>
          <p:cNvSpPr/>
          <p:nvPr/>
        </p:nvSpPr>
        <p:spPr>
          <a:xfrm>
            <a:off x="2331720" y="3639312"/>
            <a:ext cx="2606040" cy="3657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v5.215.14</a:t>
            </a:r>
            <a:endParaRPr lang="en-US" sz="1200" dirty="0"/>
          </a:p>
        </p:txBody>
      </p:sp>
      <p:sp>
        <p:nvSpPr>
          <p:cNvPr id="14" name="Text 12"/>
          <p:cNvSpPr/>
          <p:nvPr/>
        </p:nvSpPr>
        <p:spPr>
          <a:xfrm>
            <a:off x="868680" y="4059936"/>
            <a:ext cx="1463040" cy="365760"/>
          </a:xfrm>
          <a:prstGeom prst="rect">
            <a:avLst/>
          </a:prstGeom>
          <a:noFill/>
          <a:ln/>
        </p:spPr>
        <p:txBody>
          <a:bodyPr wrap="square" lIns="0" tIns="0" rIns="0" bIns="0" rtlCol="0" anchor="ctr"/>
          <a:lstStyle/>
          <a:p>
            <a:pPr marL="0" indent="0">
              <a:buNone/>
            </a:pPr>
            <a:r>
              <a:rPr lang="en-US" sz="1200" b="1" dirty="0">
                <a:solidFill>
                  <a:srgbClr val="64748B"/>
                </a:solidFill>
                <a:latin typeface="Calibri" pitchFamily="34" charset="0"/>
                <a:ea typeface="Calibri" pitchFamily="34" charset="-122"/>
                <a:cs typeface="Calibri" pitchFamily="34" charset="-120"/>
              </a:rPr>
              <a:t>Last Updated</a:t>
            </a:r>
            <a:endParaRPr lang="en-US" sz="1200" dirty="0"/>
          </a:p>
        </p:txBody>
      </p:sp>
      <p:sp>
        <p:nvSpPr>
          <p:cNvPr id="15" name="Text 13"/>
          <p:cNvSpPr/>
          <p:nvPr/>
        </p:nvSpPr>
        <p:spPr>
          <a:xfrm>
            <a:off x="2331720" y="4059936"/>
            <a:ext cx="2606040" cy="3657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April 15, 2026</a:t>
            </a:r>
            <a:endParaRPr lang="en-US" sz="1200" dirty="0"/>
          </a:p>
        </p:txBody>
      </p:sp>
      <p:sp>
        <p:nvSpPr>
          <p:cNvPr id="16" name="Shape 14"/>
          <p:cNvSpPr/>
          <p:nvPr/>
        </p:nvSpPr>
        <p:spPr>
          <a:xfrm>
            <a:off x="868680" y="4572000"/>
            <a:ext cx="3931920" cy="0"/>
          </a:xfrm>
          <a:prstGeom prst="line">
            <a:avLst/>
          </a:prstGeom>
          <a:noFill/>
          <a:ln w="12700">
            <a:solidFill>
              <a:srgbClr val="E2E8F0"/>
            </a:solidFill>
            <a:prstDash val="solid"/>
          </a:ln>
        </p:spPr>
      </p:sp>
      <p:sp>
        <p:nvSpPr>
          <p:cNvPr id="17" name="Text 15"/>
          <p:cNvSpPr/>
          <p:nvPr/>
        </p:nvSpPr>
        <p:spPr>
          <a:xfrm>
            <a:off x="868680" y="4709160"/>
            <a:ext cx="3931920" cy="548640"/>
          </a:xfrm>
          <a:prstGeom prst="rect">
            <a:avLst/>
          </a:prstGeom>
          <a:noFill/>
          <a:ln/>
        </p:spPr>
        <p:txBody>
          <a:bodyPr wrap="square" lIns="0" tIns="0" rIns="0" bIns="0" rtlCol="0" anchor="ctr"/>
          <a:lstStyle/>
          <a:p>
            <a:pPr marL="0" indent="0">
              <a:buNone/>
            </a:pPr>
            <a:r>
              <a:rPr lang="en-US" sz="1250" i="1" dirty="0">
                <a:solidFill>
                  <a:srgbClr val="2E7D32"/>
                </a:solidFill>
                <a:latin typeface="Calibri" pitchFamily="34" charset="0"/>
                <a:ea typeface="Calibri" pitchFamily="34" charset="-122"/>
                <a:cs typeface="Calibri" pitchFamily="34" charset="-120"/>
              </a:rPr>
              <a:t>“Pesan obat dari rumah lebih cepat loh, 24 menit sudah sampai!”</a:t>
            </a:r>
            <a:endParaRPr lang="en-US" sz="1250" dirty="0"/>
          </a:p>
        </p:txBody>
      </p:sp>
      <p:sp>
        <p:nvSpPr>
          <p:cNvPr id="18" name="Text 16"/>
          <p:cNvSpPr/>
          <p:nvPr/>
        </p:nvSpPr>
        <p:spPr>
          <a:xfrm>
            <a:off x="868680" y="5349240"/>
            <a:ext cx="3931920" cy="914400"/>
          </a:xfrm>
          <a:prstGeom prst="rect">
            <a:avLst/>
          </a:prstGeom>
          <a:noFill/>
          <a:ln/>
        </p:spPr>
        <p:txBody>
          <a:bodyPr wrap="square" lIns="0" tIns="0" rIns="0" bIns="0" rtlCol="0" anchor="ctr"/>
          <a:lstStyle/>
          <a:p>
            <a:pPr marL="0" indent="0">
              <a:lnSpc>
                <a:spcPct val="110000"/>
              </a:lnSpc>
              <a:buNone/>
            </a:pPr>
            <a:r>
              <a:rPr lang="en-US" sz="1150" dirty="0">
                <a:solidFill>
                  <a:srgbClr val="64748B"/>
                </a:solidFill>
                <a:latin typeface="Calibri" pitchFamily="34" charset="0"/>
                <a:ea typeface="Calibri" pitchFamily="34" charset="-122"/>
                <a:cs typeface="Calibri" pitchFamily="34" charset="-120"/>
              </a:rPr>
              <a:t>Target users: general public, urgent-medicine patients, mothers buying baby supplies, and elderly patients / caretakers needing routine prescriptions.</a:t>
            </a:r>
            <a:endParaRPr lang="en-US" sz="1150" dirty="0"/>
          </a:p>
        </p:txBody>
      </p:sp>
      <p:sp>
        <p:nvSpPr>
          <p:cNvPr id="19" name="Text 17"/>
          <p:cNvSpPr/>
          <p:nvPr/>
        </p:nvSpPr>
        <p:spPr>
          <a:xfrm>
            <a:off x="5394960" y="1691640"/>
            <a:ext cx="5486400" cy="36576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Core Services / Features</a:t>
            </a:r>
            <a:endParaRPr lang="en-US" sz="1500" dirty="0"/>
          </a:p>
        </p:txBody>
      </p:sp>
      <p:sp>
        <p:nvSpPr>
          <p:cNvPr id="20" name="Shape 18"/>
          <p:cNvSpPr/>
          <p:nvPr/>
        </p:nvSpPr>
        <p:spPr>
          <a:xfrm>
            <a:off x="5394960" y="2148840"/>
            <a:ext cx="6217920" cy="713232"/>
          </a:xfrm>
          <a:prstGeom prst="roundRect">
            <a:avLst>
              <a:gd name="adj" fmla="val 10256"/>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21" name="Shape 19"/>
          <p:cNvSpPr/>
          <p:nvPr/>
        </p:nvSpPr>
        <p:spPr>
          <a:xfrm>
            <a:off x="5532120" y="2240280"/>
            <a:ext cx="530352" cy="530352"/>
          </a:xfrm>
          <a:prstGeom prst="ellipse">
            <a:avLst/>
          </a:prstGeom>
          <a:solidFill>
            <a:srgbClr val="2E7D32">
              <a:alpha val="12000"/>
            </a:srgbClr>
          </a:solidFill>
          <a:ln/>
        </p:spPr>
      </p:sp>
      <p:pic>
        <p:nvPicPr>
          <p:cNvPr id="22" name="Image 0" descr="icons/pills_green.png"/>
          <p:cNvPicPr>
            <a:picLocks noChangeAspect="1"/>
          </p:cNvPicPr>
          <p:nvPr/>
        </p:nvPicPr>
        <p:blipFill>
          <a:blip r:embed="rId3"/>
          <a:stretch>
            <a:fillRect/>
          </a:stretch>
        </p:blipFill>
        <p:spPr>
          <a:xfrm>
            <a:off x="5651449" y="2359609"/>
            <a:ext cx="291694" cy="291694"/>
          </a:xfrm>
          <a:prstGeom prst="rect">
            <a:avLst/>
          </a:prstGeom>
        </p:spPr>
      </p:pic>
      <p:sp>
        <p:nvSpPr>
          <p:cNvPr id="23" name="Text 20"/>
          <p:cNvSpPr/>
          <p:nvPr/>
        </p:nvSpPr>
        <p:spPr>
          <a:xfrm>
            <a:off x="6217920" y="2221992"/>
            <a:ext cx="5212080" cy="320040"/>
          </a:xfrm>
          <a:prstGeom prst="rect">
            <a:avLst/>
          </a:prstGeom>
          <a:noFill/>
          <a:ln/>
        </p:spPr>
        <p:txBody>
          <a:bodyPr wrap="square" lIns="0" tIns="0" rIns="0" bIns="0" rtlCol="0" anchor="ctr"/>
          <a:lstStyle/>
          <a:p>
            <a:pPr marL="0" indent="0">
              <a:buNone/>
            </a:pPr>
            <a:r>
              <a:rPr lang="en-US" sz="1350" b="1" dirty="0">
                <a:solidFill>
                  <a:srgbClr val="263238"/>
                </a:solidFill>
                <a:latin typeface="Calibri" pitchFamily="34" charset="0"/>
                <a:ea typeface="Calibri" pitchFamily="34" charset="-122"/>
                <a:cs typeface="Calibri" pitchFamily="34" charset="-120"/>
              </a:rPr>
              <a:t>Medicine E-Commerce</a:t>
            </a:r>
            <a:endParaRPr lang="en-US" sz="1350" dirty="0"/>
          </a:p>
        </p:txBody>
      </p:sp>
      <p:sp>
        <p:nvSpPr>
          <p:cNvPr id="24" name="Text 21"/>
          <p:cNvSpPr/>
          <p:nvPr/>
        </p:nvSpPr>
        <p:spPr>
          <a:xfrm>
            <a:off x="6217920" y="2514600"/>
            <a:ext cx="5212080" cy="3200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OTC &amp; prescription drugs</a:t>
            </a:r>
            <a:endParaRPr lang="en-US" sz="1150" dirty="0"/>
          </a:p>
        </p:txBody>
      </p:sp>
      <p:sp>
        <p:nvSpPr>
          <p:cNvPr id="25" name="Shape 22"/>
          <p:cNvSpPr/>
          <p:nvPr/>
        </p:nvSpPr>
        <p:spPr>
          <a:xfrm>
            <a:off x="5394960" y="2990088"/>
            <a:ext cx="6217920" cy="713232"/>
          </a:xfrm>
          <a:prstGeom prst="roundRect">
            <a:avLst>
              <a:gd name="adj" fmla="val 10256"/>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26" name="Shape 23"/>
          <p:cNvSpPr/>
          <p:nvPr/>
        </p:nvSpPr>
        <p:spPr>
          <a:xfrm>
            <a:off x="5532120" y="3081528"/>
            <a:ext cx="530352" cy="530352"/>
          </a:xfrm>
          <a:prstGeom prst="ellipse">
            <a:avLst/>
          </a:prstGeom>
          <a:solidFill>
            <a:srgbClr val="2E7D32">
              <a:alpha val="12000"/>
            </a:srgbClr>
          </a:solidFill>
          <a:ln/>
        </p:spPr>
      </p:sp>
      <p:pic>
        <p:nvPicPr>
          <p:cNvPr id="27" name="Image 1" descr="icons/truck_green.png"/>
          <p:cNvPicPr>
            <a:picLocks noChangeAspect="1"/>
          </p:cNvPicPr>
          <p:nvPr/>
        </p:nvPicPr>
        <p:blipFill>
          <a:blip r:embed="rId4"/>
          <a:stretch>
            <a:fillRect/>
          </a:stretch>
        </p:blipFill>
        <p:spPr>
          <a:xfrm>
            <a:off x="5651449" y="3200857"/>
            <a:ext cx="291694" cy="291694"/>
          </a:xfrm>
          <a:prstGeom prst="rect">
            <a:avLst/>
          </a:prstGeom>
        </p:spPr>
      </p:pic>
      <p:sp>
        <p:nvSpPr>
          <p:cNvPr id="28" name="Text 24"/>
          <p:cNvSpPr/>
          <p:nvPr/>
        </p:nvSpPr>
        <p:spPr>
          <a:xfrm>
            <a:off x="6217920" y="3063240"/>
            <a:ext cx="5212080" cy="320040"/>
          </a:xfrm>
          <a:prstGeom prst="rect">
            <a:avLst/>
          </a:prstGeom>
          <a:noFill/>
          <a:ln/>
        </p:spPr>
        <p:txBody>
          <a:bodyPr wrap="square" lIns="0" tIns="0" rIns="0" bIns="0" rtlCol="0" anchor="ctr"/>
          <a:lstStyle/>
          <a:p>
            <a:pPr marL="0" indent="0">
              <a:buNone/>
            </a:pPr>
            <a:r>
              <a:rPr lang="en-US" sz="1350" b="1" dirty="0">
                <a:solidFill>
                  <a:srgbClr val="263238"/>
                </a:solidFill>
                <a:latin typeface="Calibri" pitchFamily="34" charset="0"/>
                <a:ea typeface="Calibri" pitchFamily="34" charset="-122"/>
                <a:cs typeface="Calibri" pitchFamily="34" charset="-120"/>
              </a:rPr>
              <a:t>Flexible Delivery</a:t>
            </a:r>
            <a:endParaRPr lang="en-US" sz="1350" dirty="0"/>
          </a:p>
        </p:txBody>
      </p:sp>
      <p:sp>
        <p:nvSpPr>
          <p:cNvPr id="29" name="Text 25"/>
          <p:cNvSpPr/>
          <p:nvPr/>
        </p:nvSpPr>
        <p:spPr>
          <a:xfrm>
            <a:off x="6217920" y="3355848"/>
            <a:ext cx="5212080" cy="3200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24-min Prioritas, 1-hr Instan, Regular, or Ambil di Apotek</a:t>
            </a:r>
            <a:endParaRPr lang="en-US" sz="1150" dirty="0"/>
          </a:p>
        </p:txBody>
      </p:sp>
      <p:sp>
        <p:nvSpPr>
          <p:cNvPr id="30" name="Shape 26"/>
          <p:cNvSpPr/>
          <p:nvPr/>
        </p:nvSpPr>
        <p:spPr>
          <a:xfrm>
            <a:off x="5394960" y="3831336"/>
            <a:ext cx="6217920" cy="713232"/>
          </a:xfrm>
          <a:prstGeom prst="roundRect">
            <a:avLst>
              <a:gd name="adj" fmla="val 10256"/>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31" name="Shape 27"/>
          <p:cNvSpPr/>
          <p:nvPr/>
        </p:nvSpPr>
        <p:spPr>
          <a:xfrm>
            <a:off x="5532120" y="3922776"/>
            <a:ext cx="530352" cy="530352"/>
          </a:xfrm>
          <a:prstGeom prst="ellipse">
            <a:avLst/>
          </a:prstGeom>
          <a:solidFill>
            <a:srgbClr val="2E7D32">
              <a:alpha val="12000"/>
            </a:srgbClr>
          </a:solidFill>
          <a:ln/>
        </p:spPr>
      </p:sp>
      <p:pic>
        <p:nvPicPr>
          <p:cNvPr id="32" name="Image 2" descr="icons/doctor_green.png"/>
          <p:cNvPicPr>
            <a:picLocks noChangeAspect="1"/>
          </p:cNvPicPr>
          <p:nvPr/>
        </p:nvPicPr>
        <p:blipFill>
          <a:blip r:embed="rId5"/>
          <a:stretch>
            <a:fillRect/>
          </a:stretch>
        </p:blipFill>
        <p:spPr>
          <a:xfrm>
            <a:off x="5651449" y="4042105"/>
            <a:ext cx="291694" cy="291694"/>
          </a:xfrm>
          <a:prstGeom prst="rect">
            <a:avLst/>
          </a:prstGeom>
        </p:spPr>
      </p:pic>
      <p:sp>
        <p:nvSpPr>
          <p:cNvPr id="33" name="Text 28"/>
          <p:cNvSpPr/>
          <p:nvPr/>
        </p:nvSpPr>
        <p:spPr>
          <a:xfrm>
            <a:off x="6217920" y="3904488"/>
            <a:ext cx="5212080" cy="320040"/>
          </a:xfrm>
          <a:prstGeom prst="rect">
            <a:avLst/>
          </a:prstGeom>
          <a:noFill/>
          <a:ln/>
        </p:spPr>
        <p:txBody>
          <a:bodyPr wrap="square" lIns="0" tIns="0" rIns="0" bIns="0" rtlCol="0" anchor="ctr"/>
          <a:lstStyle/>
          <a:p>
            <a:pPr marL="0" indent="0">
              <a:buNone/>
            </a:pPr>
            <a:r>
              <a:rPr lang="en-US" sz="1350" b="1" dirty="0">
                <a:solidFill>
                  <a:srgbClr val="263238"/>
                </a:solidFill>
                <a:latin typeface="Calibri" pitchFamily="34" charset="0"/>
                <a:ea typeface="Calibri" pitchFamily="34" charset="-122"/>
                <a:cs typeface="Calibri" pitchFamily="34" charset="-120"/>
              </a:rPr>
              <a:t>Dokter Siaga Online</a:t>
            </a:r>
            <a:endParaRPr lang="en-US" sz="1350" dirty="0"/>
          </a:p>
        </p:txBody>
      </p:sp>
      <p:sp>
        <p:nvSpPr>
          <p:cNvPr id="34" name="Text 29"/>
          <p:cNvSpPr/>
          <p:nvPr/>
        </p:nvSpPr>
        <p:spPr>
          <a:xfrm>
            <a:off x="6217920" y="4197096"/>
            <a:ext cx="5212080" cy="3200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Telemedicine consultation — Rp 15.000</a:t>
            </a:r>
            <a:endParaRPr lang="en-US" sz="1150" dirty="0"/>
          </a:p>
        </p:txBody>
      </p:sp>
      <p:sp>
        <p:nvSpPr>
          <p:cNvPr id="35" name="Shape 30"/>
          <p:cNvSpPr/>
          <p:nvPr/>
        </p:nvSpPr>
        <p:spPr>
          <a:xfrm>
            <a:off x="5394960" y="4672584"/>
            <a:ext cx="6217920" cy="713232"/>
          </a:xfrm>
          <a:prstGeom prst="roundRect">
            <a:avLst>
              <a:gd name="adj" fmla="val 10256"/>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36" name="Shape 31"/>
          <p:cNvSpPr/>
          <p:nvPr/>
        </p:nvSpPr>
        <p:spPr>
          <a:xfrm>
            <a:off x="5532120" y="4764024"/>
            <a:ext cx="530352" cy="530352"/>
          </a:xfrm>
          <a:prstGeom prst="ellipse">
            <a:avLst/>
          </a:prstGeom>
          <a:solidFill>
            <a:srgbClr val="2E7D32">
              <a:alpha val="12000"/>
            </a:srgbClr>
          </a:solidFill>
          <a:ln/>
        </p:spPr>
      </p:sp>
      <p:pic>
        <p:nvPicPr>
          <p:cNvPr id="37" name="Image 3" descr="icons/clipboard_green.png"/>
          <p:cNvPicPr>
            <a:picLocks noChangeAspect="1"/>
          </p:cNvPicPr>
          <p:nvPr/>
        </p:nvPicPr>
        <p:blipFill>
          <a:blip r:embed="rId6"/>
          <a:stretch>
            <a:fillRect/>
          </a:stretch>
        </p:blipFill>
        <p:spPr>
          <a:xfrm>
            <a:off x="5651449" y="4883353"/>
            <a:ext cx="291694" cy="291694"/>
          </a:xfrm>
          <a:prstGeom prst="rect">
            <a:avLst/>
          </a:prstGeom>
        </p:spPr>
      </p:pic>
      <p:sp>
        <p:nvSpPr>
          <p:cNvPr id="38" name="Text 32"/>
          <p:cNvSpPr/>
          <p:nvPr/>
        </p:nvSpPr>
        <p:spPr>
          <a:xfrm>
            <a:off x="6217920" y="4745736"/>
            <a:ext cx="5212080" cy="320040"/>
          </a:xfrm>
          <a:prstGeom prst="rect">
            <a:avLst/>
          </a:prstGeom>
          <a:noFill/>
          <a:ln/>
        </p:spPr>
        <p:txBody>
          <a:bodyPr wrap="square" lIns="0" tIns="0" rIns="0" bIns="0" rtlCol="0" anchor="ctr"/>
          <a:lstStyle/>
          <a:p>
            <a:pPr marL="0" indent="0">
              <a:buNone/>
            </a:pPr>
            <a:r>
              <a:rPr lang="en-US" sz="1350" b="1" dirty="0">
                <a:solidFill>
                  <a:srgbClr val="263238"/>
                </a:solidFill>
                <a:latin typeface="Calibri" pitchFamily="34" charset="0"/>
                <a:ea typeface="Calibri" pitchFamily="34" charset="-122"/>
                <a:cs typeface="Calibri" pitchFamily="34" charset="-120"/>
              </a:rPr>
              <a:t>Unggah Resep</a:t>
            </a:r>
            <a:endParaRPr lang="en-US" sz="1350" dirty="0"/>
          </a:p>
        </p:txBody>
      </p:sp>
      <p:sp>
        <p:nvSpPr>
          <p:cNvPr id="39" name="Text 33"/>
          <p:cNvSpPr/>
          <p:nvPr/>
        </p:nvSpPr>
        <p:spPr>
          <a:xfrm>
            <a:off x="6217920" y="5038344"/>
            <a:ext cx="5212080" cy="3200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Digital &amp; physical prescription upload</a:t>
            </a:r>
            <a:endParaRPr lang="en-US" sz="1150" dirty="0"/>
          </a:p>
        </p:txBody>
      </p:sp>
      <p:sp>
        <p:nvSpPr>
          <p:cNvPr id="40" name="Shape 34"/>
          <p:cNvSpPr/>
          <p:nvPr/>
        </p:nvSpPr>
        <p:spPr>
          <a:xfrm>
            <a:off x="5394960" y="5513832"/>
            <a:ext cx="6217920" cy="713232"/>
          </a:xfrm>
          <a:prstGeom prst="roundRect">
            <a:avLst>
              <a:gd name="adj" fmla="val 10256"/>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41" name="Shape 35"/>
          <p:cNvSpPr/>
          <p:nvPr/>
        </p:nvSpPr>
        <p:spPr>
          <a:xfrm>
            <a:off x="5532120" y="5605272"/>
            <a:ext cx="530352" cy="530352"/>
          </a:xfrm>
          <a:prstGeom prst="ellipse">
            <a:avLst/>
          </a:prstGeom>
          <a:solidFill>
            <a:srgbClr val="2E7D32">
              <a:alpha val="12000"/>
            </a:srgbClr>
          </a:solidFill>
          <a:ln/>
        </p:spPr>
      </p:sp>
      <p:pic>
        <p:nvPicPr>
          <p:cNvPr id="42" name="Image 4" descr="icons/star_orange.png"/>
          <p:cNvPicPr>
            <a:picLocks noChangeAspect="1"/>
          </p:cNvPicPr>
          <p:nvPr/>
        </p:nvPicPr>
        <p:blipFill>
          <a:blip r:embed="rId7"/>
          <a:stretch>
            <a:fillRect/>
          </a:stretch>
        </p:blipFill>
        <p:spPr>
          <a:xfrm>
            <a:off x="5651449" y="5724601"/>
            <a:ext cx="291694" cy="291694"/>
          </a:xfrm>
          <a:prstGeom prst="rect">
            <a:avLst/>
          </a:prstGeom>
        </p:spPr>
      </p:pic>
      <p:sp>
        <p:nvSpPr>
          <p:cNvPr id="43" name="Text 36"/>
          <p:cNvSpPr/>
          <p:nvPr/>
        </p:nvSpPr>
        <p:spPr>
          <a:xfrm>
            <a:off x="6217920" y="5586984"/>
            <a:ext cx="5212080" cy="320040"/>
          </a:xfrm>
          <a:prstGeom prst="rect">
            <a:avLst/>
          </a:prstGeom>
          <a:noFill/>
          <a:ln/>
        </p:spPr>
        <p:txBody>
          <a:bodyPr wrap="square" lIns="0" tIns="0" rIns="0" bIns="0" rtlCol="0" anchor="ctr"/>
          <a:lstStyle/>
          <a:p>
            <a:pPr marL="0" indent="0">
              <a:buNone/>
            </a:pPr>
            <a:r>
              <a:rPr lang="en-US" sz="1350" b="1" dirty="0">
                <a:solidFill>
                  <a:srgbClr val="263238"/>
                </a:solidFill>
                <a:latin typeface="Calibri" pitchFamily="34" charset="0"/>
                <a:ea typeface="Calibri" pitchFamily="34" charset="-122"/>
                <a:cs typeface="Calibri" pitchFamily="34" charset="-120"/>
              </a:rPr>
              <a:t>K24Klik Points</a:t>
            </a:r>
            <a:endParaRPr lang="en-US" sz="1350" dirty="0"/>
          </a:p>
        </p:txBody>
      </p:sp>
      <p:sp>
        <p:nvSpPr>
          <p:cNvPr id="44" name="Text 37"/>
          <p:cNvSpPr/>
          <p:nvPr/>
        </p:nvSpPr>
        <p:spPr>
          <a:xfrm>
            <a:off x="6217920" y="5879592"/>
            <a:ext cx="5212080" cy="3200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Loyalty program &amp; vouchers</a:t>
            </a:r>
            <a:endParaRPr lang="en-US" sz="1150" dirty="0"/>
          </a:p>
        </p:txBody>
      </p:sp>
      <p:sp>
        <p:nvSpPr>
          <p:cNvPr id="45" name="Text 38"/>
          <p:cNvSpPr/>
          <p:nvPr/>
        </p:nvSpPr>
        <p:spPr>
          <a:xfrm>
            <a:off x="5394960" y="6355080"/>
            <a:ext cx="1188720" cy="274320"/>
          </a:xfrm>
          <a:prstGeom prst="rect">
            <a:avLst/>
          </a:prstGeom>
          <a:noFill/>
          <a:ln/>
        </p:spPr>
        <p:txBody>
          <a:bodyPr wrap="square" lIns="0" tIns="0" rIns="0" bIns="0" rtlCol="0" anchor="ctr"/>
          <a:lstStyle/>
          <a:p>
            <a:pPr marL="0" indent="0">
              <a:buNone/>
            </a:pPr>
            <a:r>
              <a:rPr lang="en-US" sz="1100" b="1" dirty="0">
                <a:solidFill>
                  <a:srgbClr val="64748B"/>
                </a:solidFill>
                <a:latin typeface="Calibri" pitchFamily="34" charset="0"/>
                <a:ea typeface="Calibri" pitchFamily="34" charset="-122"/>
                <a:cs typeface="Calibri" pitchFamily="34" charset="-120"/>
              </a:rPr>
              <a:t>Brand Colors</a:t>
            </a:r>
            <a:endParaRPr lang="en-US" sz="1100" dirty="0"/>
          </a:p>
        </p:txBody>
      </p:sp>
      <p:sp>
        <p:nvSpPr>
          <p:cNvPr id="46" name="Shape 39"/>
          <p:cNvSpPr/>
          <p:nvPr/>
        </p:nvSpPr>
        <p:spPr>
          <a:xfrm>
            <a:off x="6675120" y="6327648"/>
            <a:ext cx="256032" cy="256032"/>
          </a:xfrm>
          <a:prstGeom prst="ellipse">
            <a:avLst/>
          </a:prstGeom>
          <a:solidFill>
            <a:srgbClr val="2E7D32"/>
          </a:solidFill>
          <a:ln w="12700">
            <a:solidFill>
              <a:srgbClr val="CBD5E1"/>
            </a:solidFill>
            <a:prstDash val="solid"/>
          </a:ln>
        </p:spPr>
      </p:sp>
      <p:sp>
        <p:nvSpPr>
          <p:cNvPr id="47" name="Text 40"/>
          <p:cNvSpPr/>
          <p:nvPr/>
        </p:nvSpPr>
        <p:spPr>
          <a:xfrm>
            <a:off x="6995160" y="6309360"/>
            <a:ext cx="1371600" cy="274320"/>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K-24 Green</a:t>
            </a:r>
            <a:endParaRPr lang="en-US" sz="1050" dirty="0"/>
          </a:p>
        </p:txBody>
      </p:sp>
      <p:sp>
        <p:nvSpPr>
          <p:cNvPr id="48" name="Shape 41"/>
          <p:cNvSpPr/>
          <p:nvPr/>
        </p:nvSpPr>
        <p:spPr>
          <a:xfrm>
            <a:off x="8366760" y="6327648"/>
            <a:ext cx="256032" cy="256032"/>
          </a:xfrm>
          <a:prstGeom prst="ellipse">
            <a:avLst/>
          </a:prstGeom>
          <a:solidFill>
            <a:srgbClr val="F59E0B"/>
          </a:solidFill>
          <a:ln w="12700">
            <a:solidFill>
              <a:srgbClr val="CBD5E1"/>
            </a:solidFill>
            <a:prstDash val="solid"/>
          </a:ln>
        </p:spPr>
      </p:sp>
      <p:sp>
        <p:nvSpPr>
          <p:cNvPr id="49" name="Text 42"/>
          <p:cNvSpPr/>
          <p:nvPr/>
        </p:nvSpPr>
        <p:spPr>
          <a:xfrm>
            <a:off x="8686800" y="6309360"/>
            <a:ext cx="1371600" cy="274320"/>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Yellow/Orange Accent</a:t>
            </a:r>
            <a:endParaRPr lang="en-US" sz="1050" dirty="0"/>
          </a:p>
        </p:txBody>
      </p:sp>
      <p:sp>
        <p:nvSpPr>
          <p:cNvPr id="50" name="Shape 43"/>
          <p:cNvSpPr/>
          <p:nvPr/>
        </p:nvSpPr>
        <p:spPr>
          <a:xfrm>
            <a:off x="10058400" y="6327648"/>
            <a:ext cx="256032" cy="256032"/>
          </a:xfrm>
          <a:prstGeom prst="ellipse">
            <a:avLst/>
          </a:prstGeom>
          <a:solidFill>
            <a:srgbClr val="FFFFFF"/>
          </a:solidFill>
          <a:ln w="9525">
            <a:solidFill>
              <a:srgbClr val="CBD5E1"/>
            </a:solidFill>
            <a:prstDash val="solid"/>
          </a:ln>
        </p:spPr>
      </p:sp>
      <p:sp>
        <p:nvSpPr>
          <p:cNvPr id="51" name="Text 44"/>
          <p:cNvSpPr/>
          <p:nvPr/>
        </p:nvSpPr>
        <p:spPr>
          <a:xfrm>
            <a:off x="10378440" y="6309360"/>
            <a:ext cx="1371600" cy="274320"/>
          </a:xfrm>
          <a:prstGeom prst="rect">
            <a:avLst/>
          </a:prstGeom>
          <a:noFill/>
          <a:ln/>
        </p:spPr>
        <p:txBody>
          <a:bodyPr wrap="square" lIns="0" tIns="0" rIns="0" bIns="0" rtlCol="0" anchor="ctr"/>
          <a:lstStyle/>
          <a:p>
            <a:pPr marL="0" indent="0">
              <a:buNone/>
            </a:pPr>
            <a:r>
              <a:rPr lang="en-US" sz="1050" dirty="0">
                <a:solidFill>
                  <a:srgbClr val="263238"/>
                </a:solidFill>
                <a:latin typeface="Calibri" pitchFamily="34" charset="0"/>
                <a:ea typeface="Calibri" pitchFamily="34" charset="-122"/>
                <a:cs typeface="Calibri" pitchFamily="34" charset="-120"/>
              </a:rPr>
              <a:t>White / Off-white</a:t>
            </a:r>
            <a:endParaRPr lang="en-US" sz="1050" dirty="0"/>
          </a:p>
        </p:txBody>
      </p:sp>
      <p:sp>
        <p:nvSpPr>
          <p:cNvPr id="52" name="Text 45"/>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Ch.1.2.1–1.2.2</a:t>
            </a:r>
            <a:endParaRPr lang="en-US" sz="1000" dirty="0"/>
          </a:p>
        </p:txBody>
      </p:sp>
      <p:sp>
        <p:nvSpPr>
          <p:cNvPr id="53" name="Text 46"/>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1.2.2 — HCI &amp; ERGONOMIC EVALUATION</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What's Actually Wrong With the Current App?</a:t>
            </a:r>
            <a:endParaRPr lang="en-US" sz="3200" dirty="0"/>
          </a:p>
        </p:txBody>
      </p:sp>
      <p:sp>
        <p:nvSpPr>
          <p:cNvPr id="4" name="Text 2"/>
          <p:cNvSpPr/>
          <p:nvPr/>
        </p:nvSpPr>
        <p:spPr>
          <a:xfrm>
            <a:off x="548640" y="1554480"/>
            <a:ext cx="1106424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Before redesigning anything, I evaluated the live app against core HCI theory — Gestalt principles, mental workload (ergonomics), and the mobile Thumb Zone.</a:t>
            </a:r>
            <a:endParaRPr lang="en-US" sz="1400" dirty="0"/>
          </a:p>
        </p:txBody>
      </p:sp>
      <p:sp>
        <p:nvSpPr>
          <p:cNvPr id="5" name="Shape 3"/>
          <p:cNvSpPr/>
          <p:nvPr/>
        </p:nvSpPr>
        <p:spPr>
          <a:xfrm>
            <a:off x="548640" y="2240280"/>
            <a:ext cx="3611880" cy="2377440"/>
          </a:xfrm>
          <a:prstGeom prst="roundRect">
            <a:avLst>
              <a:gd name="adj" fmla="val 3077"/>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6" name="Shape 4"/>
          <p:cNvSpPr/>
          <p:nvPr/>
        </p:nvSpPr>
        <p:spPr>
          <a:xfrm>
            <a:off x="822960" y="2468880"/>
            <a:ext cx="594360" cy="594360"/>
          </a:xfrm>
          <a:prstGeom prst="ellipse">
            <a:avLst/>
          </a:prstGeom>
          <a:solidFill>
            <a:srgbClr val="2E7D32">
              <a:alpha val="12000"/>
            </a:srgbClr>
          </a:solidFill>
          <a:ln/>
        </p:spPr>
      </p:sp>
      <p:pic>
        <p:nvPicPr>
          <p:cNvPr id="7" name="Image 0" descr="icons/layers_green.png"/>
          <p:cNvPicPr>
            <a:picLocks noChangeAspect="1"/>
          </p:cNvPicPr>
          <p:nvPr/>
        </p:nvPicPr>
        <p:blipFill>
          <a:blip r:embed="rId3"/>
          <a:stretch>
            <a:fillRect/>
          </a:stretch>
        </p:blipFill>
        <p:spPr>
          <a:xfrm>
            <a:off x="956691" y="2602611"/>
            <a:ext cx="326898" cy="326898"/>
          </a:xfrm>
          <a:prstGeom prst="rect">
            <a:avLst/>
          </a:prstGeom>
        </p:spPr>
      </p:pic>
      <p:sp>
        <p:nvSpPr>
          <p:cNvPr id="8" name="Text 5"/>
          <p:cNvSpPr/>
          <p:nvPr/>
        </p:nvSpPr>
        <p:spPr>
          <a:xfrm>
            <a:off x="822960" y="3246120"/>
            <a:ext cx="3108960" cy="64008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Gestalt: Proximity &amp; Figure-Ground</a:t>
            </a:r>
            <a:endParaRPr lang="en-US" sz="1500" dirty="0"/>
          </a:p>
        </p:txBody>
      </p:sp>
      <p:sp>
        <p:nvSpPr>
          <p:cNvPr id="9" name="Text 6"/>
          <p:cNvSpPr/>
          <p:nvPr/>
        </p:nvSpPr>
        <p:spPr>
          <a:xfrm>
            <a:off x="822960" y="3886200"/>
            <a:ext cx="3108960" cy="685800"/>
          </a:xfrm>
          <a:prstGeom prst="rect">
            <a:avLst/>
          </a:prstGeom>
          <a:noFill/>
          <a:ln/>
        </p:spPr>
        <p:txBody>
          <a:bodyPr wrap="square" lIns="0" tIns="0" rIns="0" bIns="0" rtlCol="0" anchor="ctr"/>
          <a:lstStyle/>
          <a:p>
            <a:pPr marL="0" indent="0">
              <a:lnSpc>
                <a:spcPct val="110000"/>
              </a:lnSpc>
              <a:buNone/>
            </a:pPr>
            <a:r>
              <a:rPr lang="en-US" sz="1150" dirty="0">
                <a:solidFill>
                  <a:srgbClr val="64748B"/>
                </a:solidFill>
                <a:latin typeface="Calibri" pitchFamily="34" charset="0"/>
                <a:ea typeface="Calibri" pitchFamily="34" charset="-122"/>
                <a:cs typeface="Calibri" pitchFamily="34" charset="-120"/>
              </a:rPr>
              <a:t>The home screen crams banners, feature icons (Konsultasi, Unggah Resep, Vaksinasi), points, and category grids together — the eye doesn't know where to focus.</a:t>
            </a:r>
            <a:endParaRPr lang="en-US" sz="1150" dirty="0"/>
          </a:p>
        </p:txBody>
      </p:sp>
      <p:sp>
        <p:nvSpPr>
          <p:cNvPr id="10" name="Shape 7"/>
          <p:cNvSpPr/>
          <p:nvPr/>
        </p:nvSpPr>
        <p:spPr>
          <a:xfrm>
            <a:off x="4370832" y="2240280"/>
            <a:ext cx="3611880" cy="2377440"/>
          </a:xfrm>
          <a:prstGeom prst="roundRect">
            <a:avLst>
              <a:gd name="adj" fmla="val 3077"/>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1" name="Shape 8"/>
          <p:cNvSpPr/>
          <p:nvPr/>
        </p:nvSpPr>
        <p:spPr>
          <a:xfrm>
            <a:off x="4645152" y="2468880"/>
            <a:ext cx="594360" cy="594360"/>
          </a:xfrm>
          <a:prstGeom prst="ellipse">
            <a:avLst/>
          </a:prstGeom>
          <a:solidFill>
            <a:srgbClr val="2E7D32">
              <a:alpha val="12000"/>
            </a:srgbClr>
          </a:solidFill>
          <a:ln/>
        </p:spPr>
      </p:sp>
      <p:pic>
        <p:nvPicPr>
          <p:cNvPr id="12" name="Image 1" descr="icons/warning_orange.png"/>
          <p:cNvPicPr>
            <a:picLocks noChangeAspect="1"/>
          </p:cNvPicPr>
          <p:nvPr/>
        </p:nvPicPr>
        <p:blipFill>
          <a:blip r:embed="rId4"/>
          <a:stretch>
            <a:fillRect/>
          </a:stretch>
        </p:blipFill>
        <p:spPr>
          <a:xfrm>
            <a:off x="4778883" y="2602611"/>
            <a:ext cx="326898" cy="326898"/>
          </a:xfrm>
          <a:prstGeom prst="rect">
            <a:avLst/>
          </a:prstGeom>
        </p:spPr>
      </p:pic>
      <p:sp>
        <p:nvSpPr>
          <p:cNvPr id="13" name="Text 9"/>
          <p:cNvSpPr/>
          <p:nvPr/>
        </p:nvSpPr>
        <p:spPr>
          <a:xfrm>
            <a:off x="4645152" y="3246120"/>
            <a:ext cx="3108960" cy="64008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Ergonomics: Mental Workload</a:t>
            </a:r>
            <a:endParaRPr lang="en-US" sz="1500" dirty="0"/>
          </a:p>
        </p:txBody>
      </p:sp>
      <p:sp>
        <p:nvSpPr>
          <p:cNvPr id="14" name="Text 10"/>
          <p:cNvSpPr/>
          <p:nvPr/>
        </p:nvSpPr>
        <p:spPr>
          <a:xfrm>
            <a:off x="4645152" y="3886200"/>
            <a:ext cx="3108960" cy="685800"/>
          </a:xfrm>
          <a:prstGeom prst="rect">
            <a:avLst/>
          </a:prstGeom>
          <a:noFill/>
          <a:ln/>
        </p:spPr>
        <p:txBody>
          <a:bodyPr wrap="square" lIns="0" tIns="0" rIns="0" bIns="0" rtlCol="0" anchor="ctr"/>
          <a:lstStyle/>
          <a:p>
            <a:pPr marL="0" indent="0">
              <a:lnSpc>
                <a:spcPct val="110000"/>
              </a:lnSpc>
              <a:buNone/>
            </a:pPr>
            <a:r>
              <a:rPr lang="en-US" sz="1150" dirty="0">
                <a:solidFill>
                  <a:srgbClr val="64748B"/>
                </a:solidFill>
                <a:latin typeface="Calibri" pitchFamily="34" charset="0"/>
                <a:ea typeface="Calibri" pitchFamily="34" charset="-122"/>
                <a:cs typeface="Calibri" pitchFamily="34" charset="-120"/>
              </a:rPr>
              <a:t>Buying a simple medicine carries high cognitive load. Users hit a wall of pop-ups (“Enable Location”, “Dapatkan Cashback”, purchase terms) before they can even act.</a:t>
            </a:r>
            <a:endParaRPr lang="en-US" sz="1150" dirty="0"/>
          </a:p>
        </p:txBody>
      </p:sp>
      <p:sp>
        <p:nvSpPr>
          <p:cNvPr id="15" name="Shape 11"/>
          <p:cNvSpPr/>
          <p:nvPr/>
        </p:nvSpPr>
        <p:spPr>
          <a:xfrm>
            <a:off x="8193024" y="2240280"/>
            <a:ext cx="3611880" cy="2377440"/>
          </a:xfrm>
          <a:prstGeom prst="roundRect">
            <a:avLst>
              <a:gd name="adj" fmla="val 3077"/>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6" name="Shape 12"/>
          <p:cNvSpPr/>
          <p:nvPr/>
        </p:nvSpPr>
        <p:spPr>
          <a:xfrm>
            <a:off x="8467344" y="2468880"/>
            <a:ext cx="594360" cy="594360"/>
          </a:xfrm>
          <a:prstGeom prst="ellipse">
            <a:avLst/>
          </a:prstGeom>
          <a:solidFill>
            <a:srgbClr val="2E7D32">
              <a:alpha val="12000"/>
            </a:srgbClr>
          </a:solidFill>
          <a:ln/>
        </p:spPr>
      </p:sp>
      <p:pic>
        <p:nvPicPr>
          <p:cNvPr id="17" name="Image 2" descr="icons/tap_green.png"/>
          <p:cNvPicPr>
            <a:picLocks noChangeAspect="1"/>
          </p:cNvPicPr>
          <p:nvPr/>
        </p:nvPicPr>
        <p:blipFill>
          <a:blip r:embed="rId5"/>
          <a:stretch>
            <a:fillRect/>
          </a:stretch>
        </p:blipFill>
        <p:spPr>
          <a:xfrm>
            <a:off x="8601075" y="2602611"/>
            <a:ext cx="326898" cy="326898"/>
          </a:xfrm>
          <a:prstGeom prst="rect">
            <a:avLst/>
          </a:prstGeom>
        </p:spPr>
      </p:pic>
      <p:sp>
        <p:nvSpPr>
          <p:cNvPr id="18" name="Text 13"/>
          <p:cNvSpPr/>
          <p:nvPr/>
        </p:nvSpPr>
        <p:spPr>
          <a:xfrm>
            <a:off x="8467344" y="3246120"/>
            <a:ext cx="3108960" cy="64008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Thumb Zone: One-Handed Use</a:t>
            </a:r>
            <a:endParaRPr lang="en-US" sz="1500" dirty="0"/>
          </a:p>
        </p:txBody>
      </p:sp>
      <p:sp>
        <p:nvSpPr>
          <p:cNvPr id="19" name="Text 14"/>
          <p:cNvSpPr/>
          <p:nvPr/>
        </p:nvSpPr>
        <p:spPr>
          <a:xfrm>
            <a:off x="8467344" y="3886200"/>
            <a:ext cx="3108960" cy="685800"/>
          </a:xfrm>
          <a:prstGeom prst="rect">
            <a:avLst/>
          </a:prstGeom>
          <a:noFill/>
          <a:ln/>
        </p:spPr>
        <p:txBody>
          <a:bodyPr wrap="square" lIns="0" tIns="0" rIns="0" bIns="0" rtlCol="0" anchor="ctr"/>
          <a:lstStyle/>
          <a:p>
            <a:pPr marL="0" indent="0">
              <a:lnSpc>
                <a:spcPct val="110000"/>
              </a:lnSpc>
              <a:buNone/>
            </a:pPr>
            <a:r>
              <a:rPr lang="en-US" sz="1150" dirty="0">
                <a:solidFill>
                  <a:srgbClr val="64748B"/>
                </a:solidFill>
                <a:latin typeface="Calibri" pitchFamily="34" charset="0"/>
                <a:ea typeface="Calibri" pitchFamily="34" charset="-122"/>
                <a:cs typeface="Calibri" pitchFamily="34" charset="-120"/>
              </a:rPr>
              <a:t>Bottom nav is fine, but key filters and pop-up ‘X’ close buttons sit at the very top of the screen — hard to reach with one hand.</a:t>
            </a:r>
            <a:endParaRPr lang="en-US" sz="1150" dirty="0"/>
          </a:p>
        </p:txBody>
      </p:sp>
      <p:sp>
        <p:nvSpPr>
          <p:cNvPr id="20" name="Shape 15"/>
          <p:cNvSpPr/>
          <p:nvPr/>
        </p:nvSpPr>
        <p:spPr>
          <a:xfrm>
            <a:off x="548640" y="4846320"/>
            <a:ext cx="11064240" cy="1417320"/>
          </a:xfrm>
          <a:prstGeom prst="roundRect">
            <a:avLst>
              <a:gd name="adj" fmla="val 5161"/>
            </a:avLst>
          </a:prstGeom>
          <a:solidFill>
            <a:srgbClr val="2E7D32">
              <a:alpha val="7000"/>
            </a:srgbClr>
          </a:solidFill>
          <a:ln/>
        </p:spPr>
      </p:sp>
      <p:sp>
        <p:nvSpPr>
          <p:cNvPr id="21" name="Text 16"/>
          <p:cNvSpPr/>
          <p:nvPr/>
        </p:nvSpPr>
        <p:spPr>
          <a:xfrm>
            <a:off x="822960" y="4956048"/>
            <a:ext cx="5486400" cy="274320"/>
          </a:xfrm>
          <a:prstGeom prst="rect">
            <a:avLst/>
          </a:prstGeom>
          <a:noFill/>
          <a:ln/>
        </p:spPr>
        <p:txBody>
          <a:bodyPr wrap="square" lIns="0" tIns="0" rIns="0" bIns="0" rtlCol="0" anchor="ctr"/>
          <a:lstStyle/>
          <a:p>
            <a:pPr marL="0" indent="0">
              <a:buNone/>
            </a:pPr>
            <a:r>
              <a:rPr lang="en-US" sz="1100" b="1" kern="0" spc="200" dirty="0">
                <a:solidFill>
                  <a:srgbClr val="2E7D32"/>
                </a:solidFill>
                <a:latin typeface="Calibri" pitchFamily="34" charset="0"/>
                <a:ea typeface="Calibri" pitchFamily="34" charset="-122"/>
                <a:cs typeface="Calibri" pitchFamily="34" charset="-120"/>
              </a:rPr>
              <a:t>THE CURRENT ARCHITECTURE (1.2.3)</a:t>
            </a:r>
            <a:endParaRPr lang="en-US" sz="1100" dirty="0"/>
          </a:p>
        </p:txBody>
      </p:sp>
      <p:sp>
        <p:nvSpPr>
          <p:cNvPr id="22" name="Text 17"/>
          <p:cNvSpPr/>
          <p:nvPr/>
        </p:nvSpPr>
        <p:spPr>
          <a:xfrm>
            <a:off x="822960" y="5230368"/>
            <a:ext cx="10515600" cy="777240"/>
          </a:xfrm>
          <a:prstGeom prst="rect">
            <a:avLst/>
          </a:prstGeom>
          <a:noFill/>
          <a:ln/>
        </p:spPr>
        <p:txBody>
          <a:bodyPr wrap="square" lIns="0" tIns="0" rIns="0" bIns="0" rtlCol="0" anchor="ctr"/>
          <a:lstStyle/>
          <a:p>
            <a:pPr marL="0" indent="0">
              <a:lnSpc>
                <a:spcPct val="110000"/>
              </a:lnSpc>
              <a:buNone/>
            </a:pPr>
            <a:r>
              <a:rPr lang="en-US" sz="1100" dirty="0">
                <a:solidFill>
                  <a:srgbClr val="263238"/>
                </a:solidFill>
                <a:latin typeface="Calibri" pitchFamily="34" charset="0"/>
                <a:ea typeface="Calibri" pitchFamily="34" charset="-122"/>
                <a:cs typeface="Calibri" pitchFamily="34" charset="-120"/>
              </a:rPr>
              <a:t>Onboarding (5 swipeable screens) → Login/Register → Home (location selector, 4 feature buttons, promo banners, category grid, best-seller carousels) → Search &amp; Filter → Product Detail (long scrolling text blocks: Komposisi, Indikasi, Dosis, Efek Samping + Tanya Jawab Apoteker) → Cart &amp; Checkout (min-purchase pop-up, delivery &amp; payment selection).</a:t>
            </a:r>
            <a:endParaRPr lang="en-US" sz="1100" dirty="0"/>
          </a:p>
        </p:txBody>
      </p:sp>
      <p:sp>
        <p:nvSpPr>
          <p:cNvPr id="23" name="Text 18"/>
          <p:cNvSpPr/>
          <p:nvPr/>
        </p:nvSpPr>
        <p:spPr>
          <a:xfrm>
            <a:off x="822960" y="6035040"/>
            <a:ext cx="10515600" cy="228600"/>
          </a:xfrm>
          <a:prstGeom prst="rect">
            <a:avLst/>
          </a:prstGeom>
          <a:noFill/>
          <a:ln/>
        </p:spPr>
        <p:txBody>
          <a:bodyPr wrap="square" lIns="0" tIns="0" rIns="0" bIns="0" rtlCol="0" anchor="ctr"/>
          <a:lstStyle/>
          <a:p>
            <a:pPr marL="0" indent="0">
              <a:buNone/>
            </a:pPr>
            <a:r>
              <a:rPr lang="en-US" sz="1050" i="1" dirty="0">
                <a:solidFill>
                  <a:srgbClr val="2E7D32"/>
                </a:solidFill>
                <a:latin typeface="Calibri" pitchFamily="34" charset="0"/>
                <a:ea typeface="Calibri" pitchFamily="34" charset="-122"/>
                <a:cs typeface="Calibri" pitchFamily="34" charset="-120"/>
              </a:rPr>
              <a:t>This 6-step, multi-screen flow was the basis for simplifying the MVP down to 4 core screens.</a:t>
            </a:r>
            <a:endParaRPr lang="en-US" sz="1050" dirty="0"/>
          </a:p>
        </p:txBody>
      </p:sp>
      <p:sp>
        <p:nvSpPr>
          <p:cNvPr id="24" name="Text 1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Ch.1.2.2–1.2.3</a:t>
            </a:r>
            <a:endParaRPr lang="en-US" sz="1000" dirty="0"/>
          </a:p>
        </p:txBody>
      </p:sp>
      <p:sp>
        <p:nvSpPr>
          <p:cNvPr id="25" name="Text 20"/>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3.1 — DATA GATHERING</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Heuristic Evaluation of the Original App</a:t>
            </a:r>
            <a:endParaRPr lang="en-US" sz="3200" dirty="0"/>
          </a:p>
        </p:txBody>
      </p:sp>
      <p:sp>
        <p:nvSpPr>
          <p:cNvPr id="4" name="Text 2"/>
          <p:cNvSpPr/>
          <p:nvPr/>
        </p:nvSpPr>
        <p:spPr>
          <a:xfrm>
            <a:off x="548640" y="1554480"/>
            <a:ext cx="731520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Using Jakob Nielsen's 10 Usability Heuristics, I scored the live app (v5.215.14) on a 0–4 severity scale.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7223760" cy="3657600"/>
        </p:xfrm>
        <a:graphic>
          <a:graphicData uri="http://schemas.openxmlformats.org/drawingml/2006/table">
            <a:tbl>
              <a:tblPr/>
              <a:tblGrid>
                <a:gridCol w="22860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7315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Nielsen's Heuristic</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E7D32"/>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Observation / Pain Point</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E7D32"/>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Severity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E7D32"/>
                    </a:solidFill>
                  </a:tcPr>
                </a:tc>
                <a:extLst>
                  <a:ext uri="{0D108BD9-81ED-4DB2-BD59-A6C34878D82A}">
                    <a16:rowId xmlns:a16="http://schemas.microsoft.com/office/drawing/2014/main" val="10000"/>
                  </a:ext>
                </a:extLst>
              </a:tr>
              <a:tr h="731520">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8. Aesthetic &amp; Minimalist Design</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Visual clutter — banners, promos &amp; menus crammed together causing high cognitive load.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b="1" dirty="0">
                          <a:solidFill>
                            <a:srgbClr val="B91C1C"/>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731520">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3. User Control &amp; Freedom</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Aggressive pop-ups — location permission &amp; promo dialogs block users before they can search.</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b="1" dirty="0">
                          <a:solidFill>
                            <a:srgbClr val="B91C1C"/>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7. Flexibility &amp; Efficiency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Information overload — medicine details are long, stacked text blocks requiring endless scrolling.</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b="1" dirty="0">
                          <a:solidFill>
                            <a:srgbClr val="C2730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731520">
                <a:tc>
                  <a:txBody>
                    <a:bodyPr/>
                    <a:lstStyle/>
                    <a:p>
                      <a:pPr marL="0" indent="0">
                        <a:buNone/>
                      </a:pPr>
                      <a:r>
                        <a:rPr lang="en-US" sz="1100" b="1" dirty="0">
                          <a:solidFill>
                            <a:srgbClr val="000000"/>
                          </a:solidFill>
                          <a:latin typeface="Calibri" pitchFamily="34" charset="0"/>
                          <a:ea typeface="Calibri" pitchFamily="34" charset="-122"/>
                          <a:cs typeface="Calibri" pitchFamily="34" charset="-120"/>
                        </a:rPr>
                        <a:t>1. Visibility of System Status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Confusing checkout — minimum-purchase warnings appear only as errors at the final payment step.</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r>
                        <a:rPr lang="en-US" sz="1100" b="1" dirty="0">
                          <a:solidFill>
                            <a:srgbClr val="C2730C"/>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8092440" y="1691640"/>
            <a:ext cx="3520440" cy="4663440"/>
          </a:xfrm>
          <a:prstGeom prst="roundRect">
            <a:avLst>
              <a:gd name="adj" fmla="val 2078"/>
            </a:avLst>
          </a:prstGeom>
          <a:solidFill>
            <a:srgbClr val="F1F5F2"/>
          </a:solidFill>
          <a:ln/>
          <a:effectLst>
            <a:outerShdw blurRad="101600" dist="38100" dir="2700000" algn="bl" rotWithShape="0">
              <a:srgbClr val="1B5E20">
                <a:alpha val="18000"/>
              </a:srgbClr>
            </a:outerShdw>
          </a:effectLst>
        </p:spPr>
      </p:sp>
      <p:pic>
        <p:nvPicPr>
          <p:cNvPr id="5" name="Image 0" descr="images/old_pdp.png"/>
          <p:cNvPicPr>
            <a:picLocks noChangeAspect="1"/>
          </p:cNvPicPr>
          <p:nvPr/>
        </p:nvPicPr>
        <p:blipFill>
          <a:blip r:embed="rId3"/>
          <a:srcRect t="9783" r="25947" b="6349"/>
          <a:stretch>
            <a:fillRect/>
          </a:stretch>
        </p:blipFill>
        <p:spPr>
          <a:xfrm>
            <a:off x="8773716" y="1783080"/>
            <a:ext cx="2141365" cy="4389120"/>
          </a:xfrm>
          <a:prstGeom prst="rect">
            <a:avLst/>
          </a:prstGeom>
        </p:spPr>
      </p:pic>
      <p:sp>
        <p:nvSpPr>
          <p:cNvPr id="8" name="Text 4"/>
          <p:cNvSpPr/>
          <p:nvPr/>
        </p:nvSpPr>
        <p:spPr>
          <a:xfrm>
            <a:off x="8092440" y="6172200"/>
            <a:ext cx="3520440" cy="320040"/>
          </a:xfrm>
          <a:prstGeom prst="rect">
            <a:avLst/>
          </a:prstGeom>
          <a:noFill/>
          <a:ln/>
        </p:spPr>
        <p:txBody>
          <a:bodyPr wrap="square" lIns="0" tIns="0" rIns="0" bIns="0" rtlCol="0" anchor="ctr"/>
          <a:lstStyle/>
          <a:p>
            <a:pPr marL="0" indent="0" algn="ctr">
              <a:buNone/>
            </a:pPr>
            <a:r>
              <a:rPr lang="en-US" sz="1000" i="1" dirty="0">
                <a:solidFill>
                  <a:srgbClr val="64748B"/>
                </a:solidFill>
                <a:latin typeface="Calibri" pitchFamily="34" charset="0"/>
                <a:ea typeface="Calibri" pitchFamily="34" charset="-122"/>
                <a:cs typeface="Calibri" pitchFamily="34" charset="-120"/>
              </a:rPr>
              <a:t>Fig. 3.1 — Original PDP: dense info blocks</a:t>
            </a:r>
            <a:endParaRPr lang="en-US" sz="1000" dirty="0"/>
          </a:p>
        </p:txBody>
      </p:sp>
      <p:sp>
        <p:nvSpPr>
          <p:cNvPr id="9" name="Text 5"/>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Severity scale: 0 = no problem — 4 = catastrophe   |   Source: Report Table 3.1, Fig. 3.1</a:t>
            </a:r>
            <a:endParaRPr lang="en-US" sz="1000" dirty="0"/>
          </a:p>
        </p:txBody>
      </p:sp>
      <p:sp>
        <p:nvSpPr>
          <p:cNvPr id="10" name="Text 6"/>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1.2.4 — APP STORE REVIEW ANALYSIS</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Real User Reviews Justify the Redesign</a:t>
            </a:r>
            <a:endParaRPr lang="en-US" sz="3200" dirty="0"/>
          </a:p>
        </p:txBody>
      </p:sp>
      <p:sp>
        <p:nvSpPr>
          <p:cNvPr id="4" name="Shape 2"/>
          <p:cNvSpPr/>
          <p:nvPr/>
        </p:nvSpPr>
        <p:spPr>
          <a:xfrm>
            <a:off x="548640" y="1691640"/>
            <a:ext cx="3566160" cy="4663440"/>
          </a:xfrm>
          <a:prstGeom prst="roundRect">
            <a:avLst>
              <a:gd name="adj" fmla="val 2051"/>
            </a:avLst>
          </a:prstGeom>
          <a:solidFill>
            <a:srgbClr val="FFFFFF"/>
          </a:solidFill>
          <a:ln/>
          <a:effectLst>
            <a:outerShdw blurRad="101600" dist="38100" dir="2700000" algn="bl" rotWithShape="0">
              <a:srgbClr val="1B5E20">
                <a:alpha val="18000"/>
              </a:srgbClr>
            </a:outerShdw>
          </a:effectLst>
        </p:spPr>
      </p:sp>
      <p:sp>
        <p:nvSpPr>
          <p:cNvPr id="5" name="Shape 3"/>
          <p:cNvSpPr/>
          <p:nvPr/>
        </p:nvSpPr>
        <p:spPr>
          <a:xfrm>
            <a:off x="822960" y="1920240"/>
            <a:ext cx="548640" cy="548640"/>
          </a:xfrm>
          <a:prstGeom prst="ellipse">
            <a:avLst/>
          </a:prstGeom>
          <a:solidFill>
            <a:srgbClr val="2E7D32">
              <a:alpha val="12000"/>
            </a:srgbClr>
          </a:solidFill>
          <a:ln/>
        </p:spPr>
      </p:sp>
      <p:pic>
        <p:nvPicPr>
          <p:cNvPr id="6" name="Image 0" descr="icons/thumbsup_green.png"/>
          <p:cNvPicPr>
            <a:picLocks noChangeAspect="1"/>
          </p:cNvPicPr>
          <p:nvPr/>
        </p:nvPicPr>
        <p:blipFill>
          <a:blip r:embed="rId3"/>
          <a:stretch>
            <a:fillRect/>
          </a:stretch>
        </p:blipFill>
        <p:spPr>
          <a:xfrm>
            <a:off x="946404" y="2043684"/>
            <a:ext cx="301752" cy="301752"/>
          </a:xfrm>
          <a:prstGeom prst="rect">
            <a:avLst/>
          </a:prstGeom>
        </p:spPr>
      </p:pic>
      <p:sp>
        <p:nvSpPr>
          <p:cNvPr id="7" name="Text 4"/>
          <p:cNvSpPr/>
          <p:nvPr/>
        </p:nvSpPr>
        <p:spPr>
          <a:xfrm>
            <a:off x="1508760" y="1993392"/>
            <a:ext cx="2468880" cy="411480"/>
          </a:xfrm>
          <a:prstGeom prst="rect">
            <a:avLst/>
          </a:prstGeom>
          <a:noFill/>
          <a:ln/>
        </p:spPr>
        <p:txBody>
          <a:bodyPr wrap="square" lIns="0" tIns="0" rIns="0" bIns="0" rtlCol="0" anchor="ctr"/>
          <a:lstStyle/>
          <a:p>
            <a:pPr marL="0" indent="0">
              <a:buNone/>
            </a:pPr>
            <a:r>
              <a:rPr lang="en-US" sz="1600" b="1" dirty="0">
                <a:solidFill>
                  <a:srgbClr val="263238"/>
                </a:solidFill>
                <a:latin typeface="Calibri" pitchFamily="34" charset="0"/>
                <a:ea typeface="Calibri" pitchFamily="34" charset="-122"/>
                <a:cs typeface="Calibri" pitchFamily="34" charset="-120"/>
              </a:rPr>
              <a:t>What Works</a:t>
            </a:r>
            <a:endParaRPr lang="en-US" sz="1600" dirty="0"/>
          </a:p>
        </p:txBody>
      </p:sp>
      <p:sp>
        <p:nvSpPr>
          <p:cNvPr id="8" name="Text 5"/>
          <p:cNvSpPr/>
          <p:nvPr/>
        </p:nvSpPr>
        <p:spPr>
          <a:xfrm>
            <a:off x="822960" y="2743200"/>
            <a:ext cx="3108960" cy="274320"/>
          </a:xfrm>
          <a:prstGeom prst="rect">
            <a:avLst/>
          </a:prstGeom>
          <a:noFill/>
          <a:ln/>
        </p:spPr>
        <p:txBody>
          <a:bodyPr wrap="square" lIns="0" tIns="0" rIns="0" bIns="0"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Budi S.</a:t>
            </a:r>
            <a:endParaRPr lang="en-US" sz="1200" dirty="0"/>
          </a:p>
        </p:txBody>
      </p:sp>
      <p:sp>
        <p:nvSpPr>
          <p:cNvPr id="9" name="Text 6"/>
          <p:cNvSpPr/>
          <p:nvPr/>
        </p:nvSpPr>
        <p:spPr>
          <a:xfrm>
            <a:off x="822960" y="3035808"/>
            <a:ext cx="3108960" cy="868680"/>
          </a:xfrm>
          <a:prstGeom prst="rect">
            <a:avLst/>
          </a:prstGeom>
          <a:noFill/>
          <a:ln/>
        </p:spPr>
        <p:txBody>
          <a:bodyPr wrap="square" lIns="0" tIns="0" rIns="0" bIns="0" rtlCol="0" anchor="ctr"/>
          <a:lstStyle/>
          <a:p>
            <a:pPr marL="0" indent="0">
              <a:lnSpc>
                <a:spcPct val="110000"/>
              </a:lnSpc>
              <a:buNone/>
            </a:pPr>
            <a:r>
              <a:rPr lang="en-US" sz="1100" i="1" dirty="0">
                <a:solidFill>
                  <a:srgbClr val="263238"/>
                </a:solidFill>
                <a:latin typeface="Calibri" pitchFamily="34" charset="0"/>
                <a:ea typeface="Calibri" pitchFamily="34" charset="-122"/>
                <a:cs typeface="Calibri" pitchFamily="34" charset="-120"/>
              </a:rPr>
              <a:t>“Sangat membantu saat malam hari butuh obat demam untuk anak. Pengiriman benar-benar cepat 24 menit dari apotek K-24 Dukuhwaluh.”</a:t>
            </a:r>
            <a:endParaRPr lang="en-US" sz="1100" dirty="0"/>
          </a:p>
        </p:txBody>
      </p:sp>
      <p:sp>
        <p:nvSpPr>
          <p:cNvPr id="10" name="Text 7"/>
          <p:cNvSpPr/>
          <p:nvPr/>
        </p:nvSpPr>
        <p:spPr>
          <a:xfrm>
            <a:off x="822960" y="3931920"/>
            <a:ext cx="310896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Insight: local branch fulfillment + speed are the core values.</a:t>
            </a:r>
            <a:endParaRPr lang="en-US" sz="1000" dirty="0"/>
          </a:p>
        </p:txBody>
      </p:sp>
      <p:sp>
        <p:nvSpPr>
          <p:cNvPr id="11" name="Text 8"/>
          <p:cNvSpPr/>
          <p:nvPr/>
        </p:nvSpPr>
        <p:spPr>
          <a:xfrm>
            <a:off x="822960" y="4434840"/>
            <a:ext cx="3108960" cy="274320"/>
          </a:xfrm>
          <a:prstGeom prst="rect">
            <a:avLst/>
          </a:prstGeom>
          <a:noFill/>
          <a:ln/>
        </p:spPr>
        <p:txBody>
          <a:bodyPr wrap="square" lIns="0" tIns="0" rIns="0" bIns="0"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Rina M.</a:t>
            </a:r>
            <a:endParaRPr lang="en-US" sz="1200" dirty="0"/>
          </a:p>
        </p:txBody>
      </p:sp>
      <p:sp>
        <p:nvSpPr>
          <p:cNvPr id="12" name="Text 9"/>
          <p:cNvSpPr/>
          <p:nvPr/>
        </p:nvSpPr>
        <p:spPr>
          <a:xfrm>
            <a:off x="822960" y="4727448"/>
            <a:ext cx="3108960" cy="868680"/>
          </a:xfrm>
          <a:prstGeom prst="rect">
            <a:avLst/>
          </a:prstGeom>
          <a:noFill/>
          <a:ln/>
        </p:spPr>
        <p:txBody>
          <a:bodyPr wrap="square" lIns="0" tIns="0" rIns="0" bIns="0" rtlCol="0" anchor="ctr"/>
          <a:lstStyle/>
          <a:p>
            <a:pPr marL="0" indent="0">
              <a:lnSpc>
                <a:spcPct val="110000"/>
              </a:lnSpc>
              <a:buNone/>
            </a:pPr>
            <a:r>
              <a:rPr lang="en-US" sz="1100" i="1" dirty="0">
                <a:solidFill>
                  <a:srgbClr val="263238"/>
                </a:solidFill>
                <a:latin typeface="Calibri" pitchFamily="34" charset="0"/>
                <a:ea typeface="Calibri" pitchFamily="34" charset="-122"/>
                <a:cs typeface="Calibri" pitchFamily="34" charset="-120"/>
              </a:rPr>
              <a:t>“Obatnya komplit dan pasti asli. Lumayan sering dapat promo gratis ongkir.”</a:t>
            </a:r>
            <a:endParaRPr lang="en-US" sz="1100" dirty="0"/>
          </a:p>
        </p:txBody>
      </p:sp>
      <p:sp>
        <p:nvSpPr>
          <p:cNvPr id="13" name="Text 10"/>
          <p:cNvSpPr/>
          <p:nvPr/>
        </p:nvSpPr>
        <p:spPr>
          <a:xfrm>
            <a:off x="822960" y="5623560"/>
            <a:ext cx="3108960" cy="4572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Insight: trust in stock authenticity &amp; free-shipping promos.</a:t>
            </a:r>
            <a:endParaRPr lang="en-US" sz="1000" dirty="0"/>
          </a:p>
        </p:txBody>
      </p:sp>
      <p:sp>
        <p:nvSpPr>
          <p:cNvPr id="14" name="Shape 11"/>
          <p:cNvSpPr/>
          <p:nvPr/>
        </p:nvSpPr>
        <p:spPr>
          <a:xfrm>
            <a:off x="4297680" y="1691640"/>
            <a:ext cx="7315200" cy="4663440"/>
          </a:xfrm>
          <a:prstGeom prst="roundRect">
            <a:avLst>
              <a:gd name="adj" fmla="val 1569"/>
            </a:avLst>
          </a:prstGeom>
          <a:solidFill>
            <a:srgbClr val="FFFFFF"/>
          </a:solidFill>
          <a:ln/>
          <a:effectLst>
            <a:outerShdw blurRad="101600" dist="38100" dir="2700000" algn="bl" rotWithShape="0">
              <a:srgbClr val="1B5E20">
                <a:alpha val="18000"/>
              </a:srgbClr>
            </a:outerShdw>
          </a:effectLst>
        </p:spPr>
      </p:sp>
      <p:sp>
        <p:nvSpPr>
          <p:cNvPr id="15" name="Shape 12"/>
          <p:cNvSpPr/>
          <p:nvPr/>
        </p:nvSpPr>
        <p:spPr>
          <a:xfrm>
            <a:off x="4572000" y="1920240"/>
            <a:ext cx="548640" cy="548640"/>
          </a:xfrm>
          <a:prstGeom prst="ellipse">
            <a:avLst/>
          </a:prstGeom>
          <a:solidFill>
            <a:srgbClr val="F59E0B">
              <a:alpha val="12000"/>
            </a:srgbClr>
          </a:solidFill>
          <a:ln/>
        </p:spPr>
      </p:sp>
      <p:pic>
        <p:nvPicPr>
          <p:cNvPr id="16" name="Image 1" descr="icons/thumbsdown_orange.png"/>
          <p:cNvPicPr>
            <a:picLocks noChangeAspect="1"/>
          </p:cNvPicPr>
          <p:nvPr/>
        </p:nvPicPr>
        <p:blipFill>
          <a:blip r:embed="rId4"/>
          <a:stretch>
            <a:fillRect/>
          </a:stretch>
        </p:blipFill>
        <p:spPr>
          <a:xfrm>
            <a:off x="4695444" y="2043684"/>
            <a:ext cx="301752" cy="301752"/>
          </a:xfrm>
          <a:prstGeom prst="rect">
            <a:avLst/>
          </a:prstGeom>
        </p:spPr>
      </p:pic>
      <p:sp>
        <p:nvSpPr>
          <p:cNvPr id="17" name="Text 13"/>
          <p:cNvSpPr/>
          <p:nvPr/>
        </p:nvSpPr>
        <p:spPr>
          <a:xfrm>
            <a:off x="5257800" y="1993392"/>
            <a:ext cx="5943600" cy="411480"/>
          </a:xfrm>
          <a:prstGeom prst="rect">
            <a:avLst/>
          </a:prstGeom>
          <a:noFill/>
          <a:ln/>
        </p:spPr>
        <p:txBody>
          <a:bodyPr wrap="square" lIns="0" tIns="0" rIns="0" bIns="0" rtlCol="0" anchor="ctr"/>
          <a:lstStyle/>
          <a:p>
            <a:pPr marL="0" indent="0">
              <a:buNone/>
            </a:pPr>
            <a:r>
              <a:rPr lang="en-US" sz="1600" b="1" dirty="0">
                <a:solidFill>
                  <a:srgbClr val="263238"/>
                </a:solidFill>
                <a:latin typeface="Calibri" pitchFamily="34" charset="0"/>
                <a:ea typeface="Calibri" pitchFamily="34" charset="-122"/>
                <a:cs typeface="Calibri" pitchFamily="34" charset="-120"/>
              </a:rPr>
              <a:t>UX Pain Points → What I Fixed</a:t>
            </a:r>
            <a:endParaRPr lang="en-US" sz="1600" dirty="0"/>
          </a:p>
        </p:txBody>
      </p:sp>
      <p:sp>
        <p:nvSpPr>
          <p:cNvPr id="18" name="Text 14"/>
          <p:cNvSpPr/>
          <p:nvPr/>
        </p:nvSpPr>
        <p:spPr>
          <a:xfrm>
            <a:off x="4572000" y="2743200"/>
            <a:ext cx="914400" cy="109728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Ahmad T.</a:t>
            </a:r>
            <a:endParaRPr lang="en-US" sz="1200" dirty="0"/>
          </a:p>
        </p:txBody>
      </p:sp>
      <p:sp>
        <p:nvSpPr>
          <p:cNvPr id="19" name="Text 15"/>
          <p:cNvSpPr/>
          <p:nvPr/>
        </p:nvSpPr>
        <p:spPr>
          <a:xfrm>
            <a:off x="5532120" y="2743200"/>
            <a:ext cx="3291840" cy="1097280"/>
          </a:xfrm>
          <a:prstGeom prst="rect">
            <a:avLst/>
          </a:prstGeom>
          <a:noFill/>
          <a:ln/>
        </p:spPr>
        <p:txBody>
          <a:bodyPr wrap="square" lIns="0" tIns="0" rIns="0" bIns="0" rtlCol="0" anchor="ctr"/>
          <a:lstStyle/>
          <a:p>
            <a:pPr marL="0" indent="0">
              <a:lnSpc>
                <a:spcPct val="105000"/>
              </a:lnSpc>
              <a:buNone/>
            </a:pPr>
            <a:r>
              <a:rPr lang="en-US" sz="1050" i="1" dirty="0">
                <a:solidFill>
                  <a:srgbClr val="263238"/>
                </a:solidFill>
                <a:latin typeface="Calibri" pitchFamily="34" charset="0"/>
                <a:ea typeface="Calibri" pitchFamily="34" charset="-122"/>
                <a:cs typeface="Calibri" pitchFamily="34" charset="-120"/>
              </a:rPr>
              <a:t>“Terlalu banyak popup! Baru buka aplikasi langsung disuruh nyalakan lokasi, lalu ada popup banner promo...”</a:t>
            </a:r>
            <a:endParaRPr lang="en-US" sz="1050" dirty="0"/>
          </a:p>
        </p:txBody>
      </p:sp>
      <p:sp>
        <p:nvSpPr>
          <p:cNvPr id="20" name="Text 16"/>
          <p:cNvSpPr/>
          <p:nvPr/>
        </p:nvSpPr>
        <p:spPr>
          <a:xfrm>
            <a:off x="8915400" y="2743200"/>
            <a:ext cx="2606040" cy="1097280"/>
          </a:xfrm>
          <a:prstGeom prst="rect">
            <a:avLst/>
          </a:prstGeom>
          <a:noFill/>
          <a:ln/>
        </p:spPr>
        <p:txBody>
          <a:bodyPr wrap="square" lIns="0" tIns="0" rIns="0" bIns="0" rtlCol="0" anchor="ctr"/>
          <a:lstStyle/>
          <a:p>
            <a:pPr marL="0" indent="0">
              <a:lnSpc>
                <a:spcPct val="105000"/>
              </a:lnSpc>
              <a:buNone/>
            </a:pPr>
            <a:r>
              <a:rPr lang="en-US" sz="1000" b="1" dirty="0">
                <a:solidFill>
                  <a:srgbClr val="B91C1C"/>
                </a:solidFill>
                <a:latin typeface="Calibri" pitchFamily="34" charset="0"/>
                <a:ea typeface="Calibri" pitchFamily="34" charset="-122"/>
                <a:cs typeface="Calibri" pitchFamily="34" charset="-120"/>
              </a:rPr>
              <a:t>Violates User Control &amp; Freedom</a:t>
            </a:r>
            <a:endParaRPr lang="en-US" sz="1000" dirty="0"/>
          </a:p>
          <a:p>
            <a:pPr marL="0" indent="0">
              <a:lnSpc>
                <a:spcPct val="105000"/>
              </a:lnSpc>
              <a:buNone/>
            </a:pPr>
            <a:r>
              <a:rPr lang="en-US" sz="1050" b="1" dirty="0">
                <a:solidFill>
                  <a:srgbClr val="2E7D32"/>
                </a:solidFill>
                <a:latin typeface="Calibri" pitchFamily="34" charset="0"/>
                <a:ea typeface="Calibri" pitchFamily="34" charset="-122"/>
                <a:cs typeface="Calibri" pitchFamily="34" charset="-120"/>
              </a:rPr>
              <a:t>Fix: removed invasive pop-ups entirely</a:t>
            </a:r>
            <a:endParaRPr lang="en-US" sz="1000" dirty="0"/>
          </a:p>
        </p:txBody>
      </p:sp>
      <p:sp>
        <p:nvSpPr>
          <p:cNvPr id="21" name="Shape 17"/>
          <p:cNvSpPr/>
          <p:nvPr/>
        </p:nvSpPr>
        <p:spPr>
          <a:xfrm>
            <a:off x="4572000" y="3822192"/>
            <a:ext cx="6858000" cy="0"/>
          </a:xfrm>
          <a:prstGeom prst="line">
            <a:avLst/>
          </a:prstGeom>
          <a:noFill/>
          <a:ln w="9525">
            <a:solidFill>
              <a:srgbClr val="E2E8F0"/>
            </a:solidFill>
            <a:prstDash val="solid"/>
          </a:ln>
        </p:spPr>
      </p:sp>
      <p:sp>
        <p:nvSpPr>
          <p:cNvPr id="22" name="Text 18"/>
          <p:cNvSpPr/>
          <p:nvPr/>
        </p:nvSpPr>
        <p:spPr>
          <a:xfrm>
            <a:off x="4572000" y="3904488"/>
            <a:ext cx="914400" cy="109728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Siti A.</a:t>
            </a:r>
            <a:endParaRPr lang="en-US" sz="1200" dirty="0"/>
          </a:p>
        </p:txBody>
      </p:sp>
      <p:sp>
        <p:nvSpPr>
          <p:cNvPr id="23" name="Text 19"/>
          <p:cNvSpPr/>
          <p:nvPr/>
        </p:nvSpPr>
        <p:spPr>
          <a:xfrm>
            <a:off x="5532120" y="3904488"/>
            <a:ext cx="3291840" cy="1097280"/>
          </a:xfrm>
          <a:prstGeom prst="rect">
            <a:avLst/>
          </a:prstGeom>
          <a:noFill/>
          <a:ln/>
        </p:spPr>
        <p:txBody>
          <a:bodyPr wrap="square" lIns="0" tIns="0" rIns="0" bIns="0" rtlCol="0" anchor="ctr"/>
          <a:lstStyle/>
          <a:p>
            <a:pPr marL="0" indent="0">
              <a:lnSpc>
                <a:spcPct val="105000"/>
              </a:lnSpc>
              <a:buNone/>
            </a:pPr>
            <a:r>
              <a:rPr lang="en-US" sz="1050" i="1" dirty="0">
                <a:solidFill>
                  <a:srgbClr val="263238"/>
                </a:solidFill>
                <a:latin typeface="Calibri" pitchFamily="34" charset="0"/>
                <a:ea typeface="Calibri" pitchFamily="34" charset="-122"/>
                <a:cs typeface="Calibri" pitchFamily="34" charset="-120"/>
              </a:rPr>
              <a:t>“Halaman deskripsi obat kepanjangan. Tulisannya kecil-kecil dan numpuk jadi satu...”</a:t>
            </a:r>
            <a:endParaRPr lang="en-US" sz="1050" dirty="0"/>
          </a:p>
        </p:txBody>
      </p:sp>
      <p:sp>
        <p:nvSpPr>
          <p:cNvPr id="24" name="Text 20"/>
          <p:cNvSpPr/>
          <p:nvPr/>
        </p:nvSpPr>
        <p:spPr>
          <a:xfrm>
            <a:off x="8915400" y="3904488"/>
            <a:ext cx="2606040" cy="1097280"/>
          </a:xfrm>
          <a:prstGeom prst="rect">
            <a:avLst/>
          </a:prstGeom>
          <a:noFill/>
          <a:ln/>
        </p:spPr>
        <p:txBody>
          <a:bodyPr wrap="square" lIns="0" tIns="0" rIns="0" bIns="0" rtlCol="0" anchor="ctr"/>
          <a:lstStyle/>
          <a:p>
            <a:pPr marL="0" indent="0">
              <a:lnSpc>
                <a:spcPct val="105000"/>
              </a:lnSpc>
              <a:buNone/>
            </a:pPr>
            <a:r>
              <a:rPr lang="en-US" sz="1000" b="1" dirty="0">
                <a:solidFill>
                  <a:srgbClr val="B91C1C"/>
                </a:solidFill>
                <a:latin typeface="Calibri" pitchFamily="34" charset="0"/>
                <a:ea typeface="Calibri" pitchFamily="34" charset="-122"/>
                <a:cs typeface="Calibri" pitchFamily="34" charset="-120"/>
              </a:rPr>
              <a:t>Violates Aesthetic &amp; Minimalist Design</a:t>
            </a:r>
            <a:endParaRPr lang="en-US" sz="1000" dirty="0"/>
          </a:p>
          <a:p>
            <a:pPr marL="0" indent="0">
              <a:lnSpc>
                <a:spcPct val="105000"/>
              </a:lnSpc>
              <a:buNone/>
            </a:pPr>
            <a:r>
              <a:rPr lang="en-US" sz="1050" b="1" dirty="0">
                <a:solidFill>
                  <a:srgbClr val="2E7D32"/>
                </a:solidFill>
                <a:latin typeface="Calibri" pitchFamily="34" charset="0"/>
                <a:ea typeface="Calibri" pitchFamily="34" charset="-122"/>
                <a:cs typeface="Calibri" pitchFamily="34" charset="-120"/>
              </a:rPr>
              <a:t>Fix: collapsible Accordion tabs for descriptions</a:t>
            </a:r>
            <a:endParaRPr lang="en-US" sz="1000" dirty="0"/>
          </a:p>
        </p:txBody>
      </p:sp>
      <p:sp>
        <p:nvSpPr>
          <p:cNvPr id="25" name="Shape 21"/>
          <p:cNvSpPr/>
          <p:nvPr/>
        </p:nvSpPr>
        <p:spPr>
          <a:xfrm>
            <a:off x="4572000" y="4983480"/>
            <a:ext cx="6858000" cy="0"/>
          </a:xfrm>
          <a:prstGeom prst="line">
            <a:avLst/>
          </a:prstGeom>
          <a:noFill/>
          <a:ln w="9525">
            <a:solidFill>
              <a:srgbClr val="E2E8F0"/>
            </a:solidFill>
            <a:prstDash val="solid"/>
          </a:ln>
        </p:spPr>
      </p:sp>
      <p:sp>
        <p:nvSpPr>
          <p:cNvPr id="26" name="Text 22"/>
          <p:cNvSpPr/>
          <p:nvPr/>
        </p:nvSpPr>
        <p:spPr>
          <a:xfrm>
            <a:off x="4572000" y="5065776"/>
            <a:ext cx="914400" cy="109728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Dimas P.</a:t>
            </a:r>
            <a:endParaRPr lang="en-US" sz="1200" dirty="0"/>
          </a:p>
        </p:txBody>
      </p:sp>
      <p:sp>
        <p:nvSpPr>
          <p:cNvPr id="27" name="Text 23"/>
          <p:cNvSpPr/>
          <p:nvPr/>
        </p:nvSpPr>
        <p:spPr>
          <a:xfrm>
            <a:off x="5532120" y="5065776"/>
            <a:ext cx="3291840" cy="1097280"/>
          </a:xfrm>
          <a:prstGeom prst="rect">
            <a:avLst/>
          </a:prstGeom>
          <a:noFill/>
          <a:ln/>
        </p:spPr>
        <p:txBody>
          <a:bodyPr wrap="square" lIns="0" tIns="0" rIns="0" bIns="0" rtlCol="0" anchor="ctr"/>
          <a:lstStyle/>
          <a:p>
            <a:pPr marL="0" indent="0">
              <a:lnSpc>
                <a:spcPct val="105000"/>
              </a:lnSpc>
              <a:buNone/>
            </a:pPr>
            <a:r>
              <a:rPr lang="en-US" sz="1050" i="1" dirty="0">
                <a:solidFill>
                  <a:srgbClr val="263238"/>
                </a:solidFill>
                <a:latin typeface="Calibri" pitchFamily="34" charset="0"/>
                <a:ea typeface="Calibri" pitchFamily="34" charset="-122"/>
                <a:cs typeface="Calibri" pitchFamily="34" charset="-120"/>
              </a:rPr>
              <a:t>“Checkoutnya ribet. Pas mau bayar disuruh milih cabang sendiri, peringatan minimal belanja munculnya pas mau klik bayar...”</a:t>
            </a:r>
            <a:endParaRPr lang="en-US" sz="1050" dirty="0"/>
          </a:p>
        </p:txBody>
      </p:sp>
      <p:sp>
        <p:nvSpPr>
          <p:cNvPr id="28" name="Text 24"/>
          <p:cNvSpPr/>
          <p:nvPr/>
        </p:nvSpPr>
        <p:spPr>
          <a:xfrm>
            <a:off x="8915400" y="5065776"/>
            <a:ext cx="2606040" cy="1097280"/>
          </a:xfrm>
          <a:prstGeom prst="rect">
            <a:avLst/>
          </a:prstGeom>
          <a:noFill/>
          <a:ln/>
        </p:spPr>
        <p:txBody>
          <a:bodyPr wrap="square" lIns="0" tIns="0" rIns="0" bIns="0" rtlCol="0" anchor="ctr"/>
          <a:lstStyle/>
          <a:p>
            <a:pPr marL="0" indent="0">
              <a:lnSpc>
                <a:spcPct val="105000"/>
              </a:lnSpc>
              <a:buNone/>
            </a:pPr>
            <a:r>
              <a:rPr lang="en-US" sz="1000" b="1" dirty="0">
                <a:solidFill>
                  <a:srgbClr val="B91C1C"/>
                </a:solidFill>
                <a:latin typeface="Calibri" pitchFamily="34" charset="0"/>
                <a:ea typeface="Calibri" pitchFamily="34" charset="-122"/>
                <a:cs typeface="Calibri" pitchFamily="34" charset="-120"/>
              </a:rPr>
              <a:t>Violates Visibility of System Status / Error Prevention</a:t>
            </a:r>
            <a:endParaRPr lang="en-US" sz="1000" dirty="0"/>
          </a:p>
          <a:p>
            <a:pPr marL="0" indent="0">
              <a:lnSpc>
                <a:spcPct val="105000"/>
              </a:lnSpc>
              <a:buNone/>
            </a:pPr>
            <a:r>
              <a:rPr lang="en-US" sz="1050" b="1" dirty="0">
                <a:solidFill>
                  <a:srgbClr val="2E7D32"/>
                </a:solidFill>
                <a:latin typeface="Calibri" pitchFamily="34" charset="0"/>
                <a:ea typeface="Calibri" pitchFamily="34" charset="-122"/>
                <a:cs typeface="Calibri" pitchFamily="34" charset="-120"/>
              </a:rPr>
              <a:t>Fix: one clean checkout page, warnings shown early</a:t>
            </a:r>
            <a:endParaRPr lang="en-US" sz="1000" dirty="0"/>
          </a:p>
        </p:txBody>
      </p:sp>
      <p:sp>
        <p:nvSpPr>
          <p:cNvPr id="29" name="Text 25"/>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Ch.1.2.4 (App Store Review Analysis)</a:t>
            </a:r>
            <a:endParaRPr lang="en-US" sz="1000" dirty="0"/>
          </a:p>
        </p:txBody>
      </p:sp>
      <p:sp>
        <p:nvSpPr>
          <p:cNvPr id="30" name="Text 26"/>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3.2 — QUANTITATIVE USER SURVEY</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32 Real Respondents, 18–25 Years Old</a:t>
            </a:r>
            <a:endParaRPr lang="en-US" sz="3200" dirty="0"/>
          </a:p>
        </p:txBody>
      </p:sp>
      <p:sp>
        <p:nvSpPr>
          <p:cNvPr id="4" name="Text 2"/>
          <p:cNvSpPr/>
          <p:nvPr/>
        </p:nvSpPr>
        <p:spPr>
          <a:xfrm>
            <a:off x="548640" y="1554480"/>
            <a:ext cx="7772400" cy="45720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 Google Form survey was distributed to local young-adult users — the app's primary demographic for urgent medicine purchases.</a:t>
            </a:r>
            <a:endParaRPr lang="en-US" sz="1400" dirty="0"/>
          </a:p>
        </p:txBody>
      </p:sp>
      <p:sp>
        <p:nvSpPr>
          <p:cNvPr id="5" name="Shape 3"/>
          <p:cNvSpPr/>
          <p:nvPr/>
        </p:nvSpPr>
        <p:spPr>
          <a:xfrm>
            <a:off x="548640" y="2148840"/>
            <a:ext cx="4206240" cy="4160520"/>
          </a:xfrm>
          <a:prstGeom prst="roundRect">
            <a:avLst>
              <a:gd name="adj" fmla="val 1758"/>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6" name="Text 4"/>
          <p:cNvSpPr/>
          <p:nvPr/>
        </p:nvSpPr>
        <p:spPr>
          <a:xfrm>
            <a:off x="868680" y="2331720"/>
            <a:ext cx="3657600" cy="36576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UI Preference</a:t>
            </a:r>
            <a:endParaRPr lang="en-US" sz="1400" dirty="0"/>
          </a:p>
        </p:txBody>
      </p:sp>
      <p:graphicFrame>
        <p:nvGraphicFramePr>
          <p:cNvPr id="7" name="Chart 0"/>
          <p:cNvGraphicFramePr/>
          <p:nvPr/>
        </p:nvGraphicFramePr>
        <p:xfrm>
          <a:off x="777240" y="2697480"/>
          <a:ext cx="3657600" cy="246888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777240" y="3520440"/>
            <a:ext cx="3657600" cy="640080"/>
          </a:xfrm>
          <a:prstGeom prst="rect">
            <a:avLst/>
          </a:prstGeom>
          <a:noFill/>
          <a:ln/>
        </p:spPr>
        <p:txBody>
          <a:bodyPr wrap="square" lIns="0" tIns="0" rIns="0" bIns="0" rtlCol="0" anchor="ctr"/>
          <a:lstStyle/>
          <a:p>
            <a:pPr marL="0" indent="0" algn="ctr">
              <a:buNone/>
            </a:pPr>
            <a:r>
              <a:rPr lang="en-US" sz="3400" b="1" dirty="0">
                <a:solidFill>
                  <a:srgbClr val="2E7D32"/>
                </a:solidFill>
                <a:latin typeface="Cambria" pitchFamily="34" charset="0"/>
                <a:ea typeface="Cambria" pitchFamily="34" charset="-122"/>
                <a:cs typeface="Cambria" pitchFamily="34" charset="-120"/>
              </a:rPr>
              <a:t>97%</a:t>
            </a:r>
            <a:endParaRPr lang="en-US" sz="3400" dirty="0"/>
          </a:p>
        </p:txBody>
      </p:sp>
      <p:sp>
        <p:nvSpPr>
          <p:cNvPr id="9" name="Text 6"/>
          <p:cNvSpPr/>
          <p:nvPr/>
        </p:nvSpPr>
        <p:spPr>
          <a:xfrm>
            <a:off x="868680" y="5257800"/>
            <a:ext cx="3657600" cy="960120"/>
          </a:xfrm>
          <a:prstGeom prst="rect">
            <a:avLst/>
          </a:prstGeom>
          <a:noFill/>
          <a:ln/>
        </p:spPr>
        <p:txBody>
          <a:bodyPr wrap="square" lIns="0" tIns="0" rIns="0" bIns="0" rtlCol="0" anchor="ctr"/>
          <a:lstStyle/>
          <a:p>
            <a:pPr marL="0" indent="0">
              <a:lnSpc>
                <a:spcPct val="115000"/>
              </a:lnSpc>
              <a:buNone/>
            </a:pPr>
            <a:r>
              <a:rPr lang="en-US" sz="1250" dirty="0">
                <a:solidFill>
                  <a:srgbClr val="263238"/>
                </a:solidFill>
                <a:latin typeface="Calibri" pitchFamily="34" charset="0"/>
                <a:ea typeface="Calibri" pitchFamily="34" charset="-122"/>
                <a:cs typeface="Calibri" pitchFamily="34" charset="-120"/>
              </a:rPr>
              <a:t>31 of 32 respondents preferred a minimalist, clean, simple UI over a dense, promo-heavy one.</a:t>
            </a:r>
            <a:endParaRPr lang="en-US" sz="1250" dirty="0"/>
          </a:p>
        </p:txBody>
      </p:sp>
      <p:sp>
        <p:nvSpPr>
          <p:cNvPr id="10" name="Shape 7"/>
          <p:cNvSpPr/>
          <p:nvPr/>
        </p:nvSpPr>
        <p:spPr>
          <a:xfrm>
            <a:off x="4937760" y="2148840"/>
            <a:ext cx="6675120" cy="1965960"/>
          </a:xfrm>
          <a:prstGeom prst="roundRect">
            <a:avLst>
              <a:gd name="adj" fmla="val 3721"/>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1" name="Text 8"/>
          <p:cNvSpPr/>
          <p:nvPr/>
        </p:nvSpPr>
        <p:spPr>
          <a:xfrm>
            <a:off x="5212080" y="2377440"/>
            <a:ext cx="2011680" cy="914400"/>
          </a:xfrm>
          <a:prstGeom prst="rect">
            <a:avLst/>
          </a:prstGeom>
          <a:noFill/>
          <a:ln/>
        </p:spPr>
        <p:txBody>
          <a:bodyPr wrap="square" lIns="0" tIns="0" rIns="0" bIns="0" rtlCol="0" anchor="ctr"/>
          <a:lstStyle/>
          <a:p>
            <a:pPr marL="0" indent="0">
              <a:buNone/>
            </a:pPr>
            <a:r>
              <a:rPr lang="en-US" sz="4800" b="1" dirty="0">
                <a:solidFill>
                  <a:srgbClr val="2E7D32"/>
                </a:solidFill>
                <a:latin typeface="Cambria" pitchFamily="34" charset="0"/>
                <a:ea typeface="Cambria" pitchFamily="34" charset="-122"/>
                <a:cs typeface="Cambria" pitchFamily="34" charset="-120"/>
              </a:rPr>
              <a:t>38%</a:t>
            </a:r>
            <a:endParaRPr lang="en-US" sz="4800" dirty="0"/>
          </a:p>
        </p:txBody>
      </p:sp>
      <p:sp>
        <p:nvSpPr>
          <p:cNvPr id="12" name="Text 9"/>
          <p:cNvSpPr/>
          <p:nvPr/>
        </p:nvSpPr>
        <p:spPr>
          <a:xfrm>
            <a:off x="7315200" y="2423160"/>
            <a:ext cx="4114800" cy="36576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Text Readability</a:t>
            </a:r>
            <a:endParaRPr lang="en-US" sz="1500" dirty="0"/>
          </a:p>
        </p:txBody>
      </p:sp>
      <p:sp>
        <p:nvSpPr>
          <p:cNvPr id="13" name="Text 10"/>
          <p:cNvSpPr/>
          <p:nvPr/>
        </p:nvSpPr>
        <p:spPr>
          <a:xfrm>
            <a:off x="7315200" y="2834640"/>
            <a:ext cx="4114800" cy="1143000"/>
          </a:xfrm>
          <a:prstGeom prst="rect">
            <a:avLst/>
          </a:prstGeom>
          <a:noFill/>
          <a:ln/>
        </p:spPr>
        <p:txBody>
          <a:bodyPr wrap="square" lIns="0" tIns="0" rIns="0" bIns="0" rtlCol="0" anchor="ctr"/>
          <a:lstStyle/>
          <a:p>
            <a:pPr marL="0" indent="0">
              <a:lnSpc>
                <a:spcPct val="115000"/>
              </a:lnSpc>
              <a:buNone/>
            </a:pPr>
            <a:r>
              <a:rPr lang="en-US" sz="1250" dirty="0">
                <a:solidFill>
                  <a:srgbClr val="64748B"/>
                </a:solidFill>
                <a:latin typeface="Calibri" pitchFamily="34" charset="0"/>
                <a:ea typeface="Calibri" pitchFamily="34" charset="-122"/>
                <a:cs typeface="Calibri" pitchFamily="34" charset="-120"/>
              </a:rPr>
              <a:t>Complained the medicine description text was too long and dizzying to read → inspired the Accordion-based Description/Dosage/Side-Effects layout.</a:t>
            </a:r>
            <a:endParaRPr lang="en-US" sz="1250" dirty="0"/>
          </a:p>
        </p:txBody>
      </p:sp>
      <p:sp>
        <p:nvSpPr>
          <p:cNvPr id="14" name="Shape 11"/>
          <p:cNvSpPr/>
          <p:nvPr/>
        </p:nvSpPr>
        <p:spPr>
          <a:xfrm>
            <a:off x="4937760" y="4297680"/>
            <a:ext cx="6675120" cy="1965960"/>
          </a:xfrm>
          <a:prstGeom prst="roundRect">
            <a:avLst>
              <a:gd name="adj" fmla="val 3721"/>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5" name="Text 12"/>
          <p:cNvSpPr/>
          <p:nvPr/>
        </p:nvSpPr>
        <p:spPr>
          <a:xfrm>
            <a:off x="5212080" y="4526280"/>
            <a:ext cx="2011680" cy="914400"/>
          </a:xfrm>
          <a:prstGeom prst="rect">
            <a:avLst/>
          </a:prstGeom>
          <a:noFill/>
          <a:ln/>
        </p:spPr>
        <p:txBody>
          <a:bodyPr wrap="square" lIns="0" tIns="0" rIns="0" bIns="0" rtlCol="0" anchor="ctr"/>
          <a:lstStyle/>
          <a:p>
            <a:pPr marL="0" indent="0">
              <a:buNone/>
            </a:pPr>
            <a:r>
              <a:rPr lang="en-US" sz="4800" b="1" dirty="0">
                <a:solidFill>
                  <a:srgbClr val="2E7D32"/>
                </a:solidFill>
                <a:latin typeface="Cambria" pitchFamily="34" charset="0"/>
                <a:ea typeface="Cambria" pitchFamily="34" charset="-122"/>
                <a:cs typeface="Cambria" pitchFamily="34" charset="-120"/>
              </a:rPr>
              <a:t>66%</a:t>
            </a:r>
            <a:endParaRPr lang="en-US" sz="4800" dirty="0"/>
          </a:p>
        </p:txBody>
      </p:sp>
      <p:sp>
        <p:nvSpPr>
          <p:cNvPr id="16" name="Text 13"/>
          <p:cNvSpPr/>
          <p:nvPr/>
        </p:nvSpPr>
        <p:spPr>
          <a:xfrm>
            <a:off x="7315200" y="4572000"/>
            <a:ext cx="4114800" cy="36576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Language Preference</a:t>
            </a:r>
            <a:endParaRPr lang="en-US" sz="1500" dirty="0"/>
          </a:p>
        </p:txBody>
      </p:sp>
      <p:sp>
        <p:nvSpPr>
          <p:cNvPr id="17" name="Text 14"/>
          <p:cNvSpPr/>
          <p:nvPr/>
        </p:nvSpPr>
        <p:spPr>
          <a:xfrm>
            <a:off x="7315200" y="4983480"/>
            <a:ext cx="4114800" cy="1143000"/>
          </a:xfrm>
          <a:prstGeom prst="rect">
            <a:avLst/>
          </a:prstGeom>
          <a:noFill/>
          <a:ln/>
        </p:spPr>
        <p:txBody>
          <a:bodyPr wrap="square" lIns="0" tIns="0" rIns="0" bIns="0" rtlCol="0" anchor="ctr"/>
          <a:lstStyle/>
          <a:p>
            <a:pPr marL="0" indent="0">
              <a:lnSpc>
                <a:spcPct val="115000"/>
              </a:lnSpc>
              <a:buNone/>
            </a:pPr>
            <a:r>
              <a:rPr lang="en-US" sz="1250" dirty="0">
                <a:solidFill>
                  <a:srgbClr val="64748B"/>
                </a:solidFill>
                <a:latin typeface="Calibri" pitchFamily="34" charset="0"/>
                <a:ea typeface="Calibri" pitchFamily="34" charset="-122"/>
                <a:cs typeface="Calibri" pitchFamily="34" charset="-120"/>
              </a:rPr>
              <a:t>Wanted a bilingual app (Indonesian + English toggle) → implemented as a dynamic EN/ID locale switch in Profile.</a:t>
            </a:r>
            <a:endParaRPr lang="en-US" sz="1250" dirty="0"/>
          </a:p>
        </p:txBody>
      </p:sp>
      <p:sp>
        <p:nvSpPr>
          <p:cNvPr id="18" name="Text 15"/>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Ch.3.2 (Form: forms.cloud.microsoft/r/nX6umJxAYV)</a:t>
            </a:r>
            <a:endParaRPr lang="en-US" sz="1000" dirty="0"/>
          </a:p>
        </p:txBody>
      </p:sp>
      <p:sp>
        <p:nvSpPr>
          <p:cNvPr id="19" name="Text 16"/>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3.3 &amp; 3.4 — QUALITATIVE RESEARCH</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Pharmacy Worker Interview &amp; User Personas</a:t>
            </a:r>
            <a:endParaRPr lang="en-US" sz="3200" dirty="0"/>
          </a:p>
        </p:txBody>
      </p:sp>
      <p:sp>
        <p:nvSpPr>
          <p:cNvPr id="4" name="Shape 2"/>
          <p:cNvSpPr/>
          <p:nvPr/>
        </p:nvSpPr>
        <p:spPr>
          <a:xfrm>
            <a:off x="548640" y="1691640"/>
            <a:ext cx="6035040" cy="4663440"/>
          </a:xfrm>
          <a:prstGeom prst="roundRect">
            <a:avLst>
              <a:gd name="adj" fmla="val 1569"/>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5" name="Shape 3"/>
          <p:cNvSpPr/>
          <p:nvPr/>
        </p:nvSpPr>
        <p:spPr>
          <a:xfrm>
            <a:off x="822960" y="1920240"/>
            <a:ext cx="548640" cy="548640"/>
          </a:xfrm>
          <a:prstGeom prst="ellipse">
            <a:avLst/>
          </a:prstGeom>
          <a:solidFill>
            <a:srgbClr val="2E7D32">
              <a:alpha val="12000"/>
            </a:srgbClr>
          </a:solidFill>
          <a:ln/>
        </p:spPr>
      </p:sp>
      <p:pic>
        <p:nvPicPr>
          <p:cNvPr id="6" name="Image 0" descr="icons/comment_green.png"/>
          <p:cNvPicPr>
            <a:picLocks noChangeAspect="1"/>
          </p:cNvPicPr>
          <p:nvPr/>
        </p:nvPicPr>
        <p:blipFill>
          <a:blip r:embed="rId3"/>
          <a:stretch>
            <a:fillRect/>
          </a:stretch>
        </p:blipFill>
        <p:spPr>
          <a:xfrm>
            <a:off x="946404" y="2043684"/>
            <a:ext cx="301752" cy="301752"/>
          </a:xfrm>
          <a:prstGeom prst="rect">
            <a:avLst/>
          </a:prstGeom>
        </p:spPr>
      </p:pic>
      <p:sp>
        <p:nvSpPr>
          <p:cNvPr id="7" name="Text 4"/>
          <p:cNvSpPr/>
          <p:nvPr/>
        </p:nvSpPr>
        <p:spPr>
          <a:xfrm>
            <a:off x="1508760" y="1993392"/>
            <a:ext cx="4937760" cy="41148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On-Site Interview — K-24 Pharmacy Staff</a:t>
            </a:r>
            <a:endParaRPr lang="en-US" sz="1500" dirty="0"/>
          </a:p>
        </p:txBody>
      </p:sp>
      <p:sp>
        <p:nvSpPr>
          <p:cNvPr id="8" name="Text 5"/>
          <p:cNvSpPr/>
          <p:nvPr/>
        </p:nvSpPr>
        <p:spPr>
          <a:xfrm>
            <a:off x="822960" y="2377440"/>
            <a:ext cx="5486400" cy="3429000"/>
          </a:xfrm>
          <a:prstGeom prst="rect">
            <a:avLst/>
          </a:prstGeom>
          <a:noFill/>
          <a:ln/>
        </p:spPr>
        <p:txBody>
          <a:bodyPr wrap="square" lIns="0" tIns="0" rIns="0" bIns="0" rtlCol="0" anchor="t"/>
          <a:lstStyle/>
          <a:p>
            <a:pPr marL="0" indent="0">
              <a:lnSpc>
                <a:spcPct val="108000"/>
              </a:lnSpc>
              <a:buNone/>
            </a:pPr>
            <a:endParaRPr lang="en-US" sz="1150" b="1" dirty="0">
              <a:solidFill>
                <a:srgbClr val="2E7D32"/>
              </a:solidFill>
              <a:latin typeface="Calibri" pitchFamily="34" charset="0"/>
              <a:ea typeface="Calibri" pitchFamily="34" charset="-122"/>
              <a:cs typeface="Calibri" pitchFamily="34" charset="-120"/>
            </a:endParaRPr>
          </a:p>
          <a:p>
            <a:pPr marL="0" indent="0">
              <a:lnSpc>
                <a:spcPct val="108000"/>
              </a:lnSpc>
              <a:buNone/>
            </a:pPr>
            <a:r>
              <a:rPr lang="en-US" sz="1150" b="1" dirty="0">
                <a:solidFill>
                  <a:srgbClr val="2E7D32"/>
                </a:solidFill>
                <a:latin typeface="Calibri" pitchFamily="34" charset="0"/>
                <a:ea typeface="Calibri" pitchFamily="34" charset="-122"/>
                <a:cs typeface="Calibri" pitchFamily="34" charset="-120"/>
              </a:rPr>
              <a:t>Q1 — Do customers prefer simple, to-the-point apps?  </a:t>
            </a:r>
            <a:endParaRPr lang="en-US" sz="1150" dirty="0"/>
          </a:p>
          <a:p>
            <a:pPr marL="0" indent="0">
              <a:lnSpc>
                <a:spcPct val="108000"/>
              </a:lnSpc>
              <a:spcAft>
                <a:spcPts val="800"/>
              </a:spcAft>
              <a:buNone/>
            </a:pPr>
            <a:r>
              <a:rPr lang="en-US" sz="1150" i="1" dirty="0">
                <a:solidFill>
                  <a:srgbClr val="263238"/>
                </a:solidFill>
                <a:latin typeface="Calibri" pitchFamily="34" charset="0"/>
                <a:ea typeface="Calibri" pitchFamily="34" charset="-122"/>
                <a:cs typeface="Calibri" pitchFamily="34" charset="-120"/>
              </a:rPr>
              <a:t>“Orang beli obat itu biasanya lagi sakit, panik, atau buru-buru... mendingan aplikasinya langsung to-the-point ke kolom pencarian obat.”</a:t>
            </a:r>
            <a:endParaRPr lang="en-US" sz="1150" dirty="0"/>
          </a:p>
          <a:p>
            <a:pPr marL="0" indent="0">
              <a:lnSpc>
                <a:spcPct val="108000"/>
              </a:lnSpc>
              <a:buNone/>
            </a:pPr>
            <a:r>
              <a:rPr lang="en-US" sz="1150" b="1" dirty="0">
                <a:solidFill>
                  <a:srgbClr val="2E7D32"/>
                </a:solidFill>
                <a:latin typeface="Calibri" pitchFamily="34" charset="0"/>
                <a:ea typeface="Calibri" pitchFamily="34" charset="-122"/>
                <a:cs typeface="Calibri" pitchFamily="34" charset="-120"/>
              </a:rPr>
              <a:t>Q2 — Do promo pop-ups help or hurt sales?  </a:t>
            </a:r>
            <a:endParaRPr lang="en-US" sz="1150" dirty="0"/>
          </a:p>
          <a:p>
            <a:pPr marL="0" indent="0">
              <a:lnSpc>
                <a:spcPct val="108000"/>
              </a:lnSpc>
              <a:spcAft>
                <a:spcPts val="800"/>
              </a:spcAft>
              <a:buNone/>
            </a:pPr>
            <a:r>
              <a:rPr lang="en-US" sz="1150" i="1" dirty="0">
                <a:solidFill>
                  <a:srgbClr val="263238"/>
                </a:solidFill>
                <a:latin typeface="Calibri" pitchFamily="34" charset="0"/>
                <a:ea typeface="Calibri" pitchFamily="34" charset="-122"/>
                <a:cs typeface="Calibri" pitchFamily="34" charset="-120"/>
              </a:rPr>
              <a:t>“Kalau buat yang lagi butuh obat darurat, pop-up itu malah bikin emosi... mendingan promonya ditaruh di menu khusus (banner kecil), jangan sampai nutupin layar depan.”</a:t>
            </a:r>
            <a:endParaRPr lang="en-US" sz="1150" dirty="0"/>
          </a:p>
          <a:p>
            <a:pPr marL="0" indent="0">
              <a:lnSpc>
                <a:spcPct val="108000"/>
              </a:lnSpc>
              <a:buNone/>
            </a:pPr>
            <a:r>
              <a:rPr lang="en-US" sz="1150" b="1" dirty="0">
                <a:solidFill>
                  <a:srgbClr val="2E7D32"/>
                </a:solidFill>
                <a:latin typeface="Calibri" pitchFamily="34" charset="0"/>
                <a:ea typeface="Calibri" pitchFamily="34" charset="-122"/>
                <a:cs typeface="Calibri" pitchFamily="34" charset="-120"/>
              </a:rPr>
              <a:t>Q3 — Would a faster checkout help pharmacy staff too?  </a:t>
            </a:r>
            <a:endParaRPr lang="en-US" sz="1150" dirty="0"/>
          </a:p>
          <a:p>
            <a:pPr marL="0" indent="0">
              <a:lnSpc>
                <a:spcPct val="108000"/>
              </a:lnSpc>
              <a:buNone/>
            </a:pPr>
            <a:r>
              <a:rPr lang="en-US" sz="1150" i="1" dirty="0">
                <a:solidFill>
                  <a:srgbClr val="263238"/>
                </a:solidFill>
                <a:latin typeface="Calibri" pitchFamily="34" charset="0"/>
                <a:ea typeface="Calibri" pitchFamily="34" charset="-122"/>
                <a:cs typeface="Calibri" pitchFamily="34" charset="-120"/>
              </a:rPr>
              <a:t>“Kalau checkout-nya dibikin simpel dan satu halaman aja, pesanan yang masuk ke sistem kita juga lebih jelas dan kita nyiapin obatnya bisa lebih cepet.”</a:t>
            </a:r>
            <a:endParaRPr lang="en-US" sz="1150" dirty="0"/>
          </a:p>
        </p:txBody>
      </p:sp>
      <p:sp>
        <p:nvSpPr>
          <p:cNvPr id="9" name="Text 6"/>
          <p:cNvSpPr/>
          <p:nvPr/>
        </p:nvSpPr>
        <p:spPr>
          <a:xfrm>
            <a:off x="822960" y="5897880"/>
            <a:ext cx="5486400" cy="41148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Key takeaway: time-sensitive psychology of medicine buyers makes blocking pop-ups ineffective, and a simplified checkout reduces both user errors AND pharmacist fulfillment errors.</a:t>
            </a:r>
            <a:endParaRPr lang="en-US" sz="1050" dirty="0"/>
          </a:p>
        </p:txBody>
      </p:sp>
      <p:sp>
        <p:nvSpPr>
          <p:cNvPr id="10" name="Shape 7"/>
          <p:cNvSpPr/>
          <p:nvPr/>
        </p:nvSpPr>
        <p:spPr>
          <a:xfrm>
            <a:off x="6766560" y="1691640"/>
            <a:ext cx="4846320" cy="2194560"/>
          </a:xfrm>
          <a:prstGeom prst="roundRect">
            <a:avLst>
              <a:gd name="adj" fmla="val 3333"/>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1" name="Shape 8"/>
          <p:cNvSpPr/>
          <p:nvPr/>
        </p:nvSpPr>
        <p:spPr>
          <a:xfrm>
            <a:off x="6995160" y="1920240"/>
            <a:ext cx="594360" cy="594360"/>
          </a:xfrm>
          <a:prstGeom prst="ellipse">
            <a:avLst/>
          </a:prstGeom>
          <a:solidFill>
            <a:srgbClr val="2E7D32">
              <a:alpha val="12000"/>
            </a:srgbClr>
          </a:solidFill>
          <a:ln/>
        </p:spPr>
      </p:sp>
      <p:pic>
        <p:nvPicPr>
          <p:cNvPr id="12" name="Image 1" descr="icons/student_green.png"/>
          <p:cNvPicPr>
            <a:picLocks noChangeAspect="1"/>
          </p:cNvPicPr>
          <p:nvPr/>
        </p:nvPicPr>
        <p:blipFill>
          <a:blip r:embed="rId4"/>
          <a:stretch>
            <a:fillRect/>
          </a:stretch>
        </p:blipFill>
        <p:spPr>
          <a:xfrm>
            <a:off x="7128891" y="2053971"/>
            <a:ext cx="326898" cy="326898"/>
          </a:xfrm>
          <a:prstGeom prst="rect">
            <a:avLst/>
          </a:prstGeom>
        </p:spPr>
      </p:pic>
      <p:sp>
        <p:nvSpPr>
          <p:cNvPr id="13" name="Text 9"/>
          <p:cNvSpPr/>
          <p:nvPr/>
        </p:nvSpPr>
        <p:spPr>
          <a:xfrm>
            <a:off x="7726680" y="1947672"/>
            <a:ext cx="3749040" cy="50292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The Urgent Buyer</a:t>
            </a:r>
            <a:endParaRPr lang="en-US" sz="1400" dirty="0"/>
          </a:p>
          <a:p>
            <a:pPr marL="0" indent="0">
              <a:buNone/>
            </a:pPr>
            <a:r>
              <a:rPr lang="en-US" sz="1050" dirty="0">
                <a:solidFill>
                  <a:srgbClr val="64748B"/>
                </a:solidFill>
                <a:latin typeface="Calibri" pitchFamily="34" charset="0"/>
                <a:ea typeface="Calibri" pitchFamily="34" charset="-122"/>
                <a:cs typeface="Calibri" pitchFamily="34" charset="-120"/>
              </a:rPr>
              <a:t>University Student, 22</a:t>
            </a:r>
            <a:endParaRPr lang="en-US" sz="1400" dirty="0"/>
          </a:p>
        </p:txBody>
      </p:sp>
      <p:sp>
        <p:nvSpPr>
          <p:cNvPr id="14" name="Text 10"/>
          <p:cNvSpPr/>
          <p:nvPr/>
        </p:nvSpPr>
        <p:spPr>
          <a:xfrm>
            <a:off x="6995160" y="2560320"/>
            <a:ext cx="4480560" cy="1234440"/>
          </a:xfrm>
          <a:prstGeom prst="rect">
            <a:avLst/>
          </a:prstGeom>
          <a:noFill/>
          <a:ln/>
        </p:spPr>
        <p:txBody>
          <a:bodyPr wrap="square" lIns="0" tIns="0" rIns="0" bIns="0" rtlCol="0" anchor="ctr"/>
          <a:lstStyle/>
          <a:p>
            <a:pPr marL="0" indent="0">
              <a:lnSpc>
                <a:spcPct val="110000"/>
              </a:lnSpc>
              <a:buNone/>
            </a:pPr>
            <a:r>
              <a:rPr lang="en-US" sz="1100" b="1" dirty="0">
                <a:solidFill>
                  <a:srgbClr val="2E7D32"/>
                </a:solidFill>
                <a:latin typeface="Calibri" pitchFamily="34" charset="0"/>
                <a:ea typeface="Calibri" pitchFamily="34" charset="-122"/>
                <a:cs typeface="Calibri" pitchFamily="34" charset="-120"/>
              </a:rPr>
              <a:t>Goal: </a:t>
            </a:r>
            <a:r>
              <a:rPr lang="en-US" sz="1100" dirty="0">
                <a:solidFill>
                  <a:srgbClr val="263238"/>
                </a:solidFill>
                <a:latin typeface="Calibri" pitchFamily="34" charset="0"/>
                <a:ea typeface="Calibri" pitchFamily="34" charset="-122"/>
                <a:cs typeface="Calibri" pitchFamily="34" charset="-120"/>
              </a:rPr>
              <a:t>Find &amp; order flu medicine as fast as possible while sick at home.</a:t>
            </a:r>
            <a:endParaRPr lang="en-US" sz="1100" dirty="0"/>
          </a:p>
          <a:p>
            <a:pPr marL="0" indent="0">
              <a:lnSpc>
                <a:spcPct val="110000"/>
              </a:lnSpc>
              <a:buNone/>
            </a:pPr>
            <a:r>
              <a:rPr lang="en-US" sz="1100" b="1" dirty="0">
                <a:solidFill>
                  <a:srgbClr val="F59E0B"/>
                </a:solidFill>
                <a:latin typeface="Calibri" pitchFamily="34" charset="0"/>
                <a:ea typeface="Calibri" pitchFamily="34" charset="-122"/>
                <a:cs typeface="Calibri" pitchFamily="34" charset="-120"/>
              </a:rPr>
              <a:t>Frustration: </a:t>
            </a:r>
            <a:r>
              <a:rPr lang="en-US" sz="1100" dirty="0">
                <a:solidFill>
                  <a:srgbClr val="263238"/>
                </a:solidFill>
                <a:latin typeface="Calibri" pitchFamily="34" charset="0"/>
                <a:ea typeface="Calibri" pitchFamily="34" charset="-122"/>
                <a:cs typeface="Calibri" pitchFamily="34" charset="-120"/>
              </a:rPr>
              <a:t>Hates disruptive promo pop-ups and dense, cluttered layouts.</a:t>
            </a:r>
            <a:endParaRPr lang="en-US" sz="1100" dirty="0"/>
          </a:p>
          <a:p>
            <a:pPr marL="0" indent="0">
              <a:lnSpc>
                <a:spcPct val="110000"/>
              </a:lnSpc>
              <a:buNone/>
            </a:pPr>
            <a:r>
              <a:rPr lang="en-US" sz="1100" b="1" dirty="0">
                <a:solidFill>
                  <a:srgbClr val="2E7D32"/>
                </a:solidFill>
                <a:latin typeface="Calibri" pitchFamily="34" charset="0"/>
                <a:ea typeface="Calibri" pitchFamily="34" charset="-122"/>
                <a:cs typeface="Calibri" pitchFamily="34" charset="-120"/>
              </a:rPr>
              <a:t>Tech comfort: </a:t>
            </a:r>
            <a:r>
              <a:rPr lang="en-US" sz="1100" dirty="0">
                <a:solidFill>
                  <a:srgbClr val="263238"/>
                </a:solidFill>
                <a:latin typeface="Calibri" pitchFamily="34" charset="0"/>
                <a:ea typeface="Calibri" pitchFamily="34" charset="-122"/>
                <a:cs typeface="Calibri" pitchFamily="34" charset="-120"/>
              </a:rPr>
              <a:t>High — prefers minimalist apps like Apple Health or Gojek.</a:t>
            </a:r>
            <a:endParaRPr lang="en-US" sz="1100" dirty="0"/>
          </a:p>
        </p:txBody>
      </p:sp>
      <p:sp>
        <p:nvSpPr>
          <p:cNvPr id="15" name="Shape 11"/>
          <p:cNvSpPr/>
          <p:nvPr/>
        </p:nvSpPr>
        <p:spPr>
          <a:xfrm>
            <a:off x="6766560" y="4069080"/>
            <a:ext cx="4846320" cy="2194560"/>
          </a:xfrm>
          <a:prstGeom prst="roundRect">
            <a:avLst>
              <a:gd name="adj" fmla="val 3333"/>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6" name="Shape 12"/>
          <p:cNvSpPr/>
          <p:nvPr/>
        </p:nvSpPr>
        <p:spPr>
          <a:xfrm>
            <a:off x="6995160" y="4297680"/>
            <a:ext cx="594360" cy="594360"/>
          </a:xfrm>
          <a:prstGeom prst="ellipse">
            <a:avLst/>
          </a:prstGeom>
          <a:solidFill>
            <a:srgbClr val="2E7D32">
              <a:alpha val="12000"/>
            </a:srgbClr>
          </a:solidFill>
          <a:ln/>
        </p:spPr>
      </p:sp>
      <p:pic>
        <p:nvPicPr>
          <p:cNvPr id="17" name="Image 2" descr="icons/professional_green.png"/>
          <p:cNvPicPr>
            <a:picLocks noChangeAspect="1"/>
          </p:cNvPicPr>
          <p:nvPr/>
        </p:nvPicPr>
        <p:blipFill>
          <a:blip r:embed="rId5"/>
          <a:stretch>
            <a:fillRect/>
          </a:stretch>
        </p:blipFill>
        <p:spPr>
          <a:xfrm>
            <a:off x="7128891" y="4431411"/>
            <a:ext cx="326898" cy="326898"/>
          </a:xfrm>
          <a:prstGeom prst="rect">
            <a:avLst/>
          </a:prstGeom>
        </p:spPr>
      </p:pic>
      <p:sp>
        <p:nvSpPr>
          <p:cNvPr id="18" name="Text 13"/>
          <p:cNvSpPr/>
          <p:nvPr/>
        </p:nvSpPr>
        <p:spPr>
          <a:xfrm>
            <a:off x="7726680" y="4325112"/>
            <a:ext cx="3749040" cy="50292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The First-Timer</a:t>
            </a:r>
            <a:endParaRPr lang="en-US" sz="1400" dirty="0"/>
          </a:p>
          <a:p>
            <a:pPr marL="0" indent="0">
              <a:buNone/>
            </a:pPr>
            <a:r>
              <a:rPr lang="en-US" sz="1050" dirty="0">
                <a:solidFill>
                  <a:srgbClr val="64748B"/>
                </a:solidFill>
                <a:latin typeface="Calibri" pitchFamily="34" charset="0"/>
                <a:ea typeface="Calibri" pitchFamily="34" charset="-122"/>
                <a:cs typeface="Calibri" pitchFamily="34" charset="-120"/>
              </a:rPr>
              <a:t>Young Professional, 20</a:t>
            </a:r>
            <a:endParaRPr lang="en-US" sz="1400" dirty="0"/>
          </a:p>
        </p:txBody>
      </p:sp>
      <p:sp>
        <p:nvSpPr>
          <p:cNvPr id="19" name="Text 14"/>
          <p:cNvSpPr/>
          <p:nvPr/>
        </p:nvSpPr>
        <p:spPr>
          <a:xfrm>
            <a:off x="6995160" y="4937760"/>
            <a:ext cx="4480560" cy="1234440"/>
          </a:xfrm>
          <a:prstGeom prst="rect">
            <a:avLst/>
          </a:prstGeom>
          <a:noFill/>
          <a:ln/>
        </p:spPr>
        <p:txBody>
          <a:bodyPr wrap="square" lIns="0" tIns="0" rIns="0" bIns="0" rtlCol="0" anchor="ctr"/>
          <a:lstStyle/>
          <a:p>
            <a:pPr marL="0" indent="0">
              <a:lnSpc>
                <a:spcPct val="110000"/>
              </a:lnSpc>
              <a:buNone/>
            </a:pPr>
            <a:r>
              <a:rPr lang="en-US" sz="1100" b="1" dirty="0">
                <a:solidFill>
                  <a:srgbClr val="2E7D32"/>
                </a:solidFill>
                <a:latin typeface="Calibri" pitchFamily="34" charset="0"/>
                <a:ea typeface="Calibri" pitchFamily="34" charset="-122"/>
                <a:cs typeface="Calibri" pitchFamily="34" charset="-120"/>
              </a:rPr>
              <a:t>Goal: </a:t>
            </a:r>
            <a:r>
              <a:rPr lang="en-US" sz="1100" dirty="0">
                <a:solidFill>
                  <a:srgbClr val="263238"/>
                </a:solidFill>
                <a:latin typeface="Calibri" pitchFamily="34" charset="0"/>
                <a:ea typeface="Calibri" pitchFamily="34" charset="-122"/>
                <a:cs typeface="Calibri" pitchFamily="34" charset="-120"/>
              </a:rPr>
              <a:t>Check prices and read side effects clearly.</a:t>
            </a:r>
            <a:endParaRPr lang="en-US" sz="1100" dirty="0"/>
          </a:p>
          <a:p>
            <a:pPr marL="0" indent="0">
              <a:lnSpc>
                <a:spcPct val="110000"/>
              </a:lnSpc>
              <a:buNone/>
            </a:pPr>
            <a:r>
              <a:rPr lang="en-US" sz="1100" b="1" dirty="0">
                <a:solidFill>
                  <a:srgbClr val="F59E0B"/>
                </a:solidFill>
                <a:latin typeface="Calibri" pitchFamily="34" charset="0"/>
                <a:ea typeface="Calibri" pitchFamily="34" charset="-122"/>
                <a:cs typeface="Calibri" pitchFamily="34" charset="-120"/>
              </a:rPr>
              <a:t>Frustration: </a:t>
            </a:r>
            <a:r>
              <a:rPr lang="en-US" sz="1100" dirty="0">
                <a:solidFill>
                  <a:srgbClr val="263238"/>
                </a:solidFill>
                <a:latin typeface="Calibri" pitchFamily="34" charset="0"/>
                <a:ea typeface="Calibri" pitchFamily="34" charset="-122"/>
                <a:cs typeface="Calibri" pitchFamily="34" charset="-120"/>
              </a:rPr>
              <a:t>Overwhelmed by long, unstructured medical text (poor visual hierarchy).</a:t>
            </a:r>
            <a:endParaRPr lang="en-US" sz="1100" dirty="0"/>
          </a:p>
        </p:txBody>
      </p:sp>
      <p:sp>
        <p:nvSpPr>
          <p:cNvPr id="20" name="Text 15"/>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Ch.3.3–3.4, Fig. 3.3</a:t>
            </a:r>
            <a:endParaRPr lang="en-US" sz="1000" dirty="0"/>
          </a:p>
        </p:txBody>
      </p:sp>
      <p:sp>
        <p:nvSpPr>
          <p:cNvPr id="21" name="Text 16"/>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5E20"/>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CHAPTER 1.4 &amp; 2 — METHODOLOGY &amp; LITERATURE</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Design Thinking + 5 HCI Theory Lenses</a:t>
            </a:r>
            <a:endParaRPr lang="en-US" sz="3200" dirty="0"/>
          </a:p>
        </p:txBody>
      </p:sp>
      <p:sp>
        <p:nvSpPr>
          <p:cNvPr id="4" name="Shape 2"/>
          <p:cNvSpPr/>
          <p:nvPr/>
        </p:nvSpPr>
        <p:spPr>
          <a:xfrm>
            <a:off x="548640" y="1691640"/>
            <a:ext cx="2057400" cy="777240"/>
          </a:xfrm>
          <a:prstGeom prst="roundRect">
            <a:avLst>
              <a:gd name="adj" fmla="val 9412"/>
            </a:avLst>
          </a:prstGeom>
          <a:solidFill>
            <a:srgbClr val="2E7D32">
              <a:alpha val="75000"/>
            </a:srgbClr>
          </a:solidFill>
          <a:ln/>
        </p:spPr>
      </p:sp>
      <p:sp>
        <p:nvSpPr>
          <p:cNvPr id="5" name="Text 3"/>
          <p:cNvSpPr/>
          <p:nvPr/>
        </p:nvSpPr>
        <p:spPr>
          <a:xfrm>
            <a:off x="548640" y="1737360"/>
            <a:ext cx="548640" cy="365760"/>
          </a:xfrm>
          <a:prstGeom prst="rect">
            <a:avLst/>
          </a:prstGeom>
          <a:noFill/>
          <a:ln/>
        </p:spPr>
        <p:txBody>
          <a:bodyPr wrap="square" lIns="0" tIns="0" rIns="0" bIns="0" rtlCol="0" anchor="ctr"/>
          <a:lstStyle/>
          <a:p>
            <a:pPr marL="0" indent="0" algn="ctr">
              <a:buNone/>
            </a:pPr>
            <a:r>
              <a:rPr lang="en-US" sz="2000" b="1" dirty="0">
                <a:solidFill>
                  <a:srgbClr val="97BC62"/>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640080" y="2084832"/>
            <a:ext cx="18745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Empathize</a:t>
            </a:r>
            <a:endParaRPr lang="en-US" sz="1400" dirty="0"/>
          </a:p>
        </p:txBody>
      </p:sp>
      <p:sp>
        <p:nvSpPr>
          <p:cNvPr id="7" name="Text 5"/>
          <p:cNvSpPr/>
          <p:nvPr/>
        </p:nvSpPr>
        <p:spPr>
          <a:xfrm>
            <a:off x="2560320" y="1783080"/>
            <a:ext cx="274320" cy="640080"/>
          </a:xfrm>
          <a:prstGeom prst="rect">
            <a:avLst/>
          </a:prstGeom>
          <a:noFill/>
          <a:ln/>
        </p:spPr>
        <p:txBody>
          <a:bodyPr wrap="square" lIns="0" tIns="0" rIns="0" bIns="0" rtlCol="0" anchor="ctr"/>
          <a:lstStyle/>
          <a:p>
            <a:pPr marL="0" indent="0" algn="ctr">
              <a:buNone/>
            </a:pPr>
            <a:r>
              <a:rPr lang="en-US" sz="1800" dirty="0">
                <a:solidFill>
                  <a:srgbClr val="97BC62"/>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2770632" y="1691640"/>
            <a:ext cx="2057400" cy="777240"/>
          </a:xfrm>
          <a:prstGeom prst="roundRect">
            <a:avLst>
              <a:gd name="adj" fmla="val 9412"/>
            </a:avLst>
          </a:prstGeom>
          <a:solidFill>
            <a:srgbClr val="2E7D32">
              <a:alpha val="75000"/>
            </a:srgbClr>
          </a:solidFill>
          <a:ln/>
        </p:spPr>
      </p:sp>
      <p:sp>
        <p:nvSpPr>
          <p:cNvPr id="9" name="Text 7"/>
          <p:cNvSpPr/>
          <p:nvPr/>
        </p:nvSpPr>
        <p:spPr>
          <a:xfrm>
            <a:off x="2770632" y="1737360"/>
            <a:ext cx="548640" cy="365760"/>
          </a:xfrm>
          <a:prstGeom prst="rect">
            <a:avLst/>
          </a:prstGeom>
          <a:noFill/>
          <a:ln/>
        </p:spPr>
        <p:txBody>
          <a:bodyPr wrap="square" lIns="0" tIns="0" rIns="0" bIns="0" rtlCol="0" anchor="ctr"/>
          <a:lstStyle/>
          <a:p>
            <a:pPr marL="0" indent="0" algn="ctr">
              <a:buNone/>
            </a:pPr>
            <a:r>
              <a:rPr lang="en-US" sz="2000" b="1" dirty="0">
                <a:solidFill>
                  <a:srgbClr val="97BC62"/>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2862072" y="2084832"/>
            <a:ext cx="18745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Define</a:t>
            </a:r>
            <a:endParaRPr lang="en-US" sz="1400" dirty="0"/>
          </a:p>
        </p:txBody>
      </p:sp>
      <p:sp>
        <p:nvSpPr>
          <p:cNvPr id="11" name="Text 9"/>
          <p:cNvSpPr/>
          <p:nvPr/>
        </p:nvSpPr>
        <p:spPr>
          <a:xfrm>
            <a:off x="4782312" y="1783080"/>
            <a:ext cx="274320" cy="640080"/>
          </a:xfrm>
          <a:prstGeom prst="rect">
            <a:avLst/>
          </a:prstGeom>
          <a:noFill/>
          <a:ln/>
        </p:spPr>
        <p:txBody>
          <a:bodyPr wrap="square" lIns="0" tIns="0" rIns="0" bIns="0" rtlCol="0" anchor="ctr"/>
          <a:lstStyle/>
          <a:p>
            <a:pPr marL="0" indent="0" algn="ctr">
              <a:buNone/>
            </a:pPr>
            <a:r>
              <a:rPr lang="en-US" sz="1800" dirty="0">
                <a:solidFill>
                  <a:srgbClr val="97BC62"/>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4992624" y="1691640"/>
            <a:ext cx="2057400" cy="777240"/>
          </a:xfrm>
          <a:prstGeom prst="roundRect">
            <a:avLst>
              <a:gd name="adj" fmla="val 9412"/>
            </a:avLst>
          </a:prstGeom>
          <a:solidFill>
            <a:srgbClr val="2E7D32">
              <a:alpha val="75000"/>
            </a:srgbClr>
          </a:solidFill>
          <a:ln/>
        </p:spPr>
      </p:sp>
      <p:sp>
        <p:nvSpPr>
          <p:cNvPr id="13" name="Text 11"/>
          <p:cNvSpPr/>
          <p:nvPr/>
        </p:nvSpPr>
        <p:spPr>
          <a:xfrm>
            <a:off x="4992624" y="1737360"/>
            <a:ext cx="548640" cy="365760"/>
          </a:xfrm>
          <a:prstGeom prst="rect">
            <a:avLst/>
          </a:prstGeom>
          <a:noFill/>
          <a:ln/>
        </p:spPr>
        <p:txBody>
          <a:bodyPr wrap="square" lIns="0" tIns="0" rIns="0" bIns="0" rtlCol="0" anchor="ctr"/>
          <a:lstStyle/>
          <a:p>
            <a:pPr marL="0" indent="0" algn="ctr">
              <a:buNone/>
            </a:pPr>
            <a:r>
              <a:rPr lang="en-US" sz="2000" b="1" dirty="0">
                <a:solidFill>
                  <a:srgbClr val="97BC62"/>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5084064" y="2084832"/>
            <a:ext cx="18745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Ideate</a:t>
            </a:r>
            <a:endParaRPr lang="en-US" sz="1400" dirty="0"/>
          </a:p>
        </p:txBody>
      </p:sp>
      <p:sp>
        <p:nvSpPr>
          <p:cNvPr id="15" name="Text 13"/>
          <p:cNvSpPr/>
          <p:nvPr/>
        </p:nvSpPr>
        <p:spPr>
          <a:xfrm>
            <a:off x="7004304" y="1783080"/>
            <a:ext cx="274320" cy="640080"/>
          </a:xfrm>
          <a:prstGeom prst="rect">
            <a:avLst/>
          </a:prstGeom>
          <a:noFill/>
          <a:ln/>
        </p:spPr>
        <p:txBody>
          <a:bodyPr wrap="square" lIns="0" tIns="0" rIns="0" bIns="0" rtlCol="0" anchor="ctr"/>
          <a:lstStyle/>
          <a:p>
            <a:pPr marL="0" indent="0" algn="ctr">
              <a:buNone/>
            </a:pPr>
            <a:r>
              <a:rPr lang="en-US" sz="1800" dirty="0">
                <a:solidFill>
                  <a:srgbClr val="97BC62"/>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214616" y="1691640"/>
            <a:ext cx="2057400" cy="777240"/>
          </a:xfrm>
          <a:prstGeom prst="roundRect">
            <a:avLst>
              <a:gd name="adj" fmla="val 9412"/>
            </a:avLst>
          </a:prstGeom>
          <a:solidFill>
            <a:srgbClr val="2E7D32">
              <a:alpha val="75000"/>
            </a:srgbClr>
          </a:solidFill>
          <a:ln/>
        </p:spPr>
      </p:sp>
      <p:sp>
        <p:nvSpPr>
          <p:cNvPr id="17" name="Text 15"/>
          <p:cNvSpPr/>
          <p:nvPr/>
        </p:nvSpPr>
        <p:spPr>
          <a:xfrm>
            <a:off x="7214616" y="1737360"/>
            <a:ext cx="548640" cy="365760"/>
          </a:xfrm>
          <a:prstGeom prst="rect">
            <a:avLst/>
          </a:prstGeom>
          <a:noFill/>
          <a:ln/>
        </p:spPr>
        <p:txBody>
          <a:bodyPr wrap="square" lIns="0" tIns="0" rIns="0" bIns="0" rtlCol="0" anchor="ctr"/>
          <a:lstStyle/>
          <a:p>
            <a:pPr marL="0" indent="0" algn="ctr">
              <a:buNone/>
            </a:pPr>
            <a:r>
              <a:rPr lang="en-US" sz="2000" b="1" dirty="0">
                <a:solidFill>
                  <a:srgbClr val="97BC62"/>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7306056" y="2084832"/>
            <a:ext cx="18745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Prototype</a:t>
            </a:r>
            <a:endParaRPr lang="en-US" sz="1400" dirty="0"/>
          </a:p>
        </p:txBody>
      </p:sp>
      <p:sp>
        <p:nvSpPr>
          <p:cNvPr id="19" name="Text 17"/>
          <p:cNvSpPr/>
          <p:nvPr/>
        </p:nvSpPr>
        <p:spPr>
          <a:xfrm>
            <a:off x="9226296" y="1783080"/>
            <a:ext cx="274320" cy="640080"/>
          </a:xfrm>
          <a:prstGeom prst="rect">
            <a:avLst/>
          </a:prstGeom>
          <a:noFill/>
          <a:ln/>
        </p:spPr>
        <p:txBody>
          <a:bodyPr wrap="square" lIns="0" tIns="0" rIns="0" bIns="0" rtlCol="0" anchor="ctr"/>
          <a:lstStyle/>
          <a:p>
            <a:pPr marL="0" indent="0" algn="ctr">
              <a:buNone/>
            </a:pPr>
            <a:r>
              <a:rPr lang="en-US" sz="1800" dirty="0">
                <a:solidFill>
                  <a:srgbClr val="97BC62"/>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9436608" y="1691640"/>
            <a:ext cx="2057400" cy="777240"/>
          </a:xfrm>
          <a:prstGeom prst="roundRect">
            <a:avLst>
              <a:gd name="adj" fmla="val 9412"/>
            </a:avLst>
          </a:prstGeom>
          <a:solidFill>
            <a:srgbClr val="2E7D32">
              <a:alpha val="75000"/>
            </a:srgbClr>
          </a:solidFill>
          <a:ln/>
        </p:spPr>
      </p:sp>
      <p:sp>
        <p:nvSpPr>
          <p:cNvPr id="21" name="Text 19"/>
          <p:cNvSpPr/>
          <p:nvPr/>
        </p:nvSpPr>
        <p:spPr>
          <a:xfrm>
            <a:off x="9436608" y="1737360"/>
            <a:ext cx="548640" cy="365760"/>
          </a:xfrm>
          <a:prstGeom prst="rect">
            <a:avLst/>
          </a:prstGeom>
          <a:noFill/>
          <a:ln/>
        </p:spPr>
        <p:txBody>
          <a:bodyPr wrap="square" lIns="0" tIns="0" rIns="0" bIns="0" rtlCol="0" anchor="ctr"/>
          <a:lstStyle/>
          <a:p>
            <a:pPr marL="0" indent="0" algn="ctr">
              <a:buNone/>
            </a:pPr>
            <a:r>
              <a:rPr lang="en-US" sz="2000" b="1" dirty="0">
                <a:solidFill>
                  <a:srgbClr val="97BC62"/>
                </a:solidFill>
                <a:latin typeface="Cambria" pitchFamily="34" charset="0"/>
                <a:ea typeface="Cambria" pitchFamily="34" charset="-122"/>
                <a:cs typeface="Cambria" pitchFamily="34" charset="-120"/>
              </a:rPr>
              <a:t>5</a:t>
            </a:r>
            <a:endParaRPr lang="en-US" sz="2000" dirty="0"/>
          </a:p>
        </p:txBody>
      </p:sp>
      <p:sp>
        <p:nvSpPr>
          <p:cNvPr id="22" name="Text 20"/>
          <p:cNvSpPr/>
          <p:nvPr/>
        </p:nvSpPr>
        <p:spPr>
          <a:xfrm>
            <a:off x="9528048" y="2084832"/>
            <a:ext cx="187452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Test</a:t>
            </a:r>
            <a:endParaRPr lang="en-US" sz="1400" dirty="0"/>
          </a:p>
        </p:txBody>
      </p:sp>
      <p:sp>
        <p:nvSpPr>
          <p:cNvPr id="23" name="Text 21"/>
          <p:cNvSpPr/>
          <p:nvPr/>
        </p:nvSpPr>
        <p:spPr>
          <a:xfrm>
            <a:off x="548640" y="2606040"/>
            <a:ext cx="11064240" cy="457200"/>
          </a:xfrm>
          <a:prstGeom prst="rect">
            <a:avLst/>
          </a:prstGeom>
          <a:noFill/>
          <a:ln/>
        </p:spPr>
        <p:txBody>
          <a:bodyPr wrap="square" lIns="0" tIns="0" rIns="0" bIns="0" rtlCol="0" anchor="ctr"/>
          <a:lstStyle/>
          <a:p>
            <a:pPr marL="0" indent="0">
              <a:buNone/>
            </a:pPr>
            <a:r>
              <a:rPr lang="en-US" sz="1250" i="1" dirty="0">
                <a:solidFill>
                  <a:srgbClr val="DCEDC8"/>
                </a:solidFill>
                <a:latin typeface="Calibri" pitchFamily="34" charset="0"/>
                <a:ea typeface="Calibri" pitchFamily="34" charset="-122"/>
                <a:cs typeface="Calibri" pitchFamily="34" charset="-120"/>
              </a:rPr>
              <a:t>Chosen over traditional UCD because the problem needed deep Empathy-driven exploration of latent needs, with rapid Stanford d.school-style prototyping to find the most ergonomic interface.</a:t>
            </a:r>
            <a:endParaRPr lang="en-US" sz="1250" dirty="0"/>
          </a:p>
        </p:txBody>
      </p:sp>
      <p:sp>
        <p:nvSpPr>
          <p:cNvPr id="24" name="Shape 22"/>
          <p:cNvSpPr/>
          <p:nvPr/>
        </p:nvSpPr>
        <p:spPr>
          <a:xfrm>
            <a:off x="548640" y="3337560"/>
            <a:ext cx="2157984" cy="2971800"/>
          </a:xfrm>
          <a:prstGeom prst="roundRect">
            <a:avLst>
              <a:gd name="adj" fmla="val 3390"/>
            </a:avLst>
          </a:prstGeom>
          <a:solidFill>
            <a:srgbClr val="FFFFFF"/>
          </a:solidFill>
          <a:ln/>
          <a:effectLst>
            <a:outerShdw blurRad="101600" dist="38100" dir="2700000" algn="bl" rotWithShape="0">
              <a:srgbClr val="1B5E20">
                <a:alpha val="18000"/>
              </a:srgbClr>
            </a:outerShdw>
          </a:effectLst>
        </p:spPr>
      </p:sp>
      <p:sp>
        <p:nvSpPr>
          <p:cNvPr id="25" name="Shape 23"/>
          <p:cNvSpPr/>
          <p:nvPr/>
        </p:nvSpPr>
        <p:spPr>
          <a:xfrm>
            <a:off x="777240" y="3566160"/>
            <a:ext cx="548640" cy="548640"/>
          </a:xfrm>
          <a:prstGeom prst="ellipse">
            <a:avLst/>
          </a:prstGeom>
          <a:solidFill>
            <a:srgbClr val="2E7D32">
              <a:alpha val="12000"/>
            </a:srgbClr>
          </a:solidFill>
          <a:ln/>
        </p:spPr>
      </p:sp>
      <p:pic>
        <p:nvPicPr>
          <p:cNvPr id="26" name="Image 0" descr="icons/balance_green.png"/>
          <p:cNvPicPr>
            <a:picLocks noChangeAspect="1"/>
          </p:cNvPicPr>
          <p:nvPr/>
        </p:nvPicPr>
        <p:blipFill>
          <a:blip r:embed="rId3"/>
          <a:stretch>
            <a:fillRect/>
          </a:stretch>
        </p:blipFill>
        <p:spPr>
          <a:xfrm>
            <a:off x="900684" y="3689604"/>
            <a:ext cx="301752" cy="301752"/>
          </a:xfrm>
          <a:prstGeom prst="rect">
            <a:avLst/>
          </a:prstGeom>
        </p:spPr>
      </p:pic>
      <p:sp>
        <p:nvSpPr>
          <p:cNvPr id="27" name="Text 24"/>
          <p:cNvSpPr/>
          <p:nvPr/>
        </p:nvSpPr>
        <p:spPr>
          <a:xfrm>
            <a:off x="731520" y="4206240"/>
            <a:ext cx="1792224" cy="777240"/>
          </a:xfrm>
          <a:prstGeom prst="rect">
            <a:avLst/>
          </a:prstGeom>
          <a:noFill/>
          <a:ln/>
        </p:spPr>
        <p:txBody>
          <a:bodyPr wrap="square" lIns="0" tIns="0" rIns="0" bIns="0" rtlCol="0" anchor="ctr"/>
          <a:lstStyle/>
          <a:p>
            <a:pPr marL="0" indent="0">
              <a:lnSpc>
                <a:spcPct val="100000"/>
              </a:lnSpc>
              <a:buNone/>
            </a:pPr>
            <a:r>
              <a:rPr lang="en-US" sz="1250" b="1" dirty="0">
                <a:solidFill>
                  <a:srgbClr val="263238"/>
                </a:solidFill>
                <a:latin typeface="Calibri" pitchFamily="34" charset="0"/>
                <a:ea typeface="Calibri" pitchFamily="34" charset="-122"/>
                <a:cs typeface="Calibri" pitchFamily="34" charset="-120"/>
              </a:rPr>
              <a:t>Nielsen's 10 Heuristics</a:t>
            </a:r>
            <a:endParaRPr lang="en-US" sz="1250" dirty="0"/>
          </a:p>
        </p:txBody>
      </p:sp>
      <p:sp>
        <p:nvSpPr>
          <p:cNvPr id="28" name="Text 25"/>
          <p:cNvSpPr/>
          <p:nvPr/>
        </p:nvSpPr>
        <p:spPr>
          <a:xfrm>
            <a:off x="731520" y="5029200"/>
            <a:ext cx="1792224" cy="114300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Calibri" pitchFamily="34" charset="0"/>
                <a:ea typeface="Calibri" pitchFamily="34" charset="-122"/>
                <a:cs typeface="Calibri" pitchFamily="34" charset="-120"/>
              </a:rPr>
              <a:t>Standard UI evaluation — error prevention, user control &amp; freedom.</a:t>
            </a:r>
            <a:endParaRPr lang="en-US" sz="1050" dirty="0"/>
          </a:p>
        </p:txBody>
      </p:sp>
      <p:sp>
        <p:nvSpPr>
          <p:cNvPr id="29" name="Shape 26"/>
          <p:cNvSpPr/>
          <p:nvPr/>
        </p:nvSpPr>
        <p:spPr>
          <a:xfrm>
            <a:off x="2852928" y="3337560"/>
            <a:ext cx="2157984" cy="2971800"/>
          </a:xfrm>
          <a:prstGeom prst="roundRect">
            <a:avLst>
              <a:gd name="adj" fmla="val 3390"/>
            </a:avLst>
          </a:prstGeom>
          <a:solidFill>
            <a:srgbClr val="FFFFFF"/>
          </a:solidFill>
          <a:ln/>
          <a:effectLst>
            <a:outerShdw blurRad="101600" dist="38100" dir="2700000" algn="bl" rotWithShape="0">
              <a:srgbClr val="1B5E20">
                <a:alpha val="18000"/>
              </a:srgbClr>
            </a:outerShdw>
          </a:effectLst>
        </p:spPr>
      </p:sp>
      <p:sp>
        <p:nvSpPr>
          <p:cNvPr id="30" name="Shape 27"/>
          <p:cNvSpPr/>
          <p:nvPr/>
        </p:nvSpPr>
        <p:spPr>
          <a:xfrm>
            <a:off x="3081528" y="3566160"/>
            <a:ext cx="548640" cy="548640"/>
          </a:xfrm>
          <a:prstGeom prst="ellipse">
            <a:avLst/>
          </a:prstGeom>
          <a:solidFill>
            <a:srgbClr val="2E7D32">
              <a:alpha val="12000"/>
            </a:srgbClr>
          </a:solidFill>
          <a:ln/>
        </p:spPr>
      </p:sp>
      <p:pic>
        <p:nvPicPr>
          <p:cNvPr id="31" name="Image 1" descr="icons/diagram_green.png"/>
          <p:cNvPicPr>
            <a:picLocks noChangeAspect="1"/>
          </p:cNvPicPr>
          <p:nvPr/>
        </p:nvPicPr>
        <p:blipFill>
          <a:blip r:embed="rId4"/>
          <a:stretch>
            <a:fillRect/>
          </a:stretch>
        </p:blipFill>
        <p:spPr>
          <a:xfrm>
            <a:off x="3204972" y="3689604"/>
            <a:ext cx="301752" cy="301752"/>
          </a:xfrm>
          <a:prstGeom prst="rect">
            <a:avLst/>
          </a:prstGeom>
        </p:spPr>
      </p:pic>
      <p:sp>
        <p:nvSpPr>
          <p:cNvPr id="32" name="Text 28"/>
          <p:cNvSpPr/>
          <p:nvPr/>
        </p:nvSpPr>
        <p:spPr>
          <a:xfrm>
            <a:off x="3035808" y="4206240"/>
            <a:ext cx="1792224" cy="777240"/>
          </a:xfrm>
          <a:prstGeom prst="rect">
            <a:avLst/>
          </a:prstGeom>
          <a:noFill/>
          <a:ln/>
        </p:spPr>
        <p:txBody>
          <a:bodyPr wrap="square" lIns="0" tIns="0" rIns="0" bIns="0" rtlCol="0" anchor="ctr"/>
          <a:lstStyle/>
          <a:p>
            <a:pPr marL="0" indent="0">
              <a:lnSpc>
                <a:spcPct val="100000"/>
              </a:lnSpc>
              <a:buNone/>
            </a:pPr>
            <a:r>
              <a:rPr lang="en-US" sz="1250" b="1" dirty="0">
                <a:solidFill>
                  <a:srgbClr val="263238"/>
                </a:solidFill>
                <a:latin typeface="Calibri" pitchFamily="34" charset="0"/>
                <a:ea typeface="Calibri" pitchFamily="34" charset="-122"/>
                <a:cs typeface="Calibri" pitchFamily="34" charset="-120"/>
              </a:rPr>
              <a:t>Shneiderman's 8 Golden Rules</a:t>
            </a:r>
            <a:endParaRPr lang="en-US" sz="1250" dirty="0"/>
          </a:p>
        </p:txBody>
      </p:sp>
      <p:sp>
        <p:nvSpPr>
          <p:cNvPr id="33" name="Text 29"/>
          <p:cNvSpPr/>
          <p:nvPr/>
        </p:nvSpPr>
        <p:spPr>
          <a:xfrm>
            <a:off x="3035808" y="5029200"/>
            <a:ext cx="1792224" cy="114300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Calibri" pitchFamily="34" charset="0"/>
                <a:ea typeface="Calibri" pitchFamily="34" charset="-122"/>
                <a:cs typeface="Calibri" pitchFamily="34" charset="-120"/>
              </a:rPr>
              <a:t>Interactive design principles: consistency, informative feedback.</a:t>
            </a:r>
            <a:endParaRPr lang="en-US" sz="1050" dirty="0"/>
          </a:p>
        </p:txBody>
      </p:sp>
      <p:sp>
        <p:nvSpPr>
          <p:cNvPr id="34" name="Shape 30"/>
          <p:cNvSpPr/>
          <p:nvPr/>
        </p:nvSpPr>
        <p:spPr>
          <a:xfrm>
            <a:off x="5157216" y="3337560"/>
            <a:ext cx="2157984" cy="2971800"/>
          </a:xfrm>
          <a:prstGeom prst="roundRect">
            <a:avLst>
              <a:gd name="adj" fmla="val 3390"/>
            </a:avLst>
          </a:prstGeom>
          <a:solidFill>
            <a:srgbClr val="FFFFFF"/>
          </a:solidFill>
          <a:ln/>
          <a:effectLst>
            <a:outerShdw blurRad="101600" dist="38100" dir="2700000" algn="bl" rotWithShape="0">
              <a:srgbClr val="1B5E20">
                <a:alpha val="18000"/>
              </a:srgbClr>
            </a:outerShdw>
          </a:effectLst>
        </p:spPr>
      </p:sp>
      <p:sp>
        <p:nvSpPr>
          <p:cNvPr id="35" name="Shape 31"/>
          <p:cNvSpPr/>
          <p:nvPr/>
        </p:nvSpPr>
        <p:spPr>
          <a:xfrm>
            <a:off x="5385816" y="3566160"/>
            <a:ext cx="548640" cy="548640"/>
          </a:xfrm>
          <a:prstGeom prst="ellipse">
            <a:avLst/>
          </a:prstGeom>
          <a:solidFill>
            <a:srgbClr val="2E7D32">
              <a:alpha val="12000"/>
            </a:srgbClr>
          </a:solidFill>
          <a:ln/>
        </p:spPr>
      </p:sp>
      <p:pic>
        <p:nvPicPr>
          <p:cNvPr id="36" name="Image 2" descr="icons/list_green.png"/>
          <p:cNvPicPr>
            <a:picLocks noChangeAspect="1"/>
          </p:cNvPicPr>
          <p:nvPr/>
        </p:nvPicPr>
        <p:blipFill>
          <a:blip r:embed="rId5"/>
          <a:stretch>
            <a:fillRect/>
          </a:stretch>
        </p:blipFill>
        <p:spPr>
          <a:xfrm>
            <a:off x="5509260" y="3689604"/>
            <a:ext cx="301752" cy="301752"/>
          </a:xfrm>
          <a:prstGeom prst="rect">
            <a:avLst/>
          </a:prstGeom>
        </p:spPr>
      </p:pic>
      <p:sp>
        <p:nvSpPr>
          <p:cNvPr id="37" name="Text 32"/>
          <p:cNvSpPr/>
          <p:nvPr/>
        </p:nvSpPr>
        <p:spPr>
          <a:xfrm>
            <a:off x="5340096" y="4206240"/>
            <a:ext cx="1792224" cy="777240"/>
          </a:xfrm>
          <a:prstGeom prst="rect">
            <a:avLst/>
          </a:prstGeom>
          <a:noFill/>
          <a:ln/>
        </p:spPr>
        <p:txBody>
          <a:bodyPr wrap="square" lIns="0" tIns="0" rIns="0" bIns="0" rtlCol="0" anchor="ctr"/>
          <a:lstStyle/>
          <a:p>
            <a:pPr marL="0" indent="0">
              <a:lnSpc>
                <a:spcPct val="100000"/>
              </a:lnSpc>
              <a:buNone/>
            </a:pPr>
            <a:r>
              <a:rPr lang="en-US" sz="1250" b="1" dirty="0">
                <a:solidFill>
                  <a:srgbClr val="263238"/>
                </a:solidFill>
                <a:latin typeface="Calibri" pitchFamily="34" charset="0"/>
                <a:ea typeface="Calibri" pitchFamily="34" charset="-122"/>
                <a:cs typeface="Calibri" pitchFamily="34" charset="-120"/>
              </a:rPr>
              <a:t>CRAP Principles</a:t>
            </a:r>
            <a:endParaRPr lang="en-US" sz="1250" dirty="0"/>
          </a:p>
        </p:txBody>
      </p:sp>
      <p:sp>
        <p:nvSpPr>
          <p:cNvPr id="38" name="Text 33"/>
          <p:cNvSpPr/>
          <p:nvPr/>
        </p:nvSpPr>
        <p:spPr>
          <a:xfrm>
            <a:off x="5340096" y="5029200"/>
            <a:ext cx="1792224" cy="114300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Calibri" pitchFamily="34" charset="0"/>
                <a:ea typeface="Calibri" pitchFamily="34" charset="-122"/>
                <a:cs typeface="Calibri" pitchFamily="34" charset="-120"/>
              </a:rPr>
              <a:t>Contrast, Repetition, Alignment, Proximity (Robin Williams).</a:t>
            </a:r>
            <a:endParaRPr lang="en-US" sz="1050" dirty="0"/>
          </a:p>
        </p:txBody>
      </p:sp>
      <p:sp>
        <p:nvSpPr>
          <p:cNvPr id="39" name="Shape 34"/>
          <p:cNvSpPr/>
          <p:nvPr/>
        </p:nvSpPr>
        <p:spPr>
          <a:xfrm>
            <a:off x="7461504" y="3337560"/>
            <a:ext cx="2157984" cy="2971800"/>
          </a:xfrm>
          <a:prstGeom prst="roundRect">
            <a:avLst>
              <a:gd name="adj" fmla="val 3390"/>
            </a:avLst>
          </a:prstGeom>
          <a:solidFill>
            <a:srgbClr val="FFFFFF"/>
          </a:solidFill>
          <a:ln/>
          <a:effectLst>
            <a:outerShdw blurRad="101600" dist="38100" dir="2700000" algn="bl" rotWithShape="0">
              <a:srgbClr val="1B5E20">
                <a:alpha val="18000"/>
              </a:srgbClr>
            </a:outerShdw>
          </a:effectLst>
        </p:spPr>
      </p:sp>
      <p:sp>
        <p:nvSpPr>
          <p:cNvPr id="40" name="Shape 35"/>
          <p:cNvSpPr/>
          <p:nvPr/>
        </p:nvSpPr>
        <p:spPr>
          <a:xfrm>
            <a:off x="7690104" y="3566160"/>
            <a:ext cx="548640" cy="548640"/>
          </a:xfrm>
          <a:prstGeom prst="ellipse">
            <a:avLst/>
          </a:prstGeom>
          <a:solidFill>
            <a:srgbClr val="2E7D32">
              <a:alpha val="12000"/>
            </a:srgbClr>
          </a:solidFill>
          <a:ln/>
        </p:spPr>
      </p:sp>
      <p:pic>
        <p:nvPicPr>
          <p:cNvPr id="41" name="Image 3" descr="icons/layers_green.png"/>
          <p:cNvPicPr>
            <a:picLocks noChangeAspect="1"/>
          </p:cNvPicPr>
          <p:nvPr/>
        </p:nvPicPr>
        <p:blipFill>
          <a:blip r:embed="rId6"/>
          <a:stretch>
            <a:fillRect/>
          </a:stretch>
        </p:blipFill>
        <p:spPr>
          <a:xfrm>
            <a:off x="7813548" y="3689604"/>
            <a:ext cx="301752" cy="301752"/>
          </a:xfrm>
          <a:prstGeom prst="rect">
            <a:avLst/>
          </a:prstGeom>
        </p:spPr>
      </p:pic>
      <p:sp>
        <p:nvSpPr>
          <p:cNvPr id="42" name="Text 36"/>
          <p:cNvSpPr/>
          <p:nvPr/>
        </p:nvSpPr>
        <p:spPr>
          <a:xfrm>
            <a:off x="7644384" y="4206240"/>
            <a:ext cx="1792224" cy="777240"/>
          </a:xfrm>
          <a:prstGeom prst="rect">
            <a:avLst/>
          </a:prstGeom>
          <a:noFill/>
          <a:ln/>
        </p:spPr>
        <p:txBody>
          <a:bodyPr wrap="square" lIns="0" tIns="0" rIns="0" bIns="0" rtlCol="0" anchor="ctr"/>
          <a:lstStyle/>
          <a:p>
            <a:pPr marL="0" indent="0">
              <a:lnSpc>
                <a:spcPct val="100000"/>
              </a:lnSpc>
              <a:buNone/>
            </a:pPr>
            <a:r>
              <a:rPr lang="en-US" sz="1250" b="1" dirty="0">
                <a:solidFill>
                  <a:srgbClr val="263238"/>
                </a:solidFill>
                <a:latin typeface="Calibri" pitchFamily="34" charset="0"/>
                <a:ea typeface="Calibri" pitchFamily="34" charset="-122"/>
                <a:cs typeface="Calibri" pitchFamily="34" charset="-120"/>
              </a:rPr>
              <a:t>Gestalt Principles</a:t>
            </a:r>
            <a:endParaRPr lang="en-US" sz="1250" dirty="0"/>
          </a:p>
        </p:txBody>
      </p:sp>
      <p:sp>
        <p:nvSpPr>
          <p:cNvPr id="43" name="Text 37"/>
          <p:cNvSpPr/>
          <p:nvPr/>
        </p:nvSpPr>
        <p:spPr>
          <a:xfrm>
            <a:off x="7644384" y="5029200"/>
            <a:ext cx="1792224" cy="114300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Calibri" pitchFamily="34" charset="0"/>
                <a:ea typeface="Calibri" pitchFamily="34" charset="-122"/>
                <a:cs typeface="Calibri" pitchFamily="34" charset="-120"/>
              </a:rPr>
              <a:t>Visual perception psychology — Similarity, Figure-Ground.</a:t>
            </a:r>
            <a:endParaRPr lang="en-US" sz="1050" dirty="0"/>
          </a:p>
        </p:txBody>
      </p:sp>
      <p:sp>
        <p:nvSpPr>
          <p:cNvPr id="44" name="Shape 38"/>
          <p:cNvSpPr/>
          <p:nvPr/>
        </p:nvSpPr>
        <p:spPr>
          <a:xfrm>
            <a:off x="9765792" y="3337560"/>
            <a:ext cx="2157984" cy="2971800"/>
          </a:xfrm>
          <a:prstGeom prst="roundRect">
            <a:avLst>
              <a:gd name="adj" fmla="val 3390"/>
            </a:avLst>
          </a:prstGeom>
          <a:solidFill>
            <a:srgbClr val="FFFFFF"/>
          </a:solidFill>
          <a:ln/>
          <a:effectLst>
            <a:outerShdw blurRad="101600" dist="38100" dir="2700000" algn="bl" rotWithShape="0">
              <a:srgbClr val="1B5E20">
                <a:alpha val="18000"/>
              </a:srgbClr>
            </a:outerShdw>
          </a:effectLst>
        </p:spPr>
      </p:sp>
      <p:sp>
        <p:nvSpPr>
          <p:cNvPr id="45" name="Shape 39"/>
          <p:cNvSpPr/>
          <p:nvPr/>
        </p:nvSpPr>
        <p:spPr>
          <a:xfrm>
            <a:off x="9994392" y="3566160"/>
            <a:ext cx="548640" cy="548640"/>
          </a:xfrm>
          <a:prstGeom prst="ellipse">
            <a:avLst/>
          </a:prstGeom>
          <a:solidFill>
            <a:srgbClr val="2E7D32">
              <a:alpha val="12000"/>
            </a:srgbClr>
          </a:solidFill>
          <a:ln/>
        </p:spPr>
      </p:sp>
      <p:pic>
        <p:nvPicPr>
          <p:cNvPr id="46" name="Image 4" descr="icons/tap_green.png"/>
          <p:cNvPicPr>
            <a:picLocks noChangeAspect="1"/>
          </p:cNvPicPr>
          <p:nvPr/>
        </p:nvPicPr>
        <p:blipFill>
          <a:blip r:embed="rId7"/>
          <a:stretch>
            <a:fillRect/>
          </a:stretch>
        </p:blipFill>
        <p:spPr>
          <a:xfrm>
            <a:off x="10117836" y="3689604"/>
            <a:ext cx="301752" cy="301752"/>
          </a:xfrm>
          <a:prstGeom prst="rect">
            <a:avLst/>
          </a:prstGeom>
        </p:spPr>
      </p:pic>
      <p:sp>
        <p:nvSpPr>
          <p:cNvPr id="47" name="Text 40"/>
          <p:cNvSpPr/>
          <p:nvPr/>
        </p:nvSpPr>
        <p:spPr>
          <a:xfrm>
            <a:off x="9948672" y="4206240"/>
            <a:ext cx="1792224" cy="777240"/>
          </a:xfrm>
          <a:prstGeom prst="rect">
            <a:avLst/>
          </a:prstGeom>
          <a:noFill/>
          <a:ln/>
        </p:spPr>
        <p:txBody>
          <a:bodyPr wrap="square" lIns="0" tIns="0" rIns="0" bIns="0" rtlCol="0" anchor="ctr"/>
          <a:lstStyle/>
          <a:p>
            <a:pPr marL="0" indent="0">
              <a:lnSpc>
                <a:spcPct val="100000"/>
              </a:lnSpc>
              <a:buNone/>
            </a:pPr>
            <a:r>
              <a:rPr lang="en-US" sz="1250" b="1" dirty="0">
                <a:solidFill>
                  <a:srgbClr val="263238"/>
                </a:solidFill>
                <a:latin typeface="Calibri" pitchFamily="34" charset="0"/>
                <a:ea typeface="Calibri" pitchFamily="34" charset="-122"/>
                <a:cs typeface="Calibri" pitchFamily="34" charset="-120"/>
              </a:rPr>
              <a:t>Physical &amp; Cognitive Ergonomics</a:t>
            </a:r>
            <a:endParaRPr lang="en-US" sz="1250" dirty="0"/>
          </a:p>
        </p:txBody>
      </p:sp>
      <p:sp>
        <p:nvSpPr>
          <p:cNvPr id="48" name="Text 41"/>
          <p:cNvSpPr/>
          <p:nvPr/>
        </p:nvSpPr>
        <p:spPr>
          <a:xfrm>
            <a:off x="9948672" y="5029200"/>
            <a:ext cx="1792224" cy="114300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Calibri" pitchFamily="34" charset="0"/>
                <a:ea typeface="Calibri" pitchFamily="34" charset="-122"/>
                <a:cs typeface="Calibri" pitchFamily="34" charset="-120"/>
              </a:rPr>
              <a:t>Thumb Zone + min. touch target 44×44pt (Apple HIG).</a:t>
            </a:r>
            <a:endParaRPr lang="en-US" sz="1050" dirty="0"/>
          </a:p>
        </p:txBody>
      </p:sp>
      <p:sp>
        <p:nvSpPr>
          <p:cNvPr id="49" name="Text 42"/>
          <p:cNvSpPr/>
          <p:nvPr/>
        </p:nvSpPr>
        <p:spPr>
          <a:xfrm>
            <a:off x="548640" y="6446520"/>
            <a:ext cx="11064240" cy="320040"/>
          </a:xfrm>
          <a:prstGeom prst="rect">
            <a:avLst/>
          </a:prstGeom>
          <a:noFill/>
          <a:ln/>
        </p:spPr>
        <p:txBody>
          <a:bodyPr wrap="square" lIns="0" tIns="0" rIns="0" bIns="0" rtlCol="0" anchor="ctr"/>
          <a:lstStyle/>
          <a:p>
            <a:pPr marL="0" indent="0">
              <a:buNone/>
            </a:pPr>
            <a:r>
              <a:rPr lang="en-US" sz="1100" i="1" dirty="0">
                <a:solidFill>
                  <a:srgbClr val="DCEDC8"/>
                </a:solidFill>
                <a:latin typeface="Calibri" pitchFamily="34" charset="0"/>
                <a:ea typeface="Calibri" pitchFamily="34" charset="-122"/>
                <a:cs typeface="Calibri" pitchFamily="34" charset="-120"/>
              </a:rPr>
              <a:t>MVP development used Flutter (Google's cross-platform UI toolkit, single codebase → Android + Web).</a:t>
            </a:r>
            <a:endParaRPr lang="en-US" sz="1100" dirty="0"/>
          </a:p>
        </p:txBody>
      </p:sp>
      <p:sp>
        <p:nvSpPr>
          <p:cNvPr id="50" name="Text 43"/>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4 — SYSTEM DESIGN &amp; ARCHITECTURE</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Task Flow Design &amp; Privacy Compliance</a:t>
            </a:r>
            <a:endParaRPr lang="en-US" sz="3200" dirty="0"/>
          </a:p>
        </p:txBody>
      </p:sp>
      <p:sp>
        <p:nvSpPr>
          <p:cNvPr id="4" name="Text 2"/>
          <p:cNvSpPr/>
          <p:nvPr/>
        </p:nvSpPr>
        <p:spPr>
          <a:xfrm>
            <a:off x="548640" y="1554480"/>
            <a:ext cx="7315200" cy="320040"/>
          </a:xfrm>
          <a:prstGeom prst="rect">
            <a:avLst/>
          </a:prstGeom>
          <a:noFill/>
          <a:ln/>
        </p:spPr>
        <p:txBody>
          <a:bodyPr wrap="square" lIns="0" tIns="0" rIns="0" bIns="0"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4.1 Hierarchical Task Analysis — “Ordering Medicine”</a:t>
            </a:r>
            <a:endParaRPr lang="en-US" sz="1300" dirty="0"/>
          </a:p>
        </p:txBody>
      </p:sp>
      <p:sp>
        <p:nvSpPr>
          <p:cNvPr id="5" name="Shape 3"/>
          <p:cNvSpPr/>
          <p:nvPr/>
        </p:nvSpPr>
        <p:spPr>
          <a:xfrm>
            <a:off x="3474720" y="1965960"/>
            <a:ext cx="3657600" cy="502920"/>
          </a:xfrm>
          <a:prstGeom prst="roundRect">
            <a:avLst>
              <a:gd name="adj" fmla="val 10909"/>
            </a:avLst>
          </a:prstGeom>
          <a:solidFill>
            <a:srgbClr val="2E7D32"/>
          </a:solidFill>
          <a:ln/>
        </p:spPr>
      </p:sp>
      <p:sp>
        <p:nvSpPr>
          <p:cNvPr id="6" name="Text 4"/>
          <p:cNvSpPr/>
          <p:nvPr/>
        </p:nvSpPr>
        <p:spPr>
          <a:xfrm>
            <a:off x="3474720" y="1965960"/>
            <a:ext cx="365760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 Memesan Obat di Aplikasi K24Klik</a:t>
            </a:r>
            <a:endParaRPr lang="en-US" sz="1100" dirty="0"/>
          </a:p>
        </p:txBody>
      </p:sp>
      <p:sp>
        <p:nvSpPr>
          <p:cNvPr id="7" name="Shape 5"/>
          <p:cNvSpPr/>
          <p:nvPr/>
        </p:nvSpPr>
        <p:spPr>
          <a:xfrm>
            <a:off x="1897380" y="2468880"/>
            <a:ext cx="0" cy="228600"/>
          </a:xfrm>
          <a:prstGeom prst="line">
            <a:avLst/>
          </a:prstGeom>
          <a:noFill/>
          <a:ln w="12700">
            <a:solidFill>
              <a:srgbClr val="CBD5E1"/>
            </a:solidFill>
            <a:prstDash val="solid"/>
          </a:ln>
        </p:spPr>
      </p:sp>
      <p:sp>
        <p:nvSpPr>
          <p:cNvPr id="8" name="Shape 6"/>
          <p:cNvSpPr/>
          <p:nvPr/>
        </p:nvSpPr>
        <p:spPr>
          <a:xfrm>
            <a:off x="548640" y="2697480"/>
            <a:ext cx="2697480" cy="457200"/>
          </a:xfrm>
          <a:prstGeom prst="roundRect">
            <a:avLst>
              <a:gd name="adj" fmla="val 12000"/>
            </a:avLst>
          </a:prstGeom>
          <a:solidFill>
            <a:srgbClr val="E8F5E9"/>
          </a:solidFill>
          <a:ln w="9525">
            <a:solidFill>
              <a:srgbClr val="2E7D32"/>
            </a:solidFill>
            <a:prstDash val="solid"/>
          </a:ln>
        </p:spPr>
      </p:sp>
      <p:sp>
        <p:nvSpPr>
          <p:cNvPr id="9" name="Text 7"/>
          <p:cNvSpPr/>
          <p:nvPr/>
        </p:nvSpPr>
        <p:spPr>
          <a:xfrm>
            <a:off x="548640" y="2697480"/>
            <a:ext cx="2697480" cy="457200"/>
          </a:xfrm>
          <a:prstGeom prst="rect">
            <a:avLst/>
          </a:prstGeom>
          <a:noFill/>
          <a:ln/>
        </p:spPr>
        <p:txBody>
          <a:bodyPr wrap="square" lIns="0" tIns="0" rIns="0" bIns="0" rtlCol="0" anchor="ctr"/>
          <a:lstStyle/>
          <a:p>
            <a:pPr marL="0" indent="0" algn="ctr">
              <a:buNone/>
            </a:pPr>
            <a:r>
              <a:rPr lang="en-US" sz="1050" b="1" dirty="0">
                <a:solidFill>
                  <a:srgbClr val="1B5E20"/>
                </a:solidFill>
                <a:latin typeface="Calibri" pitchFamily="34" charset="0"/>
                <a:ea typeface="Calibri" pitchFamily="34" charset="-122"/>
                <a:cs typeface="Calibri" pitchFamily="34" charset="-120"/>
              </a:rPr>
              <a:t>1. Autentikasi</a:t>
            </a:r>
            <a:endParaRPr lang="en-US" sz="1050" dirty="0"/>
          </a:p>
        </p:txBody>
      </p:sp>
      <p:sp>
        <p:nvSpPr>
          <p:cNvPr id="10" name="Shape 8"/>
          <p:cNvSpPr/>
          <p:nvPr/>
        </p:nvSpPr>
        <p:spPr>
          <a:xfrm>
            <a:off x="1897380" y="3200400"/>
            <a:ext cx="0" cy="137160"/>
          </a:xfrm>
          <a:prstGeom prst="line">
            <a:avLst/>
          </a:prstGeom>
          <a:noFill/>
          <a:ln w="12700">
            <a:solidFill>
              <a:srgbClr val="CBD5E1"/>
            </a:solidFill>
            <a:prstDash val="solid"/>
          </a:ln>
        </p:spPr>
      </p:sp>
      <p:sp>
        <p:nvSpPr>
          <p:cNvPr id="11" name="Shape 9"/>
          <p:cNvSpPr/>
          <p:nvPr/>
        </p:nvSpPr>
        <p:spPr>
          <a:xfrm>
            <a:off x="548640" y="3337560"/>
            <a:ext cx="2697480" cy="438912"/>
          </a:xfrm>
          <a:prstGeom prst="roundRect">
            <a:avLst>
              <a:gd name="adj" fmla="val 12500"/>
            </a:avLst>
          </a:prstGeom>
          <a:solidFill>
            <a:srgbClr val="F8FAFC"/>
          </a:solidFill>
          <a:ln w="9525">
            <a:solidFill>
              <a:srgbClr val="E2E8F0"/>
            </a:solidFill>
            <a:prstDash val="solid"/>
          </a:ln>
        </p:spPr>
      </p:sp>
      <p:sp>
        <p:nvSpPr>
          <p:cNvPr id="12" name="Text 10"/>
          <p:cNvSpPr/>
          <p:nvPr/>
        </p:nvSpPr>
        <p:spPr>
          <a:xfrm>
            <a:off x="594360" y="3337560"/>
            <a:ext cx="2606040" cy="438912"/>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1.1 Input Email &amp; Sandi</a:t>
            </a:r>
            <a:endParaRPr lang="en-US" sz="900" dirty="0"/>
          </a:p>
        </p:txBody>
      </p:sp>
      <p:sp>
        <p:nvSpPr>
          <p:cNvPr id="13" name="Shape 11"/>
          <p:cNvSpPr/>
          <p:nvPr/>
        </p:nvSpPr>
        <p:spPr>
          <a:xfrm>
            <a:off x="1897380" y="3749040"/>
            <a:ext cx="0" cy="137160"/>
          </a:xfrm>
          <a:prstGeom prst="line">
            <a:avLst/>
          </a:prstGeom>
          <a:noFill/>
          <a:ln w="12700">
            <a:solidFill>
              <a:srgbClr val="CBD5E1"/>
            </a:solidFill>
            <a:prstDash val="solid"/>
          </a:ln>
        </p:spPr>
      </p:sp>
      <p:sp>
        <p:nvSpPr>
          <p:cNvPr id="14" name="Shape 12"/>
          <p:cNvSpPr/>
          <p:nvPr/>
        </p:nvSpPr>
        <p:spPr>
          <a:xfrm>
            <a:off x="548640" y="3886200"/>
            <a:ext cx="2697480" cy="438912"/>
          </a:xfrm>
          <a:prstGeom prst="roundRect">
            <a:avLst>
              <a:gd name="adj" fmla="val 12500"/>
            </a:avLst>
          </a:prstGeom>
          <a:solidFill>
            <a:srgbClr val="F8FAFC"/>
          </a:solidFill>
          <a:ln w="9525">
            <a:solidFill>
              <a:srgbClr val="E2E8F0"/>
            </a:solidFill>
            <a:prstDash val="solid"/>
          </a:ln>
        </p:spPr>
      </p:sp>
      <p:sp>
        <p:nvSpPr>
          <p:cNvPr id="15" name="Text 13"/>
          <p:cNvSpPr/>
          <p:nvPr/>
        </p:nvSpPr>
        <p:spPr>
          <a:xfrm>
            <a:off x="594360" y="3886200"/>
            <a:ext cx="2606040" cy="438912"/>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1.2 Klik 'Masuk'</a:t>
            </a:r>
            <a:endParaRPr lang="en-US" sz="900" dirty="0"/>
          </a:p>
        </p:txBody>
      </p:sp>
      <p:sp>
        <p:nvSpPr>
          <p:cNvPr id="16" name="Shape 14"/>
          <p:cNvSpPr/>
          <p:nvPr/>
        </p:nvSpPr>
        <p:spPr>
          <a:xfrm>
            <a:off x="4686300" y="2468880"/>
            <a:ext cx="0" cy="228600"/>
          </a:xfrm>
          <a:prstGeom prst="line">
            <a:avLst/>
          </a:prstGeom>
          <a:noFill/>
          <a:ln w="12700">
            <a:solidFill>
              <a:srgbClr val="CBD5E1"/>
            </a:solidFill>
            <a:prstDash val="solid"/>
          </a:ln>
        </p:spPr>
      </p:sp>
      <p:sp>
        <p:nvSpPr>
          <p:cNvPr id="17" name="Shape 15"/>
          <p:cNvSpPr/>
          <p:nvPr/>
        </p:nvSpPr>
        <p:spPr>
          <a:xfrm>
            <a:off x="3337560" y="2697480"/>
            <a:ext cx="2697480" cy="457200"/>
          </a:xfrm>
          <a:prstGeom prst="roundRect">
            <a:avLst>
              <a:gd name="adj" fmla="val 12000"/>
            </a:avLst>
          </a:prstGeom>
          <a:solidFill>
            <a:srgbClr val="E8F5E9"/>
          </a:solidFill>
          <a:ln w="9525">
            <a:solidFill>
              <a:srgbClr val="2E7D32"/>
            </a:solidFill>
            <a:prstDash val="solid"/>
          </a:ln>
        </p:spPr>
      </p:sp>
      <p:sp>
        <p:nvSpPr>
          <p:cNvPr id="18" name="Text 16"/>
          <p:cNvSpPr/>
          <p:nvPr/>
        </p:nvSpPr>
        <p:spPr>
          <a:xfrm>
            <a:off x="3337560" y="2697480"/>
            <a:ext cx="2697480" cy="457200"/>
          </a:xfrm>
          <a:prstGeom prst="rect">
            <a:avLst/>
          </a:prstGeom>
          <a:noFill/>
          <a:ln/>
        </p:spPr>
        <p:txBody>
          <a:bodyPr wrap="square" lIns="0" tIns="0" rIns="0" bIns="0" rtlCol="0" anchor="ctr"/>
          <a:lstStyle/>
          <a:p>
            <a:pPr marL="0" indent="0" algn="ctr">
              <a:buNone/>
            </a:pPr>
            <a:r>
              <a:rPr lang="en-US" sz="1050" b="1" dirty="0">
                <a:solidFill>
                  <a:srgbClr val="1B5E20"/>
                </a:solidFill>
                <a:latin typeface="Calibri" pitchFamily="34" charset="0"/>
                <a:ea typeface="Calibri" pitchFamily="34" charset="-122"/>
                <a:cs typeface="Calibri" pitchFamily="34" charset="-120"/>
              </a:rPr>
              <a:t>2. Cari &amp; Pilih Obat</a:t>
            </a:r>
            <a:endParaRPr lang="en-US" sz="1050" dirty="0"/>
          </a:p>
        </p:txBody>
      </p:sp>
      <p:sp>
        <p:nvSpPr>
          <p:cNvPr id="19" name="Shape 17"/>
          <p:cNvSpPr/>
          <p:nvPr/>
        </p:nvSpPr>
        <p:spPr>
          <a:xfrm>
            <a:off x="4686300" y="3200400"/>
            <a:ext cx="0" cy="137160"/>
          </a:xfrm>
          <a:prstGeom prst="line">
            <a:avLst/>
          </a:prstGeom>
          <a:noFill/>
          <a:ln w="12700">
            <a:solidFill>
              <a:srgbClr val="CBD5E1"/>
            </a:solidFill>
            <a:prstDash val="solid"/>
          </a:ln>
        </p:spPr>
      </p:sp>
      <p:sp>
        <p:nvSpPr>
          <p:cNvPr id="20" name="Shape 18"/>
          <p:cNvSpPr/>
          <p:nvPr/>
        </p:nvSpPr>
        <p:spPr>
          <a:xfrm>
            <a:off x="3337560" y="3337560"/>
            <a:ext cx="2697480" cy="438912"/>
          </a:xfrm>
          <a:prstGeom prst="roundRect">
            <a:avLst>
              <a:gd name="adj" fmla="val 12500"/>
            </a:avLst>
          </a:prstGeom>
          <a:solidFill>
            <a:srgbClr val="F8FAFC"/>
          </a:solidFill>
          <a:ln w="9525">
            <a:solidFill>
              <a:srgbClr val="E2E8F0"/>
            </a:solidFill>
            <a:prstDash val="solid"/>
          </a:ln>
        </p:spPr>
      </p:sp>
      <p:sp>
        <p:nvSpPr>
          <p:cNvPr id="21" name="Text 19"/>
          <p:cNvSpPr/>
          <p:nvPr/>
        </p:nvSpPr>
        <p:spPr>
          <a:xfrm>
            <a:off x="3383280" y="3337560"/>
            <a:ext cx="2606040" cy="438912"/>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2.1 Gunakan Search Bar / Kategori</a:t>
            </a:r>
            <a:endParaRPr lang="en-US" sz="900" dirty="0"/>
          </a:p>
        </p:txBody>
      </p:sp>
      <p:sp>
        <p:nvSpPr>
          <p:cNvPr id="22" name="Shape 20"/>
          <p:cNvSpPr/>
          <p:nvPr/>
        </p:nvSpPr>
        <p:spPr>
          <a:xfrm>
            <a:off x="4686300" y="3749040"/>
            <a:ext cx="0" cy="137160"/>
          </a:xfrm>
          <a:prstGeom prst="line">
            <a:avLst/>
          </a:prstGeom>
          <a:noFill/>
          <a:ln w="12700">
            <a:solidFill>
              <a:srgbClr val="CBD5E1"/>
            </a:solidFill>
            <a:prstDash val="solid"/>
          </a:ln>
        </p:spPr>
      </p:sp>
      <p:sp>
        <p:nvSpPr>
          <p:cNvPr id="23" name="Shape 21"/>
          <p:cNvSpPr/>
          <p:nvPr/>
        </p:nvSpPr>
        <p:spPr>
          <a:xfrm>
            <a:off x="3337560" y="3886200"/>
            <a:ext cx="2697480" cy="438912"/>
          </a:xfrm>
          <a:prstGeom prst="roundRect">
            <a:avLst>
              <a:gd name="adj" fmla="val 12500"/>
            </a:avLst>
          </a:prstGeom>
          <a:solidFill>
            <a:srgbClr val="F8FAFC"/>
          </a:solidFill>
          <a:ln w="9525">
            <a:solidFill>
              <a:srgbClr val="E2E8F0"/>
            </a:solidFill>
            <a:prstDash val="solid"/>
          </a:ln>
        </p:spPr>
      </p:sp>
      <p:sp>
        <p:nvSpPr>
          <p:cNvPr id="24" name="Text 22"/>
          <p:cNvSpPr/>
          <p:nvPr/>
        </p:nvSpPr>
        <p:spPr>
          <a:xfrm>
            <a:off x="3383280" y="3886200"/>
            <a:ext cx="2606040" cy="438912"/>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2.2 Klik Kartu Produk</a:t>
            </a:r>
            <a:endParaRPr lang="en-US" sz="900" dirty="0"/>
          </a:p>
        </p:txBody>
      </p:sp>
      <p:sp>
        <p:nvSpPr>
          <p:cNvPr id="25" name="Shape 23"/>
          <p:cNvSpPr/>
          <p:nvPr/>
        </p:nvSpPr>
        <p:spPr>
          <a:xfrm>
            <a:off x="7475220" y="2468880"/>
            <a:ext cx="0" cy="228600"/>
          </a:xfrm>
          <a:prstGeom prst="line">
            <a:avLst/>
          </a:prstGeom>
          <a:noFill/>
          <a:ln w="12700">
            <a:solidFill>
              <a:srgbClr val="CBD5E1"/>
            </a:solidFill>
            <a:prstDash val="solid"/>
          </a:ln>
        </p:spPr>
      </p:sp>
      <p:sp>
        <p:nvSpPr>
          <p:cNvPr id="26" name="Shape 24"/>
          <p:cNvSpPr/>
          <p:nvPr/>
        </p:nvSpPr>
        <p:spPr>
          <a:xfrm>
            <a:off x="6126480" y="2697480"/>
            <a:ext cx="2697480" cy="457200"/>
          </a:xfrm>
          <a:prstGeom prst="roundRect">
            <a:avLst>
              <a:gd name="adj" fmla="val 12000"/>
            </a:avLst>
          </a:prstGeom>
          <a:solidFill>
            <a:srgbClr val="E8F5E9"/>
          </a:solidFill>
          <a:ln w="9525">
            <a:solidFill>
              <a:srgbClr val="2E7D32"/>
            </a:solidFill>
            <a:prstDash val="solid"/>
          </a:ln>
        </p:spPr>
      </p:sp>
      <p:sp>
        <p:nvSpPr>
          <p:cNvPr id="27" name="Text 25"/>
          <p:cNvSpPr/>
          <p:nvPr/>
        </p:nvSpPr>
        <p:spPr>
          <a:xfrm>
            <a:off x="6126480" y="2697480"/>
            <a:ext cx="2697480" cy="457200"/>
          </a:xfrm>
          <a:prstGeom prst="rect">
            <a:avLst/>
          </a:prstGeom>
          <a:noFill/>
          <a:ln/>
        </p:spPr>
        <p:txBody>
          <a:bodyPr wrap="square" lIns="0" tIns="0" rIns="0" bIns="0" rtlCol="0" anchor="ctr"/>
          <a:lstStyle/>
          <a:p>
            <a:pPr marL="0" indent="0" algn="ctr">
              <a:buNone/>
            </a:pPr>
            <a:r>
              <a:rPr lang="en-US" sz="1050" b="1" dirty="0">
                <a:solidFill>
                  <a:srgbClr val="1B5E20"/>
                </a:solidFill>
                <a:latin typeface="Calibri" pitchFamily="34" charset="0"/>
                <a:ea typeface="Calibri" pitchFamily="34" charset="-122"/>
                <a:cs typeface="Calibri" pitchFamily="34" charset="-120"/>
              </a:rPr>
              <a:t>3. Tinjau Detail Obat</a:t>
            </a:r>
            <a:endParaRPr lang="en-US" sz="1050" dirty="0"/>
          </a:p>
        </p:txBody>
      </p:sp>
      <p:sp>
        <p:nvSpPr>
          <p:cNvPr id="28" name="Shape 26"/>
          <p:cNvSpPr/>
          <p:nvPr/>
        </p:nvSpPr>
        <p:spPr>
          <a:xfrm>
            <a:off x="7475220" y="3200400"/>
            <a:ext cx="0" cy="137160"/>
          </a:xfrm>
          <a:prstGeom prst="line">
            <a:avLst/>
          </a:prstGeom>
          <a:noFill/>
          <a:ln w="12700">
            <a:solidFill>
              <a:srgbClr val="CBD5E1"/>
            </a:solidFill>
            <a:prstDash val="solid"/>
          </a:ln>
        </p:spPr>
      </p:sp>
      <p:sp>
        <p:nvSpPr>
          <p:cNvPr id="29" name="Shape 27"/>
          <p:cNvSpPr/>
          <p:nvPr/>
        </p:nvSpPr>
        <p:spPr>
          <a:xfrm>
            <a:off x="6126480" y="3337560"/>
            <a:ext cx="2697480" cy="438912"/>
          </a:xfrm>
          <a:prstGeom prst="roundRect">
            <a:avLst>
              <a:gd name="adj" fmla="val 12500"/>
            </a:avLst>
          </a:prstGeom>
          <a:solidFill>
            <a:srgbClr val="F8FAFC"/>
          </a:solidFill>
          <a:ln w="9525">
            <a:solidFill>
              <a:srgbClr val="E2E8F0"/>
            </a:solidFill>
            <a:prstDash val="solid"/>
          </a:ln>
        </p:spPr>
      </p:sp>
      <p:sp>
        <p:nvSpPr>
          <p:cNvPr id="30" name="Text 28"/>
          <p:cNvSpPr/>
          <p:nvPr/>
        </p:nvSpPr>
        <p:spPr>
          <a:xfrm>
            <a:off x="6172200" y="3337560"/>
            <a:ext cx="2606040" cy="438912"/>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3.1 Buka tab Dosis/Deskripsi</a:t>
            </a:r>
            <a:endParaRPr lang="en-US" sz="900" dirty="0"/>
          </a:p>
        </p:txBody>
      </p:sp>
      <p:sp>
        <p:nvSpPr>
          <p:cNvPr id="31" name="Shape 29"/>
          <p:cNvSpPr/>
          <p:nvPr/>
        </p:nvSpPr>
        <p:spPr>
          <a:xfrm>
            <a:off x="7475220" y="3749040"/>
            <a:ext cx="0" cy="137160"/>
          </a:xfrm>
          <a:prstGeom prst="line">
            <a:avLst/>
          </a:prstGeom>
          <a:noFill/>
          <a:ln w="12700">
            <a:solidFill>
              <a:srgbClr val="CBD5E1"/>
            </a:solidFill>
            <a:prstDash val="solid"/>
          </a:ln>
        </p:spPr>
      </p:sp>
      <p:sp>
        <p:nvSpPr>
          <p:cNvPr id="32" name="Shape 30"/>
          <p:cNvSpPr/>
          <p:nvPr/>
        </p:nvSpPr>
        <p:spPr>
          <a:xfrm>
            <a:off x="6126480" y="3886200"/>
            <a:ext cx="2697480" cy="438912"/>
          </a:xfrm>
          <a:prstGeom prst="roundRect">
            <a:avLst>
              <a:gd name="adj" fmla="val 12500"/>
            </a:avLst>
          </a:prstGeom>
          <a:solidFill>
            <a:srgbClr val="F8FAFC"/>
          </a:solidFill>
          <a:ln w="9525">
            <a:solidFill>
              <a:srgbClr val="E2E8F0"/>
            </a:solidFill>
            <a:prstDash val="solid"/>
          </a:ln>
        </p:spPr>
      </p:sp>
      <p:sp>
        <p:nvSpPr>
          <p:cNvPr id="33" name="Text 31"/>
          <p:cNvSpPr/>
          <p:nvPr/>
        </p:nvSpPr>
        <p:spPr>
          <a:xfrm>
            <a:off x="6172200" y="3886200"/>
            <a:ext cx="2606040" cy="438912"/>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3.2 Klik '+ Keranjang'</a:t>
            </a:r>
            <a:endParaRPr lang="en-US" sz="900" dirty="0"/>
          </a:p>
        </p:txBody>
      </p:sp>
      <p:sp>
        <p:nvSpPr>
          <p:cNvPr id="34" name="Shape 32"/>
          <p:cNvSpPr/>
          <p:nvPr/>
        </p:nvSpPr>
        <p:spPr>
          <a:xfrm>
            <a:off x="10264140" y="2468880"/>
            <a:ext cx="0" cy="228600"/>
          </a:xfrm>
          <a:prstGeom prst="line">
            <a:avLst/>
          </a:prstGeom>
          <a:noFill/>
          <a:ln w="12700">
            <a:solidFill>
              <a:srgbClr val="CBD5E1"/>
            </a:solidFill>
            <a:prstDash val="solid"/>
          </a:ln>
        </p:spPr>
      </p:sp>
      <p:sp>
        <p:nvSpPr>
          <p:cNvPr id="35" name="Shape 33"/>
          <p:cNvSpPr/>
          <p:nvPr/>
        </p:nvSpPr>
        <p:spPr>
          <a:xfrm>
            <a:off x="8915400" y="2697480"/>
            <a:ext cx="2697480" cy="457200"/>
          </a:xfrm>
          <a:prstGeom prst="roundRect">
            <a:avLst>
              <a:gd name="adj" fmla="val 12000"/>
            </a:avLst>
          </a:prstGeom>
          <a:solidFill>
            <a:srgbClr val="E8F5E9"/>
          </a:solidFill>
          <a:ln w="9525">
            <a:solidFill>
              <a:srgbClr val="2E7D32"/>
            </a:solidFill>
            <a:prstDash val="solid"/>
          </a:ln>
        </p:spPr>
      </p:sp>
      <p:sp>
        <p:nvSpPr>
          <p:cNvPr id="36" name="Text 34"/>
          <p:cNvSpPr/>
          <p:nvPr/>
        </p:nvSpPr>
        <p:spPr>
          <a:xfrm>
            <a:off x="8915400" y="2697480"/>
            <a:ext cx="2697480" cy="457200"/>
          </a:xfrm>
          <a:prstGeom prst="rect">
            <a:avLst/>
          </a:prstGeom>
          <a:noFill/>
          <a:ln/>
        </p:spPr>
        <p:txBody>
          <a:bodyPr wrap="square" lIns="0" tIns="0" rIns="0" bIns="0" rtlCol="0" anchor="ctr"/>
          <a:lstStyle/>
          <a:p>
            <a:pPr marL="0" indent="0" algn="ctr">
              <a:buNone/>
            </a:pPr>
            <a:r>
              <a:rPr lang="en-US" sz="1050" b="1" dirty="0">
                <a:solidFill>
                  <a:srgbClr val="1B5E20"/>
                </a:solidFill>
                <a:latin typeface="Calibri" pitchFamily="34" charset="0"/>
                <a:ea typeface="Calibri" pitchFamily="34" charset="-122"/>
                <a:cs typeface="Calibri" pitchFamily="34" charset="-120"/>
              </a:rPr>
              <a:t>4. Checkout &amp; Bayar</a:t>
            </a:r>
            <a:endParaRPr lang="en-US" sz="1050" dirty="0"/>
          </a:p>
        </p:txBody>
      </p:sp>
      <p:sp>
        <p:nvSpPr>
          <p:cNvPr id="37" name="Shape 35"/>
          <p:cNvSpPr/>
          <p:nvPr/>
        </p:nvSpPr>
        <p:spPr>
          <a:xfrm>
            <a:off x="10264140" y="3200400"/>
            <a:ext cx="0" cy="137160"/>
          </a:xfrm>
          <a:prstGeom prst="line">
            <a:avLst/>
          </a:prstGeom>
          <a:noFill/>
          <a:ln w="12700">
            <a:solidFill>
              <a:srgbClr val="CBD5E1"/>
            </a:solidFill>
            <a:prstDash val="solid"/>
          </a:ln>
        </p:spPr>
      </p:sp>
      <p:sp>
        <p:nvSpPr>
          <p:cNvPr id="38" name="Shape 36"/>
          <p:cNvSpPr/>
          <p:nvPr/>
        </p:nvSpPr>
        <p:spPr>
          <a:xfrm>
            <a:off x="8915400" y="3337560"/>
            <a:ext cx="2697480" cy="438912"/>
          </a:xfrm>
          <a:prstGeom prst="roundRect">
            <a:avLst>
              <a:gd name="adj" fmla="val 12500"/>
            </a:avLst>
          </a:prstGeom>
          <a:solidFill>
            <a:srgbClr val="F8FAFC"/>
          </a:solidFill>
          <a:ln w="9525">
            <a:solidFill>
              <a:srgbClr val="E2E8F0"/>
            </a:solidFill>
            <a:prstDash val="solid"/>
          </a:ln>
        </p:spPr>
      </p:sp>
      <p:sp>
        <p:nvSpPr>
          <p:cNvPr id="39" name="Text 37"/>
          <p:cNvSpPr/>
          <p:nvPr/>
        </p:nvSpPr>
        <p:spPr>
          <a:xfrm>
            <a:off x="8961120" y="3337560"/>
            <a:ext cx="2606040" cy="438912"/>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4.1 Buka Tab Keranjang</a:t>
            </a:r>
            <a:endParaRPr lang="en-US" sz="900" dirty="0"/>
          </a:p>
        </p:txBody>
      </p:sp>
      <p:sp>
        <p:nvSpPr>
          <p:cNvPr id="40" name="Shape 38"/>
          <p:cNvSpPr/>
          <p:nvPr/>
        </p:nvSpPr>
        <p:spPr>
          <a:xfrm>
            <a:off x="10264140" y="3749040"/>
            <a:ext cx="0" cy="137160"/>
          </a:xfrm>
          <a:prstGeom prst="line">
            <a:avLst/>
          </a:prstGeom>
          <a:noFill/>
          <a:ln w="12700">
            <a:solidFill>
              <a:srgbClr val="CBD5E1"/>
            </a:solidFill>
            <a:prstDash val="solid"/>
          </a:ln>
        </p:spPr>
      </p:sp>
      <p:sp>
        <p:nvSpPr>
          <p:cNvPr id="41" name="Shape 39"/>
          <p:cNvSpPr/>
          <p:nvPr/>
        </p:nvSpPr>
        <p:spPr>
          <a:xfrm>
            <a:off x="8915400" y="3886200"/>
            <a:ext cx="2697480" cy="438912"/>
          </a:xfrm>
          <a:prstGeom prst="roundRect">
            <a:avLst>
              <a:gd name="adj" fmla="val 12500"/>
            </a:avLst>
          </a:prstGeom>
          <a:solidFill>
            <a:srgbClr val="F8FAFC"/>
          </a:solidFill>
          <a:ln w="9525">
            <a:solidFill>
              <a:srgbClr val="E2E8F0"/>
            </a:solidFill>
            <a:prstDash val="solid"/>
          </a:ln>
        </p:spPr>
      </p:sp>
      <p:sp>
        <p:nvSpPr>
          <p:cNvPr id="42" name="Text 40"/>
          <p:cNvSpPr/>
          <p:nvPr/>
        </p:nvSpPr>
        <p:spPr>
          <a:xfrm>
            <a:off x="8961120" y="3886200"/>
            <a:ext cx="2606040" cy="438912"/>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4.2 Klik Lanjut Pembayaran</a:t>
            </a:r>
            <a:endParaRPr lang="en-US" sz="900" dirty="0"/>
          </a:p>
        </p:txBody>
      </p:sp>
      <p:sp>
        <p:nvSpPr>
          <p:cNvPr id="43" name="Shape 41"/>
          <p:cNvSpPr/>
          <p:nvPr/>
        </p:nvSpPr>
        <p:spPr>
          <a:xfrm>
            <a:off x="10264140" y="4297680"/>
            <a:ext cx="0" cy="137160"/>
          </a:xfrm>
          <a:prstGeom prst="line">
            <a:avLst/>
          </a:prstGeom>
          <a:noFill/>
          <a:ln w="12700">
            <a:solidFill>
              <a:srgbClr val="CBD5E1"/>
            </a:solidFill>
            <a:prstDash val="solid"/>
          </a:ln>
        </p:spPr>
      </p:sp>
      <p:sp>
        <p:nvSpPr>
          <p:cNvPr id="44" name="Shape 42"/>
          <p:cNvSpPr/>
          <p:nvPr/>
        </p:nvSpPr>
        <p:spPr>
          <a:xfrm>
            <a:off x="8915400" y="4434840"/>
            <a:ext cx="2697480" cy="438912"/>
          </a:xfrm>
          <a:prstGeom prst="roundRect">
            <a:avLst>
              <a:gd name="adj" fmla="val 12500"/>
            </a:avLst>
          </a:prstGeom>
          <a:solidFill>
            <a:srgbClr val="F8FAFC"/>
          </a:solidFill>
          <a:ln w="9525">
            <a:solidFill>
              <a:srgbClr val="E2E8F0"/>
            </a:solidFill>
            <a:prstDash val="solid"/>
          </a:ln>
        </p:spPr>
      </p:sp>
      <p:sp>
        <p:nvSpPr>
          <p:cNvPr id="45" name="Text 43"/>
          <p:cNvSpPr/>
          <p:nvPr/>
        </p:nvSpPr>
        <p:spPr>
          <a:xfrm>
            <a:off x="8961120" y="4434840"/>
            <a:ext cx="2606040" cy="438912"/>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4.3 Pilih Delivery &amp; Payment</a:t>
            </a:r>
            <a:endParaRPr lang="en-US" sz="900" dirty="0"/>
          </a:p>
        </p:txBody>
      </p:sp>
      <p:sp>
        <p:nvSpPr>
          <p:cNvPr id="46" name="Shape 44"/>
          <p:cNvSpPr/>
          <p:nvPr/>
        </p:nvSpPr>
        <p:spPr>
          <a:xfrm>
            <a:off x="10264140" y="4846320"/>
            <a:ext cx="0" cy="137160"/>
          </a:xfrm>
          <a:prstGeom prst="line">
            <a:avLst/>
          </a:prstGeom>
          <a:noFill/>
          <a:ln w="12700">
            <a:solidFill>
              <a:srgbClr val="CBD5E1"/>
            </a:solidFill>
            <a:prstDash val="solid"/>
          </a:ln>
        </p:spPr>
      </p:sp>
      <p:sp>
        <p:nvSpPr>
          <p:cNvPr id="47" name="Shape 45"/>
          <p:cNvSpPr/>
          <p:nvPr/>
        </p:nvSpPr>
        <p:spPr>
          <a:xfrm>
            <a:off x="8915400" y="4983480"/>
            <a:ext cx="2697480" cy="438912"/>
          </a:xfrm>
          <a:prstGeom prst="roundRect">
            <a:avLst>
              <a:gd name="adj" fmla="val 12500"/>
            </a:avLst>
          </a:prstGeom>
          <a:solidFill>
            <a:srgbClr val="F8FAFC"/>
          </a:solidFill>
          <a:ln w="9525">
            <a:solidFill>
              <a:srgbClr val="E2E8F0"/>
            </a:solidFill>
            <a:prstDash val="solid"/>
          </a:ln>
        </p:spPr>
      </p:sp>
      <p:sp>
        <p:nvSpPr>
          <p:cNvPr id="48" name="Text 46"/>
          <p:cNvSpPr/>
          <p:nvPr/>
        </p:nvSpPr>
        <p:spPr>
          <a:xfrm>
            <a:off x="8961120" y="4983480"/>
            <a:ext cx="2606040" cy="438912"/>
          </a:xfrm>
          <a:prstGeom prst="rect">
            <a:avLst/>
          </a:prstGeom>
          <a:noFill/>
          <a:ln/>
        </p:spPr>
        <p:txBody>
          <a:bodyPr wrap="square" lIns="0" tIns="0" rIns="0" bIns="0" rtlCol="0" anchor="ctr"/>
          <a:lstStyle/>
          <a:p>
            <a:pPr marL="0" indent="0" algn="ctr">
              <a:buNone/>
            </a:pPr>
            <a:r>
              <a:rPr lang="en-US" sz="900" dirty="0">
                <a:solidFill>
                  <a:srgbClr val="263238"/>
                </a:solidFill>
                <a:latin typeface="Calibri" pitchFamily="34" charset="0"/>
                <a:ea typeface="Calibri" pitchFamily="34" charset="-122"/>
                <a:cs typeface="Calibri" pitchFamily="34" charset="-120"/>
              </a:rPr>
              <a:t>4.4 Klik 'Konfirmasi'</a:t>
            </a:r>
            <a:endParaRPr lang="en-US" sz="900" dirty="0"/>
          </a:p>
        </p:txBody>
      </p:sp>
      <p:sp>
        <p:nvSpPr>
          <p:cNvPr id="49" name="Shape 47"/>
          <p:cNvSpPr/>
          <p:nvPr/>
        </p:nvSpPr>
        <p:spPr>
          <a:xfrm>
            <a:off x="548640" y="5532120"/>
            <a:ext cx="11064240" cy="1051560"/>
          </a:xfrm>
          <a:prstGeom prst="roundRect">
            <a:avLst>
              <a:gd name="adj" fmla="val 6957"/>
            </a:avLst>
          </a:prstGeom>
          <a:solidFill>
            <a:srgbClr val="2E7D32">
              <a:alpha val="8000"/>
            </a:srgbClr>
          </a:solidFill>
          <a:ln/>
        </p:spPr>
      </p:sp>
      <p:sp>
        <p:nvSpPr>
          <p:cNvPr id="50" name="Shape 48"/>
          <p:cNvSpPr/>
          <p:nvPr/>
        </p:nvSpPr>
        <p:spPr>
          <a:xfrm>
            <a:off x="731520" y="5669280"/>
            <a:ext cx="640080" cy="640080"/>
          </a:xfrm>
          <a:prstGeom prst="ellipse">
            <a:avLst/>
          </a:prstGeom>
          <a:solidFill>
            <a:srgbClr val="2E7D32">
              <a:alpha val="12000"/>
            </a:srgbClr>
          </a:solidFill>
          <a:ln/>
        </p:spPr>
      </p:sp>
      <p:pic>
        <p:nvPicPr>
          <p:cNvPr id="51" name="Image 0" descr="icons/shield_green.png"/>
          <p:cNvPicPr>
            <a:picLocks noChangeAspect="1"/>
          </p:cNvPicPr>
          <p:nvPr/>
        </p:nvPicPr>
        <p:blipFill>
          <a:blip r:embed="rId3"/>
          <a:stretch>
            <a:fillRect/>
          </a:stretch>
        </p:blipFill>
        <p:spPr>
          <a:xfrm>
            <a:off x="875538" y="5813298"/>
            <a:ext cx="352044" cy="352044"/>
          </a:xfrm>
          <a:prstGeom prst="rect">
            <a:avLst/>
          </a:prstGeom>
        </p:spPr>
      </p:pic>
      <p:sp>
        <p:nvSpPr>
          <p:cNvPr id="52" name="Text 49"/>
          <p:cNvSpPr/>
          <p:nvPr/>
        </p:nvSpPr>
        <p:spPr>
          <a:xfrm>
            <a:off x="1554480" y="5623560"/>
            <a:ext cx="10058400" cy="320040"/>
          </a:xfrm>
          <a:prstGeom prst="rect">
            <a:avLst/>
          </a:prstGeom>
          <a:noFill/>
          <a:ln/>
        </p:spPr>
        <p:txBody>
          <a:bodyPr wrap="square" lIns="0" tIns="0" rIns="0" bIns="0"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4.2 Privacy Compliance — UU PDP No. 27 of 2022 (Indonesia's Personal Data Protection Law)</a:t>
            </a:r>
            <a:endParaRPr lang="en-US" sz="1300" dirty="0"/>
          </a:p>
        </p:txBody>
      </p:sp>
      <p:sp>
        <p:nvSpPr>
          <p:cNvPr id="53" name="Text 50"/>
          <p:cNvSpPr/>
          <p:nvPr/>
        </p:nvSpPr>
        <p:spPr>
          <a:xfrm>
            <a:off x="1554480" y="5989320"/>
            <a:ext cx="10058400" cy="502920"/>
          </a:xfrm>
          <a:prstGeom prst="rect">
            <a:avLst/>
          </a:prstGeom>
          <a:noFill/>
          <a:ln/>
        </p:spPr>
        <p:txBody>
          <a:bodyPr wrap="square" lIns="0" tIns="0" rIns="0" bIns="0" rtlCol="0" anchor="ctr"/>
          <a:lstStyle/>
          <a:p>
            <a:pPr marL="0" indent="0">
              <a:lnSpc>
                <a:spcPct val="115000"/>
              </a:lnSpc>
              <a:buNone/>
            </a:pPr>
            <a:r>
              <a:rPr lang="en-US" sz="1150" b="1" dirty="0">
                <a:solidFill>
                  <a:srgbClr val="2E7D32"/>
                </a:solidFill>
                <a:latin typeface="Calibri" pitchFamily="34" charset="0"/>
                <a:ea typeface="Calibri" pitchFamily="34" charset="-122"/>
                <a:cs typeface="Calibri" pitchFamily="34" charset="-120"/>
              </a:rPr>
              <a:t>Data Collection: </a:t>
            </a:r>
            <a:r>
              <a:rPr lang="en-US" sz="1150" dirty="0">
                <a:solidFill>
                  <a:srgbClr val="263238"/>
                </a:solidFill>
                <a:latin typeface="Calibri" pitchFamily="34" charset="0"/>
                <a:ea typeface="Calibri" pitchFamily="34" charset="-122"/>
                <a:cs typeface="Calibri" pitchFamily="34" charset="-120"/>
              </a:rPr>
              <a:t>Only essential transactional data (Name, Email, Phone, Address).   </a:t>
            </a:r>
            <a:r>
              <a:rPr lang="en-US" sz="1150" b="1" dirty="0">
                <a:solidFill>
                  <a:srgbClr val="2E7D32"/>
                </a:solidFill>
                <a:latin typeface="Calibri" pitchFamily="34" charset="0"/>
                <a:ea typeface="Calibri" pitchFamily="34" charset="-122"/>
                <a:cs typeface="Calibri" pitchFamily="34" charset="-120"/>
              </a:rPr>
              <a:t>Encryption: </a:t>
            </a:r>
            <a:r>
              <a:rPr lang="en-US" sz="1150" dirty="0">
                <a:solidFill>
                  <a:srgbClr val="263238"/>
                </a:solidFill>
                <a:latin typeface="Calibri" pitchFamily="34" charset="0"/>
                <a:ea typeface="Calibri" pitchFamily="34" charset="-122"/>
                <a:cs typeface="Calibri" pitchFamily="34" charset="-120"/>
              </a:rPr>
              <a:t>User data &amp; credentials secured via Google Firebase.   </a:t>
            </a:r>
            <a:r>
              <a:rPr lang="en-US" sz="1150" b="1" dirty="0">
                <a:solidFill>
                  <a:srgbClr val="2E7D32"/>
                </a:solidFill>
                <a:latin typeface="Calibri" pitchFamily="34" charset="0"/>
                <a:ea typeface="Calibri" pitchFamily="34" charset="-122"/>
                <a:cs typeface="Calibri" pitchFamily="34" charset="-120"/>
              </a:rPr>
              <a:t>Ethical UX: </a:t>
            </a:r>
            <a:r>
              <a:rPr lang="en-US" sz="1150" dirty="0">
                <a:solidFill>
                  <a:srgbClr val="263238"/>
                </a:solidFill>
                <a:latin typeface="Calibri" pitchFamily="34" charset="0"/>
                <a:ea typeface="Calibri" pitchFamily="34" charset="-122"/>
                <a:cs typeface="Calibri" pitchFamily="34" charset="-120"/>
              </a:rPr>
              <a:t>Checkout explicitly warns users not to enter real card data during simulation.</a:t>
            </a:r>
            <a:endParaRPr lang="en-US" sz="1150" dirty="0"/>
          </a:p>
        </p:txBody>
      </p:sp>
      <p:sp>
        <p:nvSpPr>
          <p:cNvPr id="54" name="Text 51"/>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Ch.4.1–4.2, Fig. 4.1</a:t>
            </a:r>
            <a:endParaRPr lang="en-US" sz="1000" dirty="0"/>
          </a:p>
        </p:txBody>
      </p:sp>
      <p:sp>
        <p:nvSpPr>
          <p:cNvPr id="55" name="Text 52"/>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5.1 — IDEATE PHASE</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Lo-Fi Wireframes &amp; Storyboard</a:t>
            </a:r>
            <a:endParaRPr lang="en-US" sz="3200" dirty="0"/>
          </a:p>
        </p:txBody>
      </p:sp>
      <p:sp>
        <p:nvSpPr>
          <p:cNvPr id="4" name="Text 2"/>
          <p:cNvSpPr/>
          <p:nvPr/>
        </p:nvSpPr>
        <p:spPr>
          <a:xfrm>
            <a:off x="548640" y="1554480"/>
            <a:ext cx="7772400" cy="457200"/>
          </a:xfrm>
          <a:prstGeom prst="rect">
            <a:avLst/>
          </a:prstGeom>
          <a:noFill/>
          <a:ln/>
        </p:spPr>
        <p:txBody>
          <a:bodyPr wrap="square" lIns="0" tIns="0" rIns="0" bIns="0" rtlCol="0" anchor="ctr"/>
          <a:lstStyle/>
          <a:p>
            <a:pPr marL="0" indent="0">
              <a:buNone/>
            </a:pPr>
            <a:r>
              <a:rPr lang="en-US" sz="1350" dirty="0">
                <a:solidFill>
                  <a:srgbClr val="64748B"/>
                </a:solidFill>
                <a:latin typeface="Calibri" pitchFamily="34" charset="0"/>
                <a:ea typeface="Calibri" pitchFamily="34" charset="-122"/>
                <a:cs typeface="Calibri" pitchFamily="34" charset="-120"/>
              </a:rPr>
              <a:t>Rapid paper sketching (Crazy 8s) produced 8 lo-fi screens, plus a storyboard mapping the “Context of Use” for a sick user.</a:t>
            </a:r>
            <a:endParaRPr lang="en-US" sz="1350" dirty="0"/>
          </a:p>
        </p:txBody>
      </p:sp>
      <p:sp>
        <p:nvSpPr>
          <p:cNvPr id="5" name="Shape 3"/>
          <p:cNvSpPr/>
          <p:nvPr/>
        </p:nvSpPr>
        <p:spPr>
          <a:xfrm>
            <a:off x="548640" y="2148840"/>
            <a:ext cx="1874520" cy="3383280"/>
          </a:xfrm>
          <a:prstGeom prst="roundRect">
            <a:avLst>
              <a:gd name="adj" fmla="val 2927"/>
            </a:avLst>
          </a:prstGeom>
          <a:solidFill>
            <a:srgbClr val="FFFFFF"/>
          </a:solidFill>
          <a:ln/>
          <a:effectLst>
            <a:outerShdw blurRad="101600" dist="38100" dir="2700000" algn="bl" rotWithShape="0">
              <a:srgbClr val="1B5E20">
                <a:alpha val="18000"/>
              </a:srgbClr>
            </a:outerShdw>
          </a:effectLst>
        </p:spPr>
      </p:sp>
      <p:pic>
        <p:nvPicPr>
          <p:cNvPr id="6" name="Image 0" descr="images/lofi_login.png"/>
          <p:cNvPicPr>
            <a:picLocks noChangeAspect="1"/>
          </p:cNvPicPr>
          <p:nvPr/>
        </p:nvPicPr>
        <p:blipFill>
          <a:blip r:embed="rId3"/>
          <a:srcRect/>
          <a:stretch/>
        </p:blipFill>
        <p:spPr>
          <a:xfrm>
            <a:off x="858129" y="2258568"/>
            <a:ext cx="1255542" cy="2880360"/>
          </a:xfrm>
          <a:prstGeom prst="rect">
            <a:avLst/>
          </a:prstGeom>
        </p:spPr>
      </p:pic>
      <p:sp>
        <p:nvSpPr>
          <p:cNvPr id="7" name="Text 4"/>
          <p:cNvSpPr/>
          <p:nvPr/>
        </p:nvSpPr>
        <p:spPr>
          <a:xfrm>
            <a:off x="548640" y="5166360"/>
            <a:ext cx="1874520" cy="320040"/>
          </a:xfrm>
          <a:prstGeom prst="rect">
            <a:avLst/>
          </a:prstGeom>
          <a:noFill/>
          <a:ln/>
        </p:spPr>
        <p:txBody>
          <a:bodyPr wrap="square" lIns="0" tIns="0" rIns="0" bIns="0" rtlCol="0" anchor="ctr"/>
          <a:lstStyle/>
          <a:p>
            <a:pPr marL="0" indent="0" algn="ctr">
              <a:buNone/>
            </a:pPr>
            <a:r>
              <a:rPr lang="en-US" sz="1100" b="1" dirty="0">
                <a:solidFill>
                  <a:srgbClr val="1B5E20"/>
                </a:solidFill>
                <a:latin typeface="Calibri" pitchFamily="34" charset="0"/>
                <a:ea typeface="Calibri" pitchFamily="34" charset="-122"/>
                <a:cs typeface="Calibri" pitchFamily="34" charset="-120"/>
              </a:rPr>
              <a:t>Login</a:t>
            </a:r>
            <a:endParaRPr lang="en-US" sz="1100" dirty="0"/>
          </a:p>
        </p:txBody>
      </p:sp>
      <p:sp>
        <p:nvSpPr>
          <p:cNvPr id="8" name="Shape 5"/>
          <p:cNvSpPr/>
          <p:nvPr/>
        </p:nvSpPr>
        <p:spPr>
          <a:xfrm>
            <a:off x="2679192" y="2148840"/>
            <a:ext cx="1874520" cy="3383280"/>
          </a:xfrm>
          <a:prstGeom prst="roundRect">
            <a:avLst>
              <a:gd name="adj" fmla="val 2927"/>
            </a:avLst>
          </a:prstGeom>
          <a:solidFill>
            <a:srgbClr val="FFFFFF"/>
          </a:solidFill>
          <a:ln/>
          <a:effectLst>
            <a:outerShdw blurRad="101600" dist="38100" dir="2700000" algn="bl" rotWithShape="0">
              <a:srgbClr val="1B5E20">
                <a:alpha val="18000"/>
              </a:srgbClr>
            </a:outerShdw>
          </a:effectLst>
        </p:spPr>
      </p:sp>
      <p:pic>
        <p:nvPicPr>
          <p:cNvPr id="9" name="Image 1" descr="images/lofi_home.png"/>
          <p:cNvPicPr>
            <a:picLocks noChangeAspect="1"/>
          </p:cNvPicPr>
          <p:nvPr/>
        </p:nvPicPr>
        <p:blipFill>
          <a:blip r:embed="rId4"/>
          <a:srcRect/>
          <a:stretch/>
        </p:blipFill>
        <p:spPr>
          <a:xfrm>
            <a:off x="2988681" y="2258568"/>
            <a:ext cx="1255542" cy="2880360"/>
          </a:xfrm>
          <a:prstGeom prst="rect">
            <a:avLst/>
          </a:prstGeom>
        </p:spPr>
      </p:pic>
      <p:sp>
        <p:nvSpPr>
          <p:cNvPr id="10" name="Text 6"/>
          <p:cNvSpPr/>
          <p:nvPr/>
        </p:nvSpPr>
        <p:spPr>
          <a:xfrm>
            <a:off x="2679192" y="5166360"/>
            <a:ext cx="1874520" cy="320040"/>
          </a:xfrm>
          <a:prstGeom prst="rect">
            <a:avLst/>
          </a:prstGeom>
          <a:noFill/>
          <a:ln/>
        </p:spPr>
        <p:txBody>
          <a:bodyPr wrap="square" lIns="0" tIns="0" rIns="0" bIns="0" rtlCol="0" anchor="ctr"/>
          <a:lstStyle/>
          <a:p>
            <a:pPr marL="0" indent="0" algn="ctr">
              <a:buNone/>
            </a:pPr>
            <a:r>
              <a:rPr lang="en-US" sz="1100" b="1" dirty="0">
                <a:solidFill>
                  <a:srgbClr val="1B5E20"/>
                </a:solidFill>
                <a:latin typeface="Calibri" pitchFamily="34" charset="0"/>
                <a:ea typeface="Calibri" pitchFamily="34" charset="-122"/>
                <a:cs typeface="Calibri" pitchFamily="34" charset="-120"/>
              </a:rPr>
              <a:t>Home</a:t>
            </a:r>
            <a:endParaRPr lang="en-US" sz="1100" dirty="0"/>
          </a:p>
        </p:txBody>
      </p:sp>
      <p:sp>
        <p:nvSpPr>
          <p:cNvPr id="11" name="Shape 7"/>
          <p:cNvSpPr/>
          <p:nvPr/>
        </p:nvSpPr>
        <p:spPr>
          <a:xfrm>
            <a:off x="4809744" y="2148840"/>
            <a:ext cx="1874520" cy="3383280"/>
          </a:xfrm>
          <a:prstGeom prst="roundRect">
            <a:avLst>
              <a:gd name="adj" fmla="val 2927"/>
            </a:avLst>
          </a:prstGeom>
          <a:solidFill>
            <a:srgbClr val="FFFFFF"/>
          </a:solidFill>
          <a:ln/>
          <a:effectLst>
            <a:outerShdw blurRad="101600" dist="38100" dir="2700000" algn="bl" rotWithShape="0">
              <a:srgbClr val="1B5E20">
                <a:alpha val="18000"/>
              </a:srgbClr>
            </a:outerShdw>
          </a:effectLst>
        </p:spPr>
      </p:sp>
      <p:pic>
        <p:nvPicPr>
          <p:cNvPr id="12" name="Image 2" descr="images/lofi_pdp.png"/>
          <p:cNvPicPr>
            <a:picLocks noChangeAspect="1"/>
          </p:cNvPicPr>
          <p:nvPr/>
        </p:nvPicPr>
        <p:blipFill>
          <a:blip r:embed="rId5"/>
          <a:srcRect/>
          <a:stretch/>
        </p:blipFill>
        <p:spPr>
          <a:xfrm>
            <a:off x="5119233" y="2258568"/>
            <a:ext cx="1255542" cy="2880360"/>
          </a:xfrm>
          <a:prstGeom prst="rect">
            <a:avLst/>
          </a:prstGeom>
        </p:spPr>
      </p:pic>
      <p:sp>
        <p:nvSpPr>
          <p:cNvPr id="13" name="Text 8"/>
          <p:cNvSpPr/>
          <p:nvPr/>
        </p:nvSpPr>
        <p:spPr>
          <a:xfrm>
            <a:off x="4809744" y="5166360"/>
            <a:ext cx="1874520" cy="320040"/>
          </a:xfrm>
          <a:prstGeom prst="rect">
            <a:avLst/>
          </a:prstGeom>
          <a:noFill/>
          <a:ln/>
        </p:spPr>
        <p:txBody>
          <a:bodyPr wrap="square" lIns="0" tIns="0" rIns="0" bIns="0" rtlCol="0" anchor="ctr"/>
          <a:lstStyle/>
          <a:p>
            <a:pPr marL="0" indent="0" algn="ctr">
              <a:buNone/>
            </a:pPr>
            <a:r>
              <a:rPr lang="en-US" sz="1100" b="1" dirty="0">
                <a:solidFill>
                  <a:srgbClr val="1B5E20"/>
                </a:solidFill>
                <a:latin typeface="Calibri" pitchFamily="34" charset="0"/>
                <a:ea typeface="Calibri" pitchFamily="34" charset="-122"/>
                <a:cs typeface="Calibri" pitchFamily="34" charset="-120"/>
              </a:rPr>
              <a:t>Product Detail</a:t>
            </a:r>
            <a:endParaRPr lang="en-US" sz="1100" dirty="0"/>
          </a:p>
        </p:txBody>
      </p:sp>
      <p:sp>
        <p:nvSpPr>
          <p:cNvPr id="14" name="Shape 9"/>
          <p:cNvSpPr/>
          <p:nvPr/>
        </p:nvSpPr>
        <p:spPr>
          <a:xfrm>
            <a:off x="6940296" y="2148840"/>
            <a:ext cx="1874520" cy="3383280"/>
          </a:xfrm>
          <a:prstGeom prst="roundRect">
            <a:avLst>
              <a:gd name="adj" fmla="val 2927"/>
            </a:avLst>
          </a:prstGeom>
          <a:solidFill>
            <a:srgbClr val="FFFFFF"/>
          </a:solidFill>
          <a:ln/>
          <a:effectLst>
            <a:outerShdw blurRad="101600" dist="38100" dir="2700000" algn="bl" rotWithShape="0">
              <a:srgbClr val="1B5E20">
                <a:alpha val="18000"/>
              </a:srgbClr>
            </a:outerShdw>
          </a:effectLst>
        </p:spPr>
      </p:sp>
      <p:pic>
        <p:nvPicPr>
          <p:cNvPr id="15" name="Image 3" descr="images/lofi_cart.png"/>
          <p:cNvPicPr>
            <a:picLocks noChangeAspect="1"/>
          </p:cNvPicPr>
          <p:nvPr/>
        </p:nvPicPr>
        <p:blipFill>
          <a:blip r:embed="rId6"/>
          <a:srcRect/>
          <a:stretch/>
        </p:blipFill>
        <p:spPr>
          <a:xfrm>
            <a:off x="7249785" y="2258568"/>
            <a:ext cx="1255542" cy="2880360"/>
          </a:xfrm>
          <a:prstGeom prst="rect">
            <a:avLst/>
          </a:prstGeom>
        </p:spPr>
      </p:pic>
      <p:sp>
        <p:nvSpPr>
          <p:cNvPr id="16" name="Text 10"/>
          <p:cNvSpPr/>
          <p:nvPr/>
        </p:nvSpPr>
        <p:spPr>
          <a:xfrm>
            <a:off x="6940296" y="5166360"/>
            <a:ext cx="1874520" cy="320040"/>
          </a:xfrm>
          <a:prstGeom prst="rect">
            <a:avLst/>
          </a:prstGeom>
          <a:noFill/>
          <a:ln/>
        </p:spPr>
        <p:txBody>
          <a:bodyPr wrap="square" lIns="0" tIns="0" rIns="0" bIns="0" rtlCol="0" anchor="ctr"/>
          <a:lstStyle/>
          <a:p>
            <a:pPr marL="0" indent="0" algn="ctr">
              <a:buNone/>
            </a:pPr>
            <a:r>
              <a:rPr lang="en-US" sz="1100" b="1" dirty="0">
                <a:solidFill>
                  <a:srgbClr val="1B5E20"/>
                </a:solidFill>
                <a:latin typeface="Calibri" pitchFamily="34" charset="0"/>
                <a:ea typeface="Calibri" pitchFamily="34" charset="-122"/>
                <a:cs typeface="Calibri" pitchFamily="34" charset="-120"/>
              </a:rPr>
              <a:t>Cart</a:t>
            </a:r>
            <a:endParaRPr lang="en-US" sz="1100" dirty="0"/>
          </a:p>
        </p:txBody>
      </p:sp>
      <p:sp>
        <p:nvSpPr>
          <p:cNvPr id="17" name="Shape 11"/>
          <p:cNvSpPr/>
          <p:nvPr/>
        </p:nvSpPr>
        <p:spPr>
          <a:xfrm>
            <a:off x="9070848" y="2148840"/>
            <a:ext cx="2542032" cy="3383280"/>
          </a:xfrm>
          <a:prstGeom prst="roundRect">
            <a:avLst>
              <a:gd name="adj" fmla="val 2158"/>
            </a:avLst>
          </a:prstGeom>
          <a:solidFill>
            <a:srgbClr val="FFFFFF"/>
          </a:solidFill>
          <a:ln/>
          <a:effectLst>
            <a:outerShdw blurRad="101600" dist="38100" dir="2700000" algn="bl" rotWithShape="0">
              <a:srgbClr val="1B5E20">
                <a:alpha val="18000"/>
              </a:srgbClr>
            </a:outerShdw>
          </a:effectLst>
        </p:spPr>
      </p:sp>
      <p:sp>
        <p:nvSpPr>
          <p:cNvPr id="18" name="Text 12"/>
          <p:cNvSpPr/>
          <p:nvPr/>
        </p:nvSpPr>
        <p:spPr>
          <a:xfrm>
            <a:off x="9208008" y="2240280"/>
            <a:ext cx="2286000" cy="320040"/>
          </a:xfrm>
          <a:prstGeom prst="rect">
            <a:avLst/>
          </a:prstGeom>
          <a:noFill/>
          <a:ln/>
        </p:spPr>
        <p:txBody>
          <a:bodyPr wrap="square" lIns="0" tIns="0" rIns="0" bIns="0" rtlCol="0" anchor="ctr"/>
          <a:lstStyle/>
          <a:p>
            <a:pPr marL="0" indent="0">
              <a:buNone/>
            </a:pPr>
            <a:r>
              <a:rPr lang="en-US" sz="1100" b="1" dirty="0">
                <a:solidFill>
                  <a:srgbClr val="263238"/>
                </a:solidFill>
                <a:latin typeface="Calibri" pitchFamily="34" charset="0"/>
                <a:ea typeface="Calibri" pitchFamily="34" charset="-122"/>
                <a:cs typeface="Calibri" pitchFamily="34" charset="-120"/>
              </a:rPr>
              <a:t>Storyboard: Context of Use</a:t>
            </a:r>
            <a:endParaRPr lang="en-US" sz="1100" dirty="0"/>
          </a:p>
        </p:txBody>
      </p:sp>
      <p:pic>
        <p:nvPicPr>
          <p:cNvPr id="19" name="Image 4" descr="images/p13_1.png"/>
          <p:cNvPicPr>
            <a:picLocks noChangeAspect="1"/>
          </p:cNvPicPr>
          <p:nvPr/>
        </p:nvPicPr>
        <p:blipFill>
          <a:blip r:embed="rId7"/>
          <a:srcRect l="-2972" r="-2972"/>
          <a:stretch/>
        </p:blipFill>
        <p:spPr>
          <a:xfrm>
            <a:off x="9208008" y="2560320"/>
            <a:ext cx="2084832" cy="2834640"/>
          </a:xfrm>
          <a:prstGeom prst="rect">
            <a:avLst/>
          </a:prstGeom>
        </p:spPr>
      </p:pic>
      <p:sp>
        <p:nvSpPr>
          <p:cNvPr id="20" name="Text 13"/>
          <p:cNvSpPr/>
          <p:nvPr/>
        </p:nvSpPr>
        <p:spPr>
          <a:xfrm>
            <a:off x="548640" y="5715000"/>
            <a:ext cx="11064240" cy="36576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Login → Home → Product Detail → Cart → Checkout → Orders → Profile → Favorites — all 8 screens were sketched before moving to Hi-Fi.</a:t>
            </a:r>
            <a:endParaRPr lang="en-US" sz="1200" dirty="0"/>
          </a:p>
        </p:txBody>
      </p:sp>
      <p:sp>
        <p:nvSpPr>
          <p:cNvPr id="21" name="Text 14"/>
          <p:cNvSpPr/>
          <p:nvPr/>
        </p:nvSpPr>
        <p:spPr>
          <a:xfrm>
            <a:off x="548640" y="6126480"/>
            <a:ext cx="11064240" cy="320040"/>
          </a:xfrm>
          <a:prstGeom prst="rect">
            <a:avLst/>
          </a:prstGeom>
          <a:noFill/>
          <a:ln/>
        </p:spPr>
        <p:txBody>
          <a:bodyPr wrap="square" lIns="0" tIns="0" rIns="0" bIns="0" rtlCol="0" anchor="ctr"/>
          <a:lstStyle/>
          <a:p>
            <a:pPr marL="0" indent="0">
              <a:buNone/>
            </a:pPr>
            <a:r>
              <a:rPr lang="en-US" sz="1100" dirty="0">
                <a:solidFill>
                  <a:srgbClr val="64748B"/>
                </a:solidFill>
                <a:latin typeface="Calibri" pitchFamily="34" charset="0"/>
                <a:ea typeface="Calibri" pitchFamily="34" charset="-122"/>
                <a:cs typeface="Calibri" pitchFamily="34" charset="-120"/>
              </a:rPr>
              <a:t>Lo-Fi Wireframe &amp; Storyboard files: linked in report Ch.5.1 (Google Drive)</a:t>
            </a:r>
            <a:endParaRPr lang="en-US" sz="1100" dirty="0"/>
          </a:p>
        </p:txBody>
      </p:sp>
      <p:sp>
        <p:nvSpPr>
          <p:cNvPr id="22" name="Text 15"/>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Fig. 5.1a–5.1e</a:t>
            </a:r>
            <a:endParaRPr lang="en-US" sz="1000" dirty="0"/>
          </a:p>
        </p:txBody>
      </p:sp>
      <p:sp>
        <p:nvSpPr>
          <p:cNvPr id="23" name="Text 16"/>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5.2 — HI-FI PROTOTYPING (FIGMA)</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Every Pixel Has a Reason</a:t>
            </a:r>
            <a:endParaRPr lang="en-US" sz="3200" dirty="0"/>
          </a:p>
        </p:txBody>
      </p:sp>
      <p:sp>
        <p:nvSpPr>
          <p:cNvPr id="4" name="Shape 2"/>
          <p:cNvSpPr/>
          <p:nvPr/>
        </p:nvSpPr>
        <p:spPr>
          <a:xfrm>
            <a:off x="548640" y="1600200"/>
            <a:ext cx="2148840" cy="4160520"/>
          </a:xfrm>
          <a:prstGeom prst="roundRect">
            <a:avLst>
              <a:gd name="adj" fmla="val 2553"/>
            </a:avLst>
          </a:prstGeom>
          <a:solidFill>
            <a:srgbClr val="F1F5F2"/>
          </a:solidFill>
          <a:ln/>
          <a:effectLst>
            <a:outerShdw blurRad="101600" dist="38100" dir="2700000" algn="bl" rotWithShape="0">
              <a:srgbClr val="1B5E20">
                <a:alpha val="18000"/>
              </a:srgbClr>
            </a:outerShdw>
          </a:effectLst>
        </p:spPr>
      </p:sp>
      <p:pic>
        <p:nvPicPr>
          <p:cNvPr id="5" name="Image 0" descr="images/hifi_home.png"/>
          <p:cNvPicPr>
            <a:picLocks noChangeAspect="1"/>
          </p:cNvPicPr>
          <p:nvPr/>
        </p:nvPicPr>
        <p:blipFill>
          <a:blip r:embed="rId3"/>
          <a:srcRect/>
          <a:stretch/>
        </p:blipFill>
        <p:spPr>
          <a:xfrm>
            <a:off x="662940" y="1691640"/>
            <a:ext cx="1920240" cy="3977640"/>
          </a:xfrm>
          <a:prstGeom prst="rect">
            <a:avLst/>
          </a:prstGeom>
        </p:spPr>
      </p:pic>
      <p:sp>
        <p:nvSpPr>
          <p:cNvPr id="6" name="Shape 3"/>
          <p:cNvSpPr/>
          <p:nvPr/>
        </p:nvSpPr>
        <p:spPr>
          <a:xfrm>
            <a:off x="2880360" y="1600200"/>
            <a:ext cx="2148840" cy="4160520"/>
          </a:xfrm>
          <a:prstGeom prst="roundRect">
            <a:avLst>
              <a:gd name="adj" fmla="val 2553"/>
            </a:avLst>
          </a:prstGeom>
          <a:solidFill>
            <a:srgbClr val="F1F5F2"/>
          </a:solidFill>
          <a:ln/>
          <a:effectLst>
            <a:outerShdw blurRad="101600" dist="38100" dir="2700000" algn="bl" rotWithShape="0">
              <a:srgbClr val="1B5E20">
                <a:alpha val="18000"/>
              </a:srgbClr>
            </a:outerShdw>
          </a:effectLst>
        </p:spPr>
      </p:sp>
      <p:pic>
        <p:nvPicPr>
          <p:cNvPr id="7" name="Image 1" descr="images/hifi_pdp.png"/>
          <p:cNvPicPr>
            <a:picLocks noChangeAspect="1"/>
          </p:cNvPicPr>
          <p:nvPr/>
        </p:nvPicPr>
        <p:blipFill>
          <a:blip r:embed="rId4"/>
          <a:srcRect/>
          <a:stretch/>
        </p:blipFill>
        <p:spPr>
          <a:xfrm>
            <a:off x="2994660" y="1691640"/>
            <a:ext cx="1920240" cy="3977640"/>
          </a:xfrm>
          <a:prstGeom prst="rect">
            <a:avLst/>
          </a:prstGeom>
        </p:spPr>
      </p:pic>
      <p:sp>
        <p:nvSpPr>
          <p:cNvPr id="8" name="Text 4"/>
          <p:cNvSpPr/>
          <p:nvPr/>
        </p:nvSpPr>
        <p:spPr>
          <a:xfrm>
            <a:off x="548640" y="5897880"/>
            <a:ext cx="5029200" cy="54864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Hi-Fi screens replicate K-24 brand colors &amp; typography — strictly checked against Figma in implementation.</a:t>
            </a:r>
            <a:endParaRPr lang="en-US" sz="1050" dirty="0"/>
          </a:p>
        </p:txBody>
      </p:sp>
      <p:sp>
        <p:nvSpPr>
          <p:cNvPr id="9" name="Shape 5"/>
          <p:cNvSpPr/>
          <p:nvPr/>
        </p:nvSpPr>
        <p:spPr>
          <a:xfrm>
            <a:off x="5349240" y="1600200"/>
            <a:ext cx="512064" cy="512064"/>
          </a:xfrm>
          <a:prstGeom prst="ellipse">
            <a:avLst/>
          </a:prstGeom>
          <a:solidFill>
            <a:srgbClr val="2E7D32">
              <a:alpha val="12000"/>
            </a:srgbClr>
          </a:solidFill>
          <a:ln/>
        </p:spPr>
      </p:sp>
      <p:pic>
        <p:nvPicPr>
          <p:cNvPr id="10" name="Image 2" descr="icons/moon_green.png"/>
          <p:cNvPicPr>
            <a:picLocks noChangeAspect="1"/>
          </p:cNvPicPr>
          <p:nvPr/>
        </p:nvPicPr>
        <p:blipFill>
          <a:blip r:embed="rId5"/>
          <a:stretch>
            <a:fillRect/>
          </a:stretch>
        </p:blipFill>
        <p:spPr>
          <a:xfrm>
            <a:off x="5464454" y="1715414"/>
            <a:ext cx="281635" cy="281635"/>
          </a:xfrm>
          <a:prstGeom prst="rect">
            <a:avLst/>
          </a:prstGeom>
        </p:spPr>
      </p:pic>
      <p:sp>
        <p:nvSpPr>
          <p:cNvPr id="11" name="Text 6"/>
          <p:cNvSpPr/>
          <p:nvPr/>
        </p:nvSpPr>
        <p:spPr>
          <a:xfrm>
            <a:off x="5989320" y="1581912"/>
            <a:ext cx="5760720" cy="320040"/>
          </a:xfrm>
          <a:prstGeom prst="rect">
            <a:avLst/>
          </a:prstGeom>
          <a:noFill/>
          <a:ln/>
        </p:spPr>
        <p:txBody>
          <a:bodyPr wrap="square" lIns="0" tIns="0" rIns="0" bIns="0"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Visual Ergonomics → Dark Mode</a:t>
            </a:r>
            <a:endParaRPr lang="en-US" sz="1300" dirty="0"/>
          </a:p>
        </p:txBody>
      </p:sp>
      <p:sp>
        <p:nvSpPr>
          <p:cNvPr id="12" name="Text 7"/>
          <p:cNvSpPr/>
          <p:nvPr/>
        </p:nvSpPr>
        <p:spPr>
          <a:xfrm>
            <a:off x="5989320" y="1892808"/>
            <a:ext cx="5760720" cy="502920"/>
          </a:xfrm>
          <a:prstGeom prst="rect">
            <a:avLst/>
          </a:prstGeom>
          <a:noFill/>
          <a:ln/>
        </p:spPr>
        <p:txBody>
          <a:bodyPr wrap="square" lIns="0" tIns="0" rIns="0" bIns="0" rtlCol="0" anchor="ctr"/>
          <a:lstStyle/>
          <a:p>
            <a:pPr marL="0" indent="0">
              <a:lnSpc>
                <a:spcPct val="105000"/>
              </a:lnSpc>
              <a:buNone/>
            </a:pPr>
            <a:r>
              <a:rPr lang="en-US" sz="1050" dirty="0">
                <a:solidFill>
                  <a:srgbClr val="64748B"/>
                </a:solidFill>
                <a:latin typeface="Calibri" pitchFamily="34" charset="0"/>
                <a:ea typeface="Calibri" pitchFamily="34" charset="-122"/>
                <a:cs typeface="Calibri" pitchFamily="34" charset="-120"/>
              </a:rPr>
              <a:t>“Mata lelah melihat kontras tinggi terlalu lama” — Dark Mode reduces visual fatigue for late-night medicine searches. (Slide 56)</a:t>
            </a:r>
            <a:endParaRPr lang="en-US" sz="1050" dirty="0"/>
          </a:p>
        </p:txBody>
      </p:sp>
      <p:sp>
        <p:nvSpPr>
          <p:cNvPr id="13" name="Shape 8"/>
          <p:cNvSpPr/>
          <p:nvPr/>
        </p:nvSpPr>
        <p:spPr>
          <a:xfrm>
            <a:off x="5349240" y="2441448"/>
            <a:ext cx="512064" cy="512064"/>
          </a:xfrm>
          <a:prstGeom prst="ellipse">
            <a:avLst/>
          </a:prstGeom>
          <a:solidFill>
            <a:srgbClr val="2E7D32">
              <a:alpha val="12000"/>
            </a:srgbClr>
          </a:solidFill>
          <a:ln/>
        </p:spPr>
      </p:sp>
      <p:pic>
        <p:nvPicPr>
          <p:cNvPr id="14" name="Image 3" descr="icons/tap_green.png"/>
          <p:cNvPicPr>
            <a:picLocks noChangeAspect="1"/>
          </p:cNvPicPr>
          <p:nvPr/>
        </p:nvPicPr>
        <p:blipFill>
          <a:blip r:embed="rId6"/>
          <a:stretch>
            <a:fillRect/>
          </a:stretch>
        </p:blipFill>
        <p:spPr>
          <a:xfrm>
            <a:off x="5464454" y="2556662"/>
            <a:ext cx="281635" cy="281635"/>
          </a:xfrm>
          <a:prstGeom prst="rect">
            <a:avLst/>
          </a:prstGeom>
        </p:spPr>
      </p:pic>
      <p:sp>
        <p:nvSpPr>
          <p:cNvPr id="15" name="Text 9"/>
          <p:cNvSpPr/>
          <p:nvPr/>
        </p:nvSpPr>
        <p:spPr>
          <a:xfrm>
            <a:off x="5989320" y="2423160"/>
            <a:ext cx="5760720" cy="320040"/>
          </a:xfrm>
          <a:prstGeom prst="rect">
            <a:avLst/>
          </a:prstGeom>
          <a:noFill/>
          <a:ln/>
        </p:spPr>
        <p:txBody>
          <a:bodyPr wrap="square" lIns="0" tIns="0" rIns="0" bIns="0"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Physical Ergonomics → Thumb Zone</a:t>
            </a:r>
            <a:endParaRPr lang="en-US" sz="1300" dirty="0"/>
          </a:p>
        </p:txBody>
      </p:sp>
      <p:sp>
        <p:nvSpPr>
          <p:cNvPr id="16" name="Text 10"/>
          <p:cNvSpPr/>
          <p:nvPr/>
        </p:nvSpPr>
        <p:spPr>
          <a:xfrm>
            <a:off x="5989320" y="2734056"/>
            <a:ext cx="5760720" cy="502920"/>
          </a:xfrm>
          <a:prstGeom prst="rect">
            <a:avLst/>
          </a:prstGeom>
          <a:noFill/>
          <a:ln/>
        </p:spPr>
        <p:txBody>
          <a:bodyPr wrap="square" lIns="0" tIns="0" rIns="0" bIns="0" rtlCol="0" anchor="ctr"/>
          <a:lstStyle/>
          <a:p>
            <a:pPr marL="0" indent="0">
              <a:lnSpc>
                <a:spcPct val="105000"/>
              </a:lnSpc>
              <a:buNone/>
            </a:pPr>
            <a:r>
              <a:rPr lang="en-US" sz="1050" dirty="0">
                <a:solidFill>
                  <a:srgbClr val="64748B"/>
                </a:solidFill>
                <a:latin typeface="Calibri" pitchFamily="34" charset="0"/>
                <a:ea typeface="Calibri" pitchFamily="34" charset="-122"/>
                <a:cs typeface="Calibri" pitchFamily="34" charset="-120"/>
              </a:rPr>
              <a:t>Core nav &amp; 'Add to Cart' sit in the Thumb Zone; tap targets meet Apple HIG 44×44pt minimum. (Slides 174–175)</a:t>
            </a:r>
            <a:endParaRPr lang="en-US" sz="1050" dirty="0"/>
          </a:p>
        </p:txBody>
      </p:sp>
      <p:sp>
        <p:nvSpPr>
          <p:cNvPr id="17" name="Shape 11"/>
          <p:cNvSpPr/>
          <p:nvPr/>
        </p:nvSpPr>
        <p:spPr>
          <a:xfrm>
            <a:off x="5349240" y="3282696"/>
            <a:ext cx="512064" cy="512064"/>
          </a:xfrm>
          <a:prstGeom prst="ellipse">
            <a:avLst/>
          </a:prstGeom>
          <a:solidFill>
            <a:srgbClr val="2E7D32">
              <a:alpha val="12000"/>
            </a:srgbClr>
          </a:solidFill>
          <a:ln/>
        </p:spPr>
      </p:sp>
      <p:pic>
        <p:nvPicPr>
          <p:cNvPr id="18" name="Image 4" descr="icons/layers_green.png"/>
          <p:cNvPicPr>
            <a:picLocks noChangeAspect="1"/>
          </p:cNvPicPr>
          <p:nvPr/>
        </p:nvPicPr>
        <p:blipFill>
          <a:blip r:embed="rId7"/>
          <a:stretch>
            <a:fillRect/>
          </a:stretch>
        </p:blipFill>
        <p:spPr>
          <a:xfrm>
            <a:off x="5464454" y="3397910"/>
            <a:ext cx="281635" cy="281635"/>
          </a:xfrm>
          <a:prstGeom prst="rect">
            <a:avLst/>
          </a:prstGeom>
        </p:spPr>
      </p:pic>
      <p:sp>
        <p:nvSpPr>
          <p:cNvPr id="19" name="Text 12"/>
          <p:cNvSpPr/>
          <p:nvPr/>
        </p:nvSpPr>
        <p:spPr>
          <a:xfrm>
            <a:off x="5989320" y="3264408"/>
            <a:ext cx="5760720" cy="320040"/>
          </a:xfrm>
          <a:prstGeom prst="rect">
            <a:avLst/>
          </a:prstGeom>
          <a:noFill/>
          <a:ln/>
        </p:spPr>
        <p:txBody>
          <a:bodyPr wrap="square" lIns="0" tIns="0" rIns="0" bIns="0"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Cognitive Ergonomics → Accordions</a:t>
            </a:r>
            <a:endParaRPr lang="en-US" sz="1300" dirty="0"/>
          </a:p>
        </p:txBody>
      </p:sp>
      <p:sp>
        <p:nvSpPr>
          <p:cNvPr id="20" name="Text 13"/>
          <p:cNvSpPr/>
          <p:nvPr/>
        </p:nvSpPr>
        <p:spPr>
          <a:xfrm>
            <a:off x="5989320" y="3575304"/>
            <a:ext cx="5760720" cy="502920"/>
          </a:xfrm>
          <a:prstGeom prst="rect">
            <a:avLst/>
          </a:prstGeom>
          <a:noFill/>
          <a:ln/>
        </p:spPr>
        <p:txBody>
          <a:bodyPr wrap="square" lIns="0" tIns="0" rIns="0" bIns="0" rtlCol="0" anchor="ctr"/>
          <a:lstStyle/>
          <a:p>
            <a:pPr marL="0" indent="0">
              <a:lnSpc>
                <a:spcPct val="105000"/>
              </a:lnSpc>
              <a:buNone/>
            </a:pPr>
            <a:r>
              <a:rPr lang="en-US" sz="1050" dirty="0">
                <a:solidFill>
                  <a:srgbClr val="64748B"/>
                </a:solidFill>
                <a:latin typeface="Calibri" pitchFamily="34" charset="0"/>
                <a:ea typeface="Calibri" pitchFamily="34" charset="-122"/>
                <a:cs typeface="Calibri" pitchFamily="34" charset="-120"/>
              </a:rPr>
              <a:t>“Kurangi beban memori &amp; sederhanakan proses” — heavy medical text (Deskripsi, Dosis) hidden in collapsible tabs. (Slide 176)</a:t>
            </a:r>
            <a:endParaRPr lang="en-US" sz="1050" dirty="0"/>
          </a:p>
        </p:txBody>
      </p:sp>
      <p:sp>
        <p:nvSpPr>
          <p:cNvPr id="21" name="Shape 14"/>
          <p:cNvSpPr/>
          <p:nvPr/>
        </p:nvSpPr>
        <p:spPr>
          <a:xfrm>
            <a:off x="5349240" y="4123944"/>
            <a:ext cx="512064" cy="512064"/>
          </a:xfrm>
          <a:prstGeom prst="ellipse">
            <a:avLst/>
          </a:prstGeom>
          <a:solidFill>
            <a:srgbClr val="2E7D32">
              <a:alpha val="12000"/>
            </a:srgbClr>
          </a:solidFill>
          <a:ln/>
        </p:spPr>
      </p:sp>
      <p:pic>
        <p:nvPicPr>
          <p:cNvPr id="22" name="Image 5" descr="icons/balance_green.png"/>
          <p:cNvPicPr>
            <a:picLocks noChangeAspect="1"/>
          </p:cNvPicPr>
          <p:nvPr/>
        </p:nvPicPr>
        <p:blipFill>
          <a:blip r:embed="rId8"/>
          <a:stretch>
            <a:fillRect/>
          </a:stretch>
        </p:blipFill>
        <p:spPr>
          <a:xfrm>
            <a:off x="5464454" y="4239158"/>
            <a:ext cx="281635" cy="281635"/>
          </a:xfrm>
          <a:prstGeom prst="rect">
            <a:avLst/>
          </a:prstGeom>
        </p:spPr>
      </p:pic>
      <p:sp>
        <p:nvSpPr>
          <p:cNvPr id="23" name="Text 15"/>
          <p:cNvSpPr/>
          <p:nvPr/>
        </p:nvSpPr>
        <p:spPr>
          <a:xfrm>
            <a:off x="5989320" y="4105656"/>
            <a:ext cx="5760720" cy="320040"/>
          </a:xfrm>
          <a:prstGeom prst="rect">
            <a:avLst/>
          </a:prstGeom>
          <a:noFill/>
          <a:ln/>
        </p:spPr>
        <p:txBody>
          <a:bodyPr wrap="square" lIns="0" tIns="0" rIns="0" bIns="0"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Nielsen H8 / H3 / H6 / H9</a:t>
            </a:r>
            <a:endParaRPr lang="en-US" sz="1300" dirty="0"/>
          </a:p>
        </p:txBody>
      </p:sp>
      <p:sp>
        <p:nvSpPr>
          <p:cNvPr id="24" name="Text 16"/>
          <p:cNvSpPr/>
          <p:nvPr/>
        </p:nvSpPr>
        <p:spPr>
          <a:xfrm>
            <a:off x="5989320" y="4416552"/>
            <a:ext cx="5760720" cy="502920"/>
          </a:xfrm>
          <a:prstGeom prst="rect">
            <a:avLst/>
          </a:prstGeom>
          <a:noFill/>
          <a:ln/>
        </p:spPr>
        <p:txBody>
          <a:bodyPr wrap="square" lIns="0" tIns="0" rIns="0" bIns="0" rtlCol="0" anchor="ctr"/>
          <a:lstStyle/>
          <a:p>
            <a:pPr marL="0" indent="0">
              <a:lnSpc>
                <a:spcPct val="105000"/>
              </a:lnSpc>
              <a:buNone/>
            </a:pPr>
            <a:r>
              <a:rPr lang="en-US" sz="1050" dirty="0">
                <a:solidFill>
                  <a:srgbClr val="64748B"/>
                </a:solidFill>
                <a:latin typeface="Calibri" pitchFamily="34" charset="0"/>
                <a:ea typeface="Calibri" pitchFamily="34" charset="-122"/>
                <a:cs typeface="Calibri" pitchFamily="34" charset="-120"/>
              </a:rPr>
              <a:t>Stripped pop-ups (H8); free browsing without forced login (H3); category chips for recall (H6); polite 'Not Found' empty states &amp; avatar fallback (H9).</a:t>
            </a:r>
            <a:endParaRPr lang="en-US" sz="1050" dirty="0"/>
          </a:p>
        </p:txBody>
      </p:sp>
      <p:sp>
        <p:nvSpPr>
          <p:cNvPr id="25" name="Shape 17"/>
          <p:cNvSpPr/>
          <p:nvPr/>
        </p:nvSpPr>
        <p:spPr>
          <a:xfrm>
            <a:off x="5349240" y="4965192"/>
            <a:ext cx="512064" cy="512064"/>
          </a:xfrm>
          <a:prstGeom prst="ellipse">
            <a:avLst/>
          </a:prstGeom>
          <a:solidFill>
            <a:srgbClr val="2E7D32">
              <a:alpha val="12000"/>
            </a:srgbClr>
          </a:solidFill>
          <a:ln/>
        </p:spPr>
      </p:sp>
      <p:pic>
        <p:nvPicPr>
          <p:cNvPr id="26" name="Image 6" descr="icons/language_green.png"/>
          <p:cNvPicPr>
            <a:picLocks noChangeAspect="1"/>
          </p:cNvPicPr>
          <p:nvPr/>
        </p:nvPicPr>
        <p:blipFill>
          <a:blip r:embed="rId9"/>
          <a:stretch>
            <a:fillRect/>
          </a:stretch>
        </p:blipFill>
        <p:spPr>
          <a:xfrm>
            <a:off x="5464454" y="5080406"/>
            <a:ext cx="281635" cy="281635"/>
          </a:xfrm>
          <a:prstGeom prst="rect">
            <a:avLst/>
          </a:prstGeom>
        </p:spPr>
      </p:pic>
      <p:sp>
        <p:nvSpPr>
          <p:cNvPr id="27" name="Text 18"/>
          <p:cNvSpPr/>
          <p:nvPr/>
        </p:nvSpPr>
        <p:spPr>
          <a:xfrm>
            <a:off x="5989320" y="4946904"/>
            <a:ext cx="5760720" cy="320040"/>
          </a:xfrm>
          <a:prstGeom prst="rect">
            <a:avLst/>
          </a:prstGeom>
          <a:noFill/>
          <a:ln/>
        </p:spPr>
        <p:txBody>
          <a:bodyPr wrap="square" lIns="0" tIns="0" rIns="0" bIns="0"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Shneiderman — Universal Usability &amp; Closure</a:t>
            </a:r>
            <a:endParaRPr lang="en-US" sz="1300" dirty="0"/>
          </a:p>
        </p:txBody>
      </p:sp>
      <p:sp>
        <p:nvSpPr>
          <p:cNvPr id="28" name="Text 19"/>
          <p:cNvSpPr/>
          <p:nvPr/>
        </p:nvSpPr>
        <p:spPr>
          <a:xfrm>
            <a:off x="5989320" y="5257800"/>
            <a:ext cx="5760720" cy="502920"/>
          </a:xfrm>
          <a:prstGeom prst="rect">
            <a:avLst/>
          </a:prstGeom>
          <a:noFill/>
          <a:ln/>
        </p:spPr>
        <p:txBody>
          <a:bodyPr wrap="square" lIns="0" tIns="0" rIns="0" bIns="0" rtlCol="0" anchor="ctr"/>
          <a:lstStyle/>
          <a:p>
            <a:pPr marL="0" indent="0">
              <a:lnSpc>
                <a:spcPct val="105000"/>
              </a:lnSpc>
              <a:buNone/>
            </a:pPr>
            <a:r>
              <a:rPr lang="en-US" sz="1050" dirty="0">
                <a:solidFill>
                  <a:srgbClr val="64748B"/>
                </a:solidFill>
                <a:latin typeface="Calibri" pitchFamily="34" charset="0"/>
                <a:ea typeface="Calibri" pitchFamily="34" charset="-122"/>
                <a:cs typeface="Calibri" pitchFamily="34" charset="-120"/>
              </a:rPr>
              <a:t>EN/ID language toggle for diverse users; “Pesanan Berhasil!” confirmation gives psychological closure after checkout.</a:t>
            </a:r>
            <a:endParaRPr lang="en-US" sz="1050" dirty="0"/>
          </a:p>
        </p:txBody>
      </p:sp>
      <p:sp>
        <p:nvSpPr>
          <p:cNvPr id="29" name="Shape 20"/>
          <p:cNvSpPr/>
          <p:nvPr/>
        </p:nvSpPr>
        <p:spPr>
          <a:xfrm>
            <a:off x="5349240" y="5806440"/>
            <a:ext cx="512064" cy="512064"/>
          </a:xfrm>
          <a:prstGeom prst="ellipse">
            <a:avLst/>
          </a:prstGeom>
          <a:solidFill>
            <a:srgbClr val="2E7D32">
              <a:alpha val="12000"/>
            </a:srgbClr>
          </a:solidFill>
          <a:ln/>
        </p:spPr>
      </p:sp>
      <p:pic>
        <p:nvPicPr>
          <p:cNvPr id="30" name="Image 7" descr="icons/list_green.png"/>
          <p:cNvPicPr>
            <a:picLocks noChangeAspect="1"/>
          </p:cNvPicPr>
          <p:nvPr/>
        </p:nvPicPr>
        <p:blipFill>
          <a:blip r:embed="rId10"/>
          <a:stretch>
            <a:fillRect/>
          </a:stretch>
        </p:blipFill>
        <p:spPr>
          <a:xfrm>
            <a:off x="5464454" y="5921654"/>
            <a:ext cx="281635" cy="281635"/>
          </a:xfrm>
          <a:prstGeom prst="rect">
            <a:avLst/>
          </a:prstGeom>
        </p:spPr>
      </p:pic>
      <p:sp>
        <p:nvSpPr>
          <p:cNvPr id="31" name="Text 21"/>
          <p:cNvSpPr/>
          <p:nvPr/>
        </p:nvSpPr>
        <p:spPr>
          <a:xfrm>
            <a:off x="5989320" y="5788152"/>
            <a:ext cx="5760720" cy="320040"/>
          </a:xfrm>
          <a:prstGeom prst="rect">
            <a:avLst/>
          </a:prstGeom>
          <a:noFill/>
          <a:ln/>
        </p:spPr>
        <p:txBody>
          <a:bodyPr wrap="square" lIns="0" tIns="0" rIns="0" bIns="0"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Gestalt &amp; CRAP</a:t>
            </a:r>
            <a:endParaRPr lang="en-US" sz="1300" dirty="0"/>
          </a:p>
        </p:txBody>
      </p:sp>
      <p:sp>
        <p:nvSpPr>
          <p:cNvPr id="32" name="Text 22"/>
          <p:cNvSpPr/>
          <p:nvPr/>
        </p:nvSpPr>
        <p:spPr>
          <a:xfrm>
            <a:off x="5989320" y="6099048"/>
            <a:ext cx="5760720" cy="502920"/>
          </a:xfrm>
          <a:prstGeom prst="rect">
            <a:avLst/>
          </a:prstGeom>
          <a:noFill/>
          <a:ln/>
        </p:spPr>
        <p:txBody>
          <a:bodyPr wrap="square" lIns="0" tIns="0" rIns="0" bIns="0" rtlCol="0" anchor="ctr"/>
          <a:lstStyle/>
          <a:p>
            <a:pPr marL="0" indent="0">
              <a:lnSpc>
                <a:spcPct val="105000"/>
              </a:lnSpc>
              <a:buNone/>
            </a:pPr>
            <a:r>
              <a:rPr lang="en-US" sz="1050" dirty="0">
                <a:solidFill>
                  <a:srgbClr val="64748B"/>
                </a:solidFill>
                <a:latin typeface="Calibri" pitchFamily="34" charset="0"/>
                <a:ea typeface="Calibri" pitchFamily="34" charset="-122"/>
                <a:cs typeface="Calibri" pitchFamily="34" charset="-120"/>
              </a:rPr>
              <a:t>Identical product card dimensions + Card-style order history (Similarity / Figure-Ground); K-24 Green #2E7D32 on white passes WCAG AA 4.5:1 (Contrast); price details grouped via Proximity in checkout.</a:t>
            </a:r>
            <a:endParaRPr lang="en-US" sz="1050" dirty="0"/>
          </a:p>
        </p:txBody>
      </p:sp>
      <p:sp>
        <p:nvSpPr>
          <p:cNvPr id="33" name="Text 23"/>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Ch.5.2, Fig. 5.3a–5.3b</a:t>
            </a:r>
            <a:endParaRPr lang="en-US" sz="1000" dirty="0"/>
          </a:p>
        </p:txBody>
      </p:sp>
      <p:sp>
        <p:nvSpPr>
          <p:cNvPr id="34" name="Text 24"/>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5.3 — FEATURE-BY-FEATURE UX REASONING</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Walking Through the Final Flow</a:t>
            </a:r>
            <a:endParaRPr lang="en-US" sz="3200" dirty="0"/>
          </a:p>
        </p:txBody>
      </p:sp>
      <p:sp>
        <p:nvSpPr>
          <p:cNvPr id="4" name="Text 2"/>
          <p:cNvSpPr/>
          <p:nvPr/>
        </p:nvSpPr>
        <p:spPr>
          <a:xfrm>
            <a:off x="548640" y="1554480"/>
            <a:ext cx="9144000" cy="365760"/>
          </a:xfrm>
          <a:prstGeom prst="rect">
            <a:avLst/>
          </a:prstGeom>
          <a:noFill/>
          <a:ln/>
        </p:spPr>
        <p:txBody>
          <a:bodyPr wrap="square" lIns="0" tIns="0" rIns="0" bIns="0" rtlCol="0" anchor="ctr"/>
          <a:lstStyle/>
          <a:p>
            <a:pPr marL="0" indent="0">
              <a:buNone/>
            </a:pPr>
            <a:r>
              <a:rPr lang="en-US" sz="1350" dirty="0">
                <a:solidFill>
                  <a:srgbClr val="64748B"/>
                </a:solidFill>
                <a:latin typeface="Calibri" pitchFamily="34" charset="0"/>
                <a:ea typeface="Calibri" pitchFamily="34" charset="-122"/>
                <a:cs typeface="Calibri" pitchFamily="34" charset="-120"/>
              </a:rPr>
              <a:t>Each screen in the prototype was designed to streamline one part of the user journey from the HTA.</a:t>
            </a:r>
            <a:endParaRPr lang="en-US" sz="1350" dirty="0"/>
          </a:p>
        </p:txBody>
      </p:sp>
      <p:sp>
        <p:nvSpPr>
          <p:cNvPr id="5" name="Shape 3"/>
          <p:cNvSpPr/>
          <p:nvPr/>
        </p:nvSpPr>
        <p:spPr>
          <a:xfrm>
            <a:off x="548640" y="1920240"/>
            <a:ext cx="3611880" cy="2103120"/>
          </a:xfrm>
          <a:prstGeom prst="roundRect">
            <a:avLst>
              <a:gd name="adj" fmla="val 3478"/>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6" name="Shape 4"/>
          <p:cNvSpPr/>
          <p:nvPr/>
        </p:nvSpPr>
        <p:spPr>
          <a:xfrm>
            <a:off x="822960" y="2148840"/>
            <a:ext cx="548640" cy="548640"/>
          </a:xfrm>
          <a:prstGeom prst="ellipse">
            <a:avLst/>
          </a:prstGeom>
          <a:solidFill>
            <a:srgbClr val="2E7D32">
              <a:alpha val="12000"/>
            </a:srgbClr>
          </a:solidFill>
          <a:ln/>
        </p:spPr>
      </p:sp>
      <p:pic>
        <p:nvPicPr>
          <p:cNvPr id="7" name="Image 0" descr="icons/shield_green.png"/>
          <p:cNvPicPr>
            <a:picLocks noChangeAspect="1"/>
          </p:cNvPicPr>
          <p:nvPr/>
        </p:nvPicPr>
        <p:blipFill>
          <a:blip r:embed="rId3"/>
          <a:stretch>
            <a:fillRect/>
          </a:stretch>
        </p:blipFill>
        <p:spPr>
          <a:xfrm>
            <a:off x="946404" y="2272284"/>
            <a:ext cx="301752" cy="301752"/>
          </a:xfrm>
          <a:prstGeom prst="rect">
            <a:avLst/>
          </a:prstGeom>
        </p:spPr>
      </p:pic>
      <p:sp>
        <p:nvSpPr>
          <p:cNvPr id="8" name="Text 5"/>
          <p:cNvSpPr/>
          <p:nvPr/>
        </p:nvSpPr>
        <p:spPr>
          <a:xfrm>
            <a:off x="822960" y="2788920"/>
            <a:ext cx="3063240" cy="36576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Authentication Flow</a:t>
            </a:r>
            <a:endParaRPr lang="en-US" sz="1400" dirty="0"/>
          </a:p>
        </p:txBody>
      </p:sp>
      <p:sp>
        <p:nvSpPr>
          <p:cNvPr id="9" name="Text 6"/>
          <p:cNvSpPr/>
          <p:nvPr/>
        </p:nvSpPr>
        <p:spPr>
          <a:xfrm>
            <a:off x="822960" y="3154680"/>
            <a:ext cx="3063240" cy="804672"/>
          </a:xfrm>
          <a:prstGeom prst="rect">
            <a:avLst/>
          </a:prstGeom>
          <a:noFill/>
          <a:ln/>
        </p:spPr>
        <p:txBody>
          <a:bodyPr wrap="square" lIns="0" tIns="0" rIns="0" bIns="0" rtlCol="0" anchor="ctr"/>
          <a:lstStyle/>
          <a:p>
            <a:pPr marL="0" indent="0">
              <a:lnSpc>
                <a:spcPct val="108000"/>
              </a:lnSpc>
              <a:buNone/>
            </a:pPr>
            <a:r>
              <a:rPr lang="en-US" sz="1100" dirty="0">
                <a:solidFill>
                  <a:srgbClr val="64748B"/>
                </a:solidFill>
                <a:latin typeface="Calibri" pitchFamily="34" charset="0"/>
                <a:ea typeface="Calibri" pitchFamily="34" charset="-122"/>
                <a:cs typeface="Calibri" pitchFamily="34" charset="-120"/>
              </a:rPr>
              <a:t>Prioritizes Error Prevention — Forgot Password sends a real reset link; Register forces Confirm Password validation.</a:t>
            </a:r>
            <a:endParaRPr lang="en-US" sz="1100" dirty="0"/>
          </a:p>
        </p:txBody>
      </p:sp>
      <p:sp>
        <p:nvSpPr>
          <p:cNvPr id="10" name="Shape 7"/>
          <p:cNvSpPr/>
          <p:nvPr/>
        </p:nvSpPr>
        <p:spPr>
          <a:xfrm>
            <a:off x="4480560" y="1920240"/>
            <a:ext cx="3611880" cy="2103120"/>
          </a:xfrm>
          <a:prstGeom prst="roundRect">
            <a:avLst>
              <a:gd name="adj" fmla="val 3478"/>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1" name="Shape 8"/>
          <p:cNvSpPr/>
          <p:nvPr/>
        </p:nvSpPr>
        <p:spPr>
          <a:xfrm>
            <a:off x="4754880" y="2148840"/>
            <a:ext cx="548640" cy="548640"/>
          </a:xfrm>
          <a:prstGeom prst="ellipse">
            <a:avLst/>
          </a:prstGeom>
          <a:solidFill>
            <a:srgbClr val="2E7D32">
              <a:alpha val="12000"/>
            </a:srgbClr>
          </a:solidFill>
          <a:ln/>
        </p:spPr>
      </p:sp>
      <p:pic>
        <p:nvPicPr>
          <p:cNvPr id="12" name="Image 1" descr="icons/tap_green.png"/>
          <p:cNvPicPr>
            <a:picLocks noChangeAspect="1"/>
          </p:cNvPicPr>
          <p:nvPr/>
        </p:nvPicPr>
        <p:blipFill>
          <a:blip r:embed="rId4"/>
          <a:stretch>
            <a:fillRect/>
          </a:stretch>
        </p:blipFill>
        <p:spPr>
          <a:xfrm>
            <a:off x="4878324" y="2272284"/>
            <a:ext cx="301752" cy="301752"/>
          </a:xfrm>
          <a:prstGeom prst="rect">
            <a:avLst/>
          </a:prstGeom>
        </p:spPr>
      </p:pic>
      <p:sp>
        <p:nvSpPr>
          <p:cNvPr id="13" name="Text 9"/>
          <p:cNvSpPr/>
          <p:nvPr/>
        </p:nvSpPr>
        <p:spPr>
          <a:xfrm>
            <a:off x="4754880" y="2788920"/>
            <a:ext cx="3063240" cy="36576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Bottom Navigation Bar</a:t>
            </a:r>
            <a:endParaRPr lang="en-US" sz="1400" dirty="0"/>
          </a:p>
        </p:txBody>
      </p:sp>
      <p:sp>
        <p:nvSpPr>
          <p:cNvPr id="14" name="Text 10"/>
          <p:cNvSpPr/>
          <p:nvPr/>
        </p:nvSpPr>
        <p:spPr>
          <a:xfrm>
            <a:off x="4754880" y="3154680"/>
            <a:ext cx="3063240" cy="804672"/>
          </a:xfrm>
          <a:prstGeom prst="rect">
            <a:avLst/>
          </a:prstGeom>
          <a:noFill/>
          <a:ln/>
        </p:spPr>
        <p:txBody>
          <a:bodyPr wrap="square" lIns="0" tIns="0" rIns="0" bIns="0" rtlCol="0" anchor="ctr"/>
          <a:lstStyle/>
          <a:p>
            <a:pPr marL="0" indent="0">
              <a:lnSpc>
                <a:spcPct val="108000"/>
              </a:lnSpc>
              <a:buNone/>
            </a:pPr>
            <a:r>
              <a:rPr lang="en-US" sz="1100" dirty="0">
                <a:solidFill>
                  <a:srgbClr val="64748B"/>
                </a:solidFill>
                <a:latin typeface="Calibri" pitchFamily="34" charset="0"/>
                <a:ea typeface="Calibri" pitchFamily="34" charset="-122"/>
                <a:cs typeface="Calibri" pitchFamily="34" charset="-120"/>
              </a:rPr>
              <a:t>Anchors the app in the Thumb Zone so users can switch pages safely with one hand.</a:t>
            </a:r>
            <a:endParaRPr lang="en-US" sz="1100" dirty="0"/>
          </a:p>
        </p:txBody>
      </p:sp>
      <p:sp>
        <p:nvSpPr>
          <p:cNvPr id="15" name="Shape 11"/>
          <p:cNvSpPr/>
          <p:nvPr/>
        </p:nvSpPr>
        <p:spPr>
          <a:xfrm>
            <a:off x="8412480" y="1920240"/>
            <a:ext cx="3611880" cy="2103120"/>
          </a:xfrm>
          <a:prstGeom prst="roundRect">
            <a:avLst>
              <a:gd name="adj" fmla="val 3478"/>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6" name="Shape 12"/>
          <p:cNvSpPr/>
          <p:nvPr/>
        </p:nvSpPr>
        <p:spPr>
          <a:xfrm>
            <a:off x="8686800" y="2148840"/>
            <a:ext cx="548640" cy="548640"/>
          </a:xfrm>
          <a:prstGeom prst="ellipse">
            <a:avLst/>
          </a:prstGeom>
          <a:solidFill>
            <a:srgbClr val="2E7D32">
              <a:alpha val="12000"/>
            </a:srgbClr>
          </a:solidFill>
          <a:ln/>
        </p:spPr>
      </p:sp>
      <p:pic>
        <p:nvPicPr>
          <p:cNvPr id="17" name="Image 2" descr="icons/search_green.png"/>
          <p:cNvPicPr>
            <a:picLocks noChangeAspect="1"/>
          </p:cNvPicPr>
          <p:nvPr/>
        </p:nvPicPr>
        <p:blipFill>
          <a:blip r:embed="rId5"/>
          <a:stretch>
            <a:fillRect/>
          </a:stretch>
        </p:blipFill>
        <p:spPr>
          <a:xfrm>
            <a:off x="8810244" y="2272284"/>
            <a:ext cx="301752" cy="301752"/>
          </a:xfrm>
          <a:prstGeom prst="rect">
            <a:avLst/>
          </a:prstGeom>
        </p:spPr>
      </p:pic>
      <p:sp>
        <p:nvSpPr>
          <p:cNvPr id="18" name="Text 13"/>
          <p:cNvSpPr/>
          <p:nvPr/>
        </p:nvSpPr>
        <p:spPr>
          <a:xfrm>
            <a:off x="8686800" y="2788920"/>
            <a:ext cx="3063240" cy="36576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Home (Search &amp; Grid)</a:t>
            </a:r>
            <a:endParaRPr lang="en-US" sz="1400" dirty="0"/>
          </a:p>
        </p:txBody>
      </p:sp>
      <p:sp>
        <p:nvSpPr>
          <p:cNvPr id="19" name="Text 14"/>
          <p:cNvSpPr/>
          <p:nvPr/>
        </p:nvSpPr>
        <p:spPr>
          <a:xfrm>
            <a:off x="8686800" y="3154680"/>
            <a:ext cx="3063240" cy="804672"/>
          </a:xfrm>
          <a:prstGeom prst="rect">
            <a:avLst/>
          </a:prstGeom>
          <a:noFill/>
          <a:ln/>
        </p:spPr>
        <p:txBody>
          <a:bodyPr wrap="square" lIns="0" tIns="0" rIns="0" bIns="0" rtlCol="0" anchor="ctr"/>
          <a:lstStyle/>
          <a:p>
            <a:pPr marL="0" indent="0">
              <a:lnSpc>
                <a:spcPct val="108000"/>
              </a:lnSpc>
              <a:buNone/>
            </a:pPr>
            <a:r>
              <a:rPr lang="en-US" sz="1100" dirty="0">
                <a:solidFill>
                  <a:srgbClr val="64748B"/>
                </a:solidFill>
                <a:latin typeface="Calibri" pitchFamily="34" charset="0"/>
                <a:ea typeface="Calibri" pitchFamily="34" charset="-122"/>
                <a:cs typeface="Calibri" pitchFamily="34" charset="-120"/>
              </a:rPr>
              <a:t>Category chips give Recognition over Recall; adaptive grid (maxCrossAxisExtent) prevents stretched images on wider screens.</a:t>
            </a:r>
            <a:endParaRPr lang="en-US" sz="1100" dirty="0"/>
          </a:p>
        </p:txBody>
      </p:sp>
      <p:sp>
        <p:nvSpPr>
          <p:cNvPr id="20" name="Shape 15"/>
          <p:cNvSpPr/>
          <p:nvPr/>
        </p:nvSpPr>
        <p:spPr>
          <a:xfrm>
            <a:off x="548640" y="4279392"/>
            <a:ext cx="3611880" cy="2103120"/>
          </a:xfrm>
          <a:prstGeom prst="roundRect">
            <a:avLst>
              <a:gd name="adj" fmla="val 3478"/>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21" name="Shape 16"/>
          <p:cNvSpPr/>
          <p:nvPr/>
        </p:nvSpPr>
        <p:spPr>
          <a:xfrm>
            <a:off x="822960" y="4507992"/>
            <a:ext cx="548640" cy="548640"/>
          </a:xfrm>
          <a:prstGeom prst="ellipse">
            <a:avLst/>
          </a:prstGeom>
          <a:solidFill>
            <a:srgbClr val="2E7D32">
              <a:alpha val="12000"/>
            </a:srgbClr>
          </a:solidFill>
          <a:ln/>
        </p:spPr>
      </p:sp>
      <p:pic>
        <p:nvPicPr>
          <p:cNvPr id="22" name="Image 3" descr="icons/layers_green.png"/>
          <p:cNvPicPr>
            <a:picLocks noChangeAspect="1"/>
          </p:cNvPicPr>
          <p:nvPr/>
        </p:nvPicPr>
        <p:blipFill>
          <a:blip r:embed="rId6"/>
          <a:stretch>
            <a:fillRect/>
          </a:stretch>
        </p:blipFill>
        <p:spPr>
          <a:xfrm>
            <a:off x="946404" y="4631436"/>
            <a:ext cx="301752" cy="301752"/>
          </a:xfrm>
          <a:prstGeom prst="rect">
            <a:avLst/>
          </a:prstGeom>
        </p:spPr>
      </p:pic>
      <p:sp>
        <p:nvSpPr>
          <p:cNvPr id="23" name="Text 17"/>
          <p:cNvSpPr/>
          <p:nvPr/>
        </p:nvSpPr>
        <p:spPr>
          <a:xfrm>
            <a:off x="822960" y="5148072"/>
            <a:ext cx="3063240" cy="36576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Product Detail Screen</a:t>
            </a:r>
            <a:endParaRPr lang="en-US" sz="1400" dirty="0"/>
          </a:p>
        </p:txBody>
      </p:sp>
      <p:sp>
        <p:nvSpPr>
          <p:cNvPr id="24" name="Text 18"/>
          <p:cNvSpPr/>
          <p:nvPr/>
        </p:nvSpPr>
        <p:spPr>
          <a:xfrm>
            <a:off x="822960" y="5513832"/>
            <a:ext cx="3063240" cy="804672"/>
          </a:xfrm>
          <a:prstGeom prst="rect">
            <a:avLst/>
          </a:prstGeom>
          <a:noFill/>
          <a:ln/>
        </p:spPr>
        <p:txBody>
          <a:bodyPr wrap="square" lIns="0" tIns="0" rIns="0" bIns="0" rtlCol="0" anchor="ctr"/>
          <a:lstStyle/>
          <a:p>
            <a:pPr marL="0" indent="0">
              <a:lnSpc>
                <a:spcPct val="108000"/>
              </a:lnSpc>
              <a:buNone/>
            </a:pPr>
            <a:r>
              <a:rPr lang="en-US" sz="1100" dirty="0">
                <a:solidFill>
                  <a:srgbClr val="64748B"/>
                </a:solidFill>
                <a:latin typeface="Calibri" pitchFamily="34" charset="0"/>
                <a:ea typeface="Calibri" pitchFamily="34" charset="-122"/>
                <a:cs typeface="Calibri" pitchFamily="34" charset="-120"/>
              </a:rPr>
              <a:t>Accordions reduce cognitive load for heavy medical text; 'Add to Cart' triggers an instant SnackBar (System Status Visibility).</a:t>
            </a:r>
            <a:endParaRPr lang="en-US" sz="1100" dirty="0"/>
          </a:p>
        </p:txBody>
      </p:sp>
      <p:sp>
        <p:nvSpPr>
          <p:cNvPr id="25" name="Shape 19"/>
          <p:cNvSpPr/>
          <p:nvPr/>
        </p:nvSpPr>
        <p:spPr>
          <a:xfrm>
            <a:off x="4480560" y="4279392"/>
            <a:ext cx="3611880" cy="2103120"/>
          </a:xfrm>
          <a:prstGeom prst="roundRect">
            <a:avLst>
              <a:gd name="adj" fmla="val 3478"/>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26" name="Shape 20"/>
          <p:cNvSpPr/>
          <p:nvPr/>
        </p:nvSpPr>
        <p:spPr>
          <a:xfrm>
            <a:off x="4754880" y="4507992"/>
            <a:ext cx="548640" cy="548640"/>
          </a:xfrm>
          <a:prstGeom prst="ellipse">
            <a:avLst/>
          </a:prstGeom>
          <a:solidFill>
            <a:srgbClr val="2E7D32">
              <a:alpha val="12000"/>
            </a:srgbClr>
          </a:solidFill>
          <a:ln/>
        </p:spPr>
      </p:sp>
      <p:pic>
        <p:nvPicPr>
          <p:cNvPr id="27" name="Image 4" descr="icons/cart_green.png"/>
          <p:cNvPicPr>
            <a:picLocks noChangeAspect="1"/>
          </p:cNvPicPr>
          <p:nvPr/>
        </p:nvPicPr>
        <p:blipFill>
          <a:blip r:embed="rId7"/>
          <a:stretch>
            <a:fillRect/>
          </a:stretch>
        </p:blipFill>
        <p:spPr>
          <a:xfrm>
            <a:off x="4878324" y="4631436"/>
            <a:ext cx="301752" cy="301752"/>
          </a:xfrm>
          <a:prstGeom prst="rect">
            <a:avLst/>
          </a:prstGeom>
        </p:spPr>
      </p:pic>
      <p:sp>
        <p:nvSpPr>
          <p:cNvPr id="28" name="Text 21"/>
          <p:cNvSpPr/>
          <p:nvPr/>
        </p:nvSpPr>
        <p:spPr>
          <a:xfrm>
            <a:off x="4754880" y="5148072"/>
            <a:ext cx="3063240" cy="36576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Cart &amp; Checkout</a:t>
            </a:r>
            <a:endParaRPr lang="en-US" sz="1400" dirty="0"/>
          </a:p>
        </p:txBody>
      </p:sp>
      <p:sp>
        <p:nvSpPr>
          <p:cNvPr id="29" name="Text 22"/>
          <p:cNvSpPr/>
          <p:nvPr/>
        </p:nvSpPr>
        <p:spPr>
          <a:xfrm>
            <a:off x="4754880" y="5513832"/>
            <a:ext cx="3063240" cy="804672"/>
          </a:xfrm>
          <a:prstGeom prst="rect">
            <a:avLst/>
          </a:prstGeom>
          <a:noFill/>
          <a:ln/>
        </p:spPr>
        <p:txBody>
          <a:bodyPr wrap="square" lIns="0" tIns="0" rIns="0" bIns="0" rtlCol="0" anchor="ctr"/>
          <a:lstStyle/>
          <a:p>
            <a:pPr marL="0" indent="0">
              <a:lnSpc>
                <a:spcPct val="108000"/>
              </a:lnSpc>
              <a:buNone/>
            </a:pPr>
            <a:r>
              <a:rPr lang="en-US" sz="1100" dirty="0">
                <a:solidFill>
                  <a:srgbClr val="64748B"/>
                </a:solidFill>
                <a:latin typeface="Calibri" pitchFamily="34" charset="0"/>
                <a:ea typeface="Calibri" pitchFamily="34" charset="-122"/>
                <a:cs typeface="Calibri" pitchFamily="34" charset="-120"/>
              </a:rPr>
              <a:t>One scrollable page for Flexibility &amp; Efficiency; ethical warning against entering real card data during simulation.</a:t>
            </a:r>
            <a:endParaRPr lang="en-US" sz="1100" dirty="0"/>
          </a:p>
        </p:txBody>
      </p:sp>
      <p:sp>
        <p:nvSpPr>
          <p:cNvPr id="30" name="Shape 23"/>
          <p:cNvSpPr/>
          <p:nvPr/>
        </p:nvSpPr>
        <p:spPr>
          <a:xfrm>
            <a:off x="8412480" y="4279392"/>
            <a:ext cx="3611880" cy="2103120"/>
          </a:xfrm>
          <a:prstGeom prst="roundRect">
            <a:avLst>
              <a:gd name="adj" fmla="val 3478"/>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31" name="Shape 24"/>
          <p:cNvSpPr/>
          <p:nvPr/>
        </p:nvSpPr>
        <p:spPr>
          <a:xfrm>
            <a:off x="8686800" y="4507992"/>
            <a:ext cx="548640" cy="548640"/>
          </a:xfrm>
          <a:prstGeom prst="ellipse">
            <a:avLst/>
          </a:prstGeom>
          <a:solidFill>
            <a:srgbClr val="2E7D32">
              <a:alpha val="12000"/>
            </a:srgbClr>
          </a:solidFill>
          <a:ln/>
        </p:spPr>
      </p:sp>
      <p:pic>
        <p:nvPicPr>
          <p:cNvPr id="32" name="Image 5" descr="icons/cogs_green.png"/>
          <p:cNvPicPr>
            <a:picLocks noChangeAspect="1"/>
          </p:cNvPicPr>
          <p:nvPr/>
        </p:nvPicPr>
        <p:blipFill>
          <a:blip r:embed="rId8"/>
          <a:stretch>
            <a:fillRect/>
          </a:stretch>
        </p:blipFill>
        <p:spPr>
          <a:xfrm>
            <a:off x="8810244" y="4631436"/>
            <a:ext cx="301752" cy="301752"/>
          </a:xfrm>
          <a:prstGeom prst="rect">
            <a:avLst/>
          </a:prstGeom>
        </p:spPr>
      </p:pic>
      <p:sp>
        <p:nvSpPr>
          <p:cNvPr id="33" name="Text 25"/>
          <p:cNvSpPr/>
          <p:nvPr/>
        </p:nvSpPr>
        <p:spPr>
          <a:xfrm>
            <a:off x="8686800" y="5148072"/>
            <a:ext cx="3063240" cy="36576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Profile &amp; Settings Hub</a:t>
            </a:r>
            <a:endParaRPr lang="en-US" sz="1400" dirty="0"/>
          </a:p>
        </p:txBody>
      </p:sp>
      <p:sp>
        <p:nvSpPr>
          <p:cNvPr id="34" name="Text 26"/>
          <p:cNvSpPr/>
          <p:nvPr/>
        </p:nvSpPr>
        <p:spPr>
          <a:xfrm>
            <a:off x="8686800" y="5513832"/>
            <a:ext cx="3063240" cy="804672"/>
          </a:xfrm>
          <a:prstGeom prst="rect">
            <a:avLst/>
          </a:prstGeom>
          <a:noFill/>
          <a:ln/>
        </p:spPr>
        <p:txBody>
          <a:bodyPr wrap="square" lIns="0" tIns="0" rIns="0" bIns="0" rtlCol="0" anchor="ctr"/>
          <a:lstStyle/>
          <a:p>
            <a:pPr marL="0" indent="0">
              <a:lnSpc>
                <a:spcPct val="108000"/>
              </a:lnSpc>
              <a:buNone/>
            </a:pPr>
            <a:r>
              <a:rPr lang="en-US" sz="1100" dirty="0">
                <a:solidFill>
                  <a:srgbClr val="64748B"/>
                </a:solidFill>
                <a:latin typeface="Calibri" pitchFamily="34" charset="0"/>
                <a:ea typeface="Calibri" pitchFamily="34" charset="-122"/>
                <a:cs typeface="Calibri" pitchFamily="34" charset="-120"/>
              </a:rPr>
              <a:t>Adaptive layout — edge-to-edge on mobile, centered on web; fallback avatar logic if a profile image URL breaks.</a:t>
            </a:r>
            <a:endParaRPr lang="en-US" sz="1100" dirty="0"/>
          </a:p>
        </p:txBody>
      </p:sp>
      <p:sp>
        <p:nvSpPr>
          <p:cNvPr id="35" name="Text 27"/>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Ch.5.3</a:t>
            </a:r>
            <a:endParaRPr lang="en-US" sz="1000" dirty="0"/>
          </a:p>
        </p:txBody>
      </p:sp>
      <p:sp>
        <p:nvSpPr>
          <p:cNvPr id="36" name="Text 28"/>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6.1 — IMPLEMENTATION &amp; DEVELOPMENT</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From Figma to a Working Flutter MVP</a:t>
            </a:r>
            <a:endParaRPr lang="en-US" sz="3200" dirty="0"/>
          </a:p>
        </p:txBody>
      </p:sp>
      <p:sp>
        <p:nvSpPr>
          <p:cNvPr id="4" name="Text 2"/>
          <p:cNvSpPr/>
          <p:nvPr/>
        </p:nvSpPr>
        <p:spPr>
          <a:xfrm>
            <a:off x="548640" y="1554480"/>
            <a:ext cx="10972800" cy="411480"/>
          </a:xfrm>
          <a:prstGeom prst="rect">
            <a:avLst/>
          </a:prstGeom>
          <a:noFill/>
          <a:ln/>
        </p:spPr>
        <p:txBody>
          <a:bodyPr wrap="square" lIns="0" tIns="0" rIns="0" bIns="0" rtlCol="0" anchor="ctr"/>
          <a:lstStyle/>
          <a:p>
            <a:pPr marL="0" indent="0">
              <a:buNone/>
            </a:pPr>
            <a:r>
              <a:rPr lang="en-US" sz="1350" dirty="0">
                <a:solidFill>
                  <a:srgbClr val="64748B"/>
                </a:solidFill>
                <a:latin typeface="Calibri" pitchFamily="34" charset="0"/>
                <a:ea typeface="Calibri" pitchFamily="34" charset="-122"/>
                <a:cs typeface="Calibri" pitchFamily="34" charset="-120"/>
              </a:rPr>
              <a:t>The Hi-Fi Figma design was translated into a functional, cross-platform MVP using Flutter — chosen so one codebase ships to both Android (APK) and Web.</a:t>
            </a:r>
            <a:endParaRPr lang="en-US" sz="1350" dirty="0"/>
          </a:p>
        </p:txBody>
      </p:sp>
      <p:sp>
        <p:nvSpPr>
          <p:cNvPr id="5" name="Shape 3"/>
          <p:cNvSpPr/>
          <p:nvPr/>
        </p:nvSpPr>
        <p:spPr>
          <a:xfrm>
            <a:off x="548640" y="2148840"/>
            <a:ext cx="2157984" cy="3657600"/>
          </a:xfrm>
          <a:prstGeom prst="roundRect">
            <a:avLst>
              <a:gd name="adj" fmla="val 3390"/>
            </a:avLst>
          </a:prstGeom>
          <a:solidFill>
            <a:srgbClr val="F5F5F5"/>
          </a:solidFill>
          <a:ln/>
          <a:effectLst>
            <a:outerShdw blurRad="101600" dist="38100" dir="2700000" algn="bl" rotWithShape="0">
              <a:srgbClr val="1B5E20">
                <a:alpha val="18000"/>
              </a:srgbClr>
            </a:outerShdw>
          </a:effectLst>
        </p:spPr>
      </p:sp>
      <p:sp>
        <p:nvSpPr>
          <p:cNvPr id="6" name="Shape 4"/>
          <p:cNvSpPr/>
          <p:nvPr/>
        </p:nvSpPr>
        <p:spPr>
          <a:xfrm>
            <a:off x="777240" y="2377440"/>
            <a:ext cx="594360" cy="594360"/>
          </a:xfrm>
          <a:prstGeom prst="ellipse">
            <a:avLst/>
          </a:prstGeom>
          <a:solidFill>
            <a:srgbClr val="2E7D32">
              <a:alpha val="12000"/>
            </a:srgbClr>
          </a:solidFill>
          <a:ln/>
        </p:spPr>
      </p:sp>
      <p:pic>
        <p:nvPicPr>
          <p:cNvPr id="7" name="Image 0" descr="icons/mobile_green.png"/>
          <p:cNvPicPr>
            <a:picLocks noChangeAspect="1"/>
          </p:cNvPicPr>
          <p:nvPr/>
        </p:nvPicPr>
        <p:blipFill>
          <a:blip r:embed="rId3"/>
          <a:stretch>
            <a:fillRect/>
          </a:stretch>
        </p:blipFill>
        <p:spPr>
          <a:xfrm>
            <a:off x="910971" y="2511171"/>
            <a:ext cx="326898" cy="326898"/>
          </a:xfrm>
          <a:prstGeom prst="rect">
            <a:avLst/>
          </a:prstGeom>
        </p:spPr>
      </p:pic>
      <p:sp>
        <p:nvSpPr>
          <p:cNvPr id="8" name="Text 5"/>
          <p:cNvSpPr/>
          <p:nvPr/>
        </p:nvSpPr>
        <p:spPr>
          <a:xfrm>
            <a:off x="731520" y="3108960"/>
            <a:ext cx="1792224" cy="36576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Flutter</a:t>
            </a:r>
            <a:endParaRPr lang="en-US" sz="1500" dirty="0"/>
          </a:p>
        </p:txBody>
      </p:sp>
      <p:sp>
        <p:nvSpPr>
          <p:cNvPr id="9" name="Text 6"/>
          <p:cNvSpPr/>
          <p:nvPr/>
        </p:nvSpPr>
        <p:spPr>
          <a:xfrm>
            <a:off x="731520" y="3474720"/>
            <a:ext cx="1792224" cy="320040"/>
          </a:xfrm>
          <a:prstGeom prst="rect">
            <a:avLst/>
          </a:prstGeom>
          <a:noFill/>
          <a:ln/>
        </p:spPr>
        <p:txBody>
          <a:bodyPr wrap="square" lIns="0" tIns="0" rIns="0" bIns="0"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Frontend Framework</a:t>
            </a:r>
            <a:endParaRPr lang="en-US" sz="1050" dirty="0"/>
          </a:p>
        </p:txBody>
      </p:sp>
      <p:sp>
        <p:nvSpPr>
          <p:cNvPr id="10" name="Text 7"/>
          <p:cNvSpPr/>
          <p:nvPr/>
        </p:nvSpPr>
        <p:spPr>
          <a:xfrm>
            <a:off x="731520" y="3840480"/>
            <a:ext cx="1792224" cy="1874520"/>
          </a:xfrm>
          <a:prstGeom prst="rect">
            <a:avLst/>
          </a:prstGeom>
          <a:noFill/>
          <a:ln/>
        </p:spPr>
        <p:txBody>
          <a:bodyPr wrap="square" lIns="0" tIns="0" rIns="0" bIns="0" rtlCol="0" anchor="ctr"/>
          <a:lstStyle/>
          <a:p>
            <a:pPr marL="0" indent="0">
              <a:lnSpc>
                <a:spcPct val="112000"/>
              </a:lnSpc>
              <a:buNone/>
            </a:pPr>
            <a:r>
              <a:rPr lang="en-US" sz="1050" dirty="0">
                <a:solidFill>
                  <a:srgbClr val="64748B"/>
                </a:solidFill>
                <a:latin typeface="Calibri" pitchFamily="34" charset="0"/>
                <a:ea typeface="Calibri" pitchFamily="34" charset="-122"/>
                <a:cs typeface="Calibri" pitchFamily="34" charset="-120"/>
              </a:rPr>
              <a:t>Visually identical app for Android &amp; Web from a single codebase — cross-platform consistency.</a:t>
            </a:r>
            <a:endParaRPr lang="en-US" sz="1050" dirty="0"/>
          </a:p>
        </p:txBody>
      </p:sp>
      <p:sp>
        <p:nvSpPr>
          <p:cNvPr id="11" name="Shape 8"/>
          <p:cNvSpPr/>
          <p:nvPr/>
        </p:nvSpPr>
        <p:spPr>
          <a:xfrm>
            <a:off x="2852928" y="2148840"/>
            <a:ext cx="2157984" cy="3657600"/>
          </a:xfrm>
          <a:prstGeom prst="roundRect">
            <a:avLst>
              <a:gd name="adj" fmla="val 3390"/>
            </a:avLst>
          </a:prstGeom>
          <a:solidFill>
            <a:srgbClr val="F5F5F5"/>
          </a:solidFill>
          <a:ln/>
          <a:effectLst>
            <a:outerShdw blurRad="101600" dist="38100" dir="2700000" algn="bl" rotWithShape="0">
              <a:srgbClr val="1B5E20">
                <a:alpha val="18000"/>
              </a:srgbClr>
            </a:outerShdw>
          </a:effectLst>
        </p:spPr>
      </p:sp>
      <p:sp>
        <p:nvSpPr>
          <p:cNvPr id="12" name="Shape 9"/>
          <p:cNvSpPr/>
          <p:nvPr/>
        </p:nvSpPr>
        <p:spPr>
          <a:xfrm>
            <a:off x="3081528" y="2377440"/>
            <a:ext cx="594360" cy="594360"/>
          </a:xfrm>
          <a:prstGeom prst="ellipse">
            <a:avLst/>
          </a:prstGeom>
          <a:solidFill>
            <a:srgbClr val="2E7D32">
              <a:alpha val="12000"/>
            </a:srgbClr>
          </a:solidFill>
          <a:ln/>
        </p:spPr>
      </p:sp>
      <p:pic>
        <p:nvPicPr>
          <p:cNvPr id="13" name="Image 1" descr="icons/cogs_green.png"/>
          <p:cNvPicPr>
            <a:picLocks noChangeAspect="1"/>
          </p:cNvPicPr>
          <p:nvPr/>
        </p:nvPicPr>
        <p:blipFill>
          <a:blip r:embed="rId4"/>
          <a:stretch>
            <a:fillRect/>
          </a:stretch>
        </p:blipFill>
        <p:spPr>
          <a:xfrm>
            <a:off x="3215259" y="2511171"/>
            <a:ext cx="326898" cy="326898"/>
          </a:xfrm>
          <a:prstGeom prst="rect">
            <a:avLst/>
          </a:prstGeom>
        </p:spPr>
      </p:pic>
      <p:sp>
        <p:nvSpPr>
          <p:cNvPr id="14" name="Text 10"/>
          <p:cNvSpPr/>
          <p:nvPr/>
        </p:nvSpPr>
        <p:spPr>
          <a:xfrm>
            <a:off x="3035808" y="3108960"/>
            <a:ext cx="1792224" cy="36576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Riverpod</a:t>
            </a:r>
            <a:endParaRPr lang="en-US" sz="1500" dirty="0"/>
          </a:p>
        </p:txBody>
      </p:sp>
      <p:sp>
        <p:nvSpPr>
          <p:cNvPr id="15" name="Text 11"/>
          <p:cNvSpPr/>
          <p:nvPr/>
        </p:nvSpPr>
        <p:spPr>
          <a:xfrm>
            <a:off x="3035808" y="3474720"/>
            <a:ext cx="1792224" cy="320040"/>
          </a:xfrm>
          <a:prstGeom prst="rect">
            <a:avLst/>
          </a:prstGeom>
          <a:noFill/>
          <a:ln/>
        </p:spPr>
        <p:txBody>
          <a:bodyPr wrap="square" lIns="0" tIns="0" rIns="0" bIns="0"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State Management</a:t>
            </a:r>
            <a:endParaRPr lang="en-US" sz="1050" dirty="0"/>
          </a:p>
        </p:txBody>
      </p:sp>
      <p:sp>
        <p:nvSpPr>
          <p:cNvPr id="16" name="Text 12"/>
          <p:cNvSpPr/>
          <p:nvPr/>
        </p:nvSpPr>
        <p:spPr>
          <a:xfrm>
            <a:off x="3035808" y="3840480"/>
            <a:ext cx="1792224" cy="1874520"/>
          </a:xfrm>
          <a:prstGeom prst="rect">
            <a:avLst/>
          </a:prstGeom>
          <a:noFill/>
          <a:ln/>
        </p:spPr>
        <p:txBody>
          <a:bodyPr wrap="square" lIns="0" tIns="0" rIns="0" bIns="0" rtlCol="0" anchor="ctr"/>
          <a:lstStyle/>
          <a:p>
            <a:pPr marL="0" indent="0">
              <a:lnSpc>
                <a:spcPct val="112000"/>
              </a:lnSpc>
              <a:buNone/>
            </a:pPr>
            <a:r>
              <a:rPr lang="en-US" sz="1050" dirty="0">
                <a:solidFill>
                  <a:srgbClr val="64748B"/>
                </a:solidFill>
                <a:latin typeface="Calibri" pitchFamily="34" charset="0"/>
                <a:ea typeface="Calibri" pitchFamily="34" charset="-122"/>
                <a:cs typeface="Calibri" pitchFamily="34" charset="-120"/>
              </a:rPr>
              <a:t>Safely manages Cart, Dark Mode &amp; Language state — instant UI reaction (e.g. flip dark mode → instant repaint).</a:t>
            </a:r>
            <a:endParaRPr lang="en-US" sz="1050" dirty="0"/>
          </a:p>
        </p:txBody>
      </p:sp>
      <p:sp>
        <p:nvSpPr>
          <p:cNvPr id="17" name="Shape 13"/>
          <p:cNvSpPr/>
          <p:nvPr/>
        </p:nvSpPr>
        <p:spPr>
          <a:xfrm>
            <a:off x="5157216" y="2148840"/>
            <a:ext cx="2157984" cy="3657600"/>
          </a:xfrm>
          <a:prstGeom prst="roundRect">
            <a:avLst>
              <a:gd name="adj" fmla="val 3390"/>
            </a:avLst>
          </a:prstGeom>
          <a:solidFill>
            <a:srgbClr val="F5F5F5"/>
          </a:solidFill>
          <a:ln/>
          <a:effectLst>
            <a:outerShdw blurRad="101600" dist="38100" dir="2700000" algn="bl" rotWithShape="0">
              <a:srgbClr val="1B5E20">
                <a:alpha val="18000"/>
              </a:srgbClr>
            </a:outerShdw>
          </a:effectLst>
        </p:spPr>
      </p:sp>
      <p:sp>
        <p:nvSpPr>
          <p:cNvPr id="18" name="Shape 14"/>
          <p:cNvSpPr/>
          <p:nvPr/>
        </p:nvSpPr>
        <p:spPr>
          <a:xfrm>
            <a:off x="5385816" y="2377440"/>
            <a:ext cx="594360" cy="594360"/>
          </a:xfrm>
          <a:prstGeom prst="ellipse">
            <a:avLst/>
          </a:prstGeom>
          <a:solidFill>
            <a:srgbClr val="2E7D32">
              <a:alpha val="12000"/>
            </a:srgbClr>
          </a:solidFill>
          <a:ln/>
        </p:spPr>
      </p:sp>
      <p:pic>
        <p:nvPicPr>
          <p:cNvPr id="19" name="Image 2" descr="icons/route_green.png"/>
          <p:cNvPicPr>
            <a:picLocks noChangeAspect="1"/>
          </p:cNvPicPr>
          <p:nvPr/>
        </p:nvPicPr>
        <p:blipFill>
          <a:blip r:embed="rId5"/>
          <a:stretch>
            <a:fillRect/>
          </a:stretch>
        </p:blipFill>
        <p:spPr>
          <a:xfrm>
            <a:off x="5519547" y="2511171"/>
            <a:ext cx="326898" cy="326898"/>
          </a:xfrm>
          <a:prstGeom prst="rect">
            <a:avLst/>
          </a:prstGeom>
        </p:spPr>
      </p:pic>
      <p:sp>
        <p:nvSpPr>
          <p:cNvPr id="20" name="Text 15"/>
          <p:cNvSpPr/>
          <p:nvPr/>
        </p:nvSpPr>
        <p:spPr>
          <a:xfrm>
            <a:off x="5340096" y="3108960"/>
            <a:ext cx="1792224" cy="36576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GoRouter</a:t>
            </a:r>
            <a:endParaRPr lang="en-US" sz="1500" dirty="0"/>
          </a:p>
        </p:txBody>
      </p:sp>
      <p:sp>
        <p:nvSpPr>
          <p:cNvPr id="21" name="Text 16"/>
          <p:cNvSpPr/>
          <p:nvPr/>
        </p:nvSpPr>
        <p:spPr>
          <a:xfrm>
            <a:off x="5340096" y="3474720"/>
            <a:ext cx="1792224" cy="320040"/>
          </a:xfrm>
          <a:prstGeom prst="rect">
            <a:avLst/>
          </a:prstGeom>
          <a:noFill/>
          <a:ln/>
        </p:spPr>
        <p:txBody>
          <a:bodyPr wrap="square" lIns="0" tIns="0" rIns="0" bIns="0"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Declarative Routing</a:t>
            </a:r>
            <a:endParaRPr lang="en-US" sz="1050" dirty="0"/>
          </a:p>
        </p:txBody>
      </p:sp>
      <p:sp>
        <p:nvSpPr>
          <p:cNvPr id="22" name="Text 17"/>
          <p:cNvSpPr/>
          <p:nvPr/>
        </p:nvSpPr>
        <p:spPr>
          <a:xfrm>
            <a:off x="5340096" y="3840480"/>
            <a:ext cx="1792224" cy="1874520"/>
          </a:xfrm>
          <a:prstGeom prst="rect">
            <a:avLst/>
          </a:prstGeom>
          <a:noFill/>
          <a:ln/>
        </p:spPr>
        <p:txBody>
          <a:bodyPr wrap="square" lIns="0" tIns="0" rIns="0" bIns="0" rtlCol="0" anchor="ctr"/>
          <a:lstStyle/>
          <a:p>
            <a:pPr marL="0" indent="0">
              <a:lnSpc>
                <a:spcPct val="112000"/>
              </a:lnSpc>
              <a:buNone/>
            </a:pPr>
            <a:r>
              <a:rPr lang="en-US" sz="1050" dirty="0">
                <a:solidFill>
                  <a:srgbClr val="64748B"/>
                </a:solidFill>
                <a:latin typeface="Calibri" pitchFamily="34" charset="0"/>
                <a:ea typeface="Calibri" pitchFamily="34" charset="-122"/>
                <a:cs typeface="Calibri" pitchFamily="34" charset="-120"/>
              </a:rPr>
              <a:t>Proper URL support for Web (localhost/#/home) and a working hardware Back button on Android.</a:t>
            </a:r>
            <a:endParaRPr lang="en-US" sz="1050" dirty="0"/>
          </a:p>
        </p:txBody>
      </p:sp>
      <p:sp>
        <p:nvSpPr>
          <p:cNvPr id="23" name="Shape 18"/>
          <p:cNvSpPr/>
          <p:nvPr/>
        </p:nvSpPr>
        <p:spPr>
          <a:xfrm>
            <a:off x="7461504" y="2148840"/>
            <a:ext cx="2157984" cy="3657600"/>
          </a:xfrm>
          <a:prstGeom prst="roundRect">
            <a:avLst>
              <a:gd name="adj" fmla="val 3390"/>
            </a:avLst>
          </a:prstGeom>
          <a:solidFill>
            <a:srgbClr val="F5F5F5"/>
          </a:solidFill>
          <a:ln/>
          <a:effectLst>
            <a:outerShdw blurRad="101600" dist="38100" dir="2700000" algn="bl" rotWithShape="0">
              <a:srgbClr val="1B5E20">
                <a:alpha val="18000"/>
              </a:srgbClr>
            </a:outerShdw>
          </a:effectLst>
        </p:spPr>
      </p:sp>
      <p:sp>
        <p:nvSpPr>
          <p:cNvPr id="24" name="Shape 19"/>
          <p:cNvSpPr/>
          <p:nvPr/>
        </p:nvSpPr>
        <p:spPr>
          <a:xfrm>
            <a:off x="7690104" y="2377440"/>
            <a:ext cx="594360" cy="594360"/>
          </a:xfrm>
          <a:prstGeom prst="ellipse">
            <a:avLst/>
          </a:prstGeom>
          <a:solidFill>
            <a:srgbClr val="2E7D32">
              <a:alpha val="12000"/>
            </a:srgbClr>
          </a:solidFill>
          <a:ln/>
        </p:spPr>
      </p:sp>
      <p:pic>
        <p:nvPicPr>
          <p:cNvPr id="25" name="Image 3" descr="icons/database_green.png"/>
          <p:cNvPicPr>
            <a:picLocks noChangeAspect="1"/>
          </p:cNvPicPr>
          <p:nvPr/>
        </p:nvPicPr>
        <p:blipFill>
          <a:blip r:embed="rId6"/>
          <a:stretch>
            <a:fillRect/>
          </a:stretch>
        </p:blipFill>
        <p:spPr>
          <a:xfrm>
            <a:off x="7823835" y="2511171"/>
            <a:ext cx="326898" cy="326898"/>
          </a:xfrm>
          <a:prstGeom prst="rect">
            <a:avLst/>
          </a:prstGeom>
        </p:spPr>
      </p:pic>
      <p:sp>
        <p:nvSpPr>
          <p:cNvPr id="26" name="Text 20"/>
          <p:cNvSpPr/>
          <p:nvPr/>
        </p:nvSpPr>
        <p:spPr>
          <a:xfrm>
            <a:off x="7644384" y="3108960"/>
            <a:ext cx="1792224" cy="36576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Firebase Auth + Firestore</a:t>
            </a:r>
            <a:endParaRPr lang="en-US" sz="1500" dirty="0"/>
          </a:p>
        </p:txBody>
      </p:sp>
      <p:sp>
        <p:nvSpPr>
          <p:cNvPr id="27" name="Text 21"/>
          <p:cNvSpPr/>
          <p:nvPr/>
        </p:nvSpPr>
        <p:spPr>
          <a:xfrm>
            <a:off x="7644384" y="3474720"/>
            <a:ext cx="1792224" cy="320040"/>
          </a:xfrm>
          <a:prstGeom prst="rect">
            <a:avLst/>
          </a:prstGeom>
          <a:noFill/>
          <a:ln/>
        </p:spPr>
        <p:txBody>
          <a:bodyPr wrap="square" lIns="0" tIns="0" rIns="0" bIns="0"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Cloud Backend</a:t>
            </a:r>
            <a:endParaRPr lang="en-US" sz="1050" dirty="0"/>
          </a:p>
        </p:txBody>
      </p:sp>
      <p:sp>
        <p:nvSpPr>
          <p:cNvPr id="28" name="Text 22"/>
          <p:cNvSpPr/>
          <p:nvPr/>
        </p:nvSpPr>
        <p:spPr>
          <a:xfrm>
            <a:off x="7644384" y="3840480"/>
            <a:ext cx="1792224" cy="1874520"/>
          </a:xfrm>
          <a:prstGeom prst="rect">
            <a:avLst/>
          </a:prstGeom>
          <a:noFill/>
          <a:ln/>
        </p:spPr>
        <p:txBody>
          <a:bodyPr wrap="square" lIns="0" tIns="0" rIns="0" bIns="0" rtlCol="0" anchor="ctr"/>
          <a:lstStyle/>
          <a:p>
            <a:pPr marL="0" indent="0">
              <a:lnSpc>
                <a:spcPct val="112000"/>
              </a:lnSpc>
              <a:buNone/>
            </a:pPr>
            <a:r>
              <a:rPr lang="en-US" sz="1050" dirty="0">
                <a:solidFill>
                  <a:srgbClr val="64748B"/>
                </a:solidFill>
                <a:latin typeface="Calibri" pitchFamily="34" charset="0"/>
                <a:ea typeface="Calibri" pitchFamily="34" charset="-122"/>
                <a:cs typeface="Calibri" pitchFamily="34" charset="-120"/>
              </a:rPr>
              <a:t>Real profiles, products &amp; orders prove the ERD schema works — a 'smart application', not a dumb prototype.</a:t>
            </a:r>
            <a:endParaRPr lang="en-US" sz="1050" dirty="0"/>
          </a:p>
        </p:txBody>
      </p:sp>
      <p:sp>
        <p:nvSpPr>
          <p:cNvPr id="29" name="Shape 23"/>
          <p:cNvSpPr/>
          <p:nvPr/>
        </p:nvSpPr>
        <p:spPr>
          <a:xfrm>
            <a:off x="9765792" y="2148840"/>
            <a:ext cx="2157984" cy="3657600"/>
          </a:xfrm>
          <a:prstGeom prst="roundRect">
            <a:avLst>
              <a:gd name="adj" fmla="val 3390"/>
            </a:avLst>
          </a:prstGeom>
          <a:solidFill>
            <a:srgbClr val="F5F5F5"/>
          </a:solidFill>
          <a:ln/>
          <a:effectLst>
            <a:outerShdw blurRad="101600" dist="38100" dir="2700000" algn="bl" rotWithShape="0">
              <a:srgbClr val="1B5E20">
                <a:alpha val="18000"/>
              </a:srgbClr>
            </a:outerShdw>
          </a:effectLst>
        </p:spPr>
      </p:sp>
      <p:sp>
        <p:nvSpPr>
          <p:cNvPr id="30" name="Shape 24"/>
          <p:cNvSpPr/>
          <p:nvPr/>
        </p:nvSpPr>
        <p:spPr>
          <a:xfrm>
            <a:off x="9994392" y="2377440"/>
            <a:ext cx="594360" cy="594360"/>
          </a:xfrm>
          <a:prstGeom prst="ellipse">
            <a:avLst/>
          </a:prstGeom>
          <a:solidFill>
            <a:srgbClr val="2E7D32">
              <a:alpha val="12000"/>
            </a:srgbClr>
          </a:solidFill>
          <a:ln/>
        </p:spPr>
      </p:sp>
      <p:pic>
        <p:nvPicPr>
          <p:cNvPr id="31" name="Image 4" descr="icons/language_green.png"/>
          <p:cNvPicPr>
            <a:picLocks noChangeAspect="1"/>
          </p:cNvPicPr>
          <p:nvPr/>
        </p:nvPicPr>
        <p:blipFill>
          <a:blip r:embed="rId7"/>
          <a:stretch>
            <a:fillRect/>
          </a:stretch>
        </p:blipFill>
        <p:spPr>
          <a:xfrm>
            <a:off x="10128123" y="2511171"/>
            <a:ext cx="326898" cy="326898"/>
          </a:xfrm>
          <a:prstGeom prst="rect">
            <a:avLst/>
          </a:prstGeom>
        </p:spPr>
      </p:pic>
      <p:sp>
        <p:nvSpPr>
          <p:cNvPr id="32" name="Text 25"/>
          <p:cNvSpPr/>
          <p:nvPr/>
        </p:nvSpPr>
        <p:spPr>
          <a:xfrm>
            <a:off x="9948672" y="3108960"/>
            <a:ext cx="1792224" cy="365760"/>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Flutter Localizations</a:t>
            </a:r>
            <a:endParaRPr lang="en-US" sz="1500" dirty="0"/>
          </a:p>
        </p:txBody>
      </p:sp>
      <p:sp>
        <p:nvSpPr>
          <p:cNvPr id="33" name="Text 26"/>
          <p:cNvSpPr/>
          <p:nvPr/>
        </p:nvSpPr>
        <p:spPr>
          <a:xfrm>
            <a:off x="9948672" y="3474720"/>
            <a:ext cx="1792224" cy="320040"/>
          </a:xfrm>
          <a:prstGeom prst="rect">
            <a:avLst/>
          </a:prstGeom>
          <a:noFill/>
          <a:ln/>
        </p:spPr>
        <p:txBody>
          <a:bodyPr wrap="square" lIns="0" tIns="0" rIns="0" bIns="0"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Multi-language Engine</a:t>
            </a:r>
            <a:endParaRPr lang="en-US" sz="1050" dirty="0"/>
          </a:p>
        </p:txBody>
      </p:sp>
      <p:sp>
        <p:nvSpPr>
          <p:cNvPr id="34" name="Text 27"/>
          <p:cNvSpPr/>
          <p:nvPr/>
        </p:nvSpPr>
        <p:spPr>
          <a:xfrm>
            <a:off x="9948672" y="3840480"/>
            <a:ext cx="1792224" cy="1874520"/>
          </a:xfrm>
          <a:prstGeom prst="rect">
            <a:avLst/>
          </a:prstGeom>
          <a:noFill/>
          <a:ln/>
        </p:spPr>
        <p:txBody>
          <a:bodyPr wrap="square" lIns="0" tIns="0" rIns="0" bIns="0" rtlCol="0" anchor="ctr"/>
          <a:lstStyle/>
          <a:p>
            <a:pPr marL="0" indent="0">
              <a:lnSpc>
                <a:spcPct val="112000"/>
              </a:lnSpc>
              <a:buNone/>
            </a:pPr>
            <a:r>
              <a:rPr lang="en-US" sz="1050" dirty="0">
                <a:solidFill>
                  <a:srgbClr val="64748B"/>
                </a:solidFill>
                <a:latin typeface="Calibri" pitchFamily="34" charset="0"/>
                <a:ea typeface="Calibri" pitchFamily="34" charset="-122"/>
                <a:cs typeface="Calibri" pitchFamily="34" charset="-120"/>
              </a:rPr>
              <a:t>Native EN/ID translation with no slow third-party API — supports Universal Usability for all users.</a:t>
            </a:r>
            <a:endParaRPr lang="en-US" sz="1050" dirty="0"/>
          </a:p>
        </p:txBody>
      </p:sp>
      <p:sp>
        <p:nvSpPr>
          <p:cNvPr id="35" name="Text 28"/>
          <p:cNvSpPr/>
          <p:nvPr/>
        </p:nvSpPr>
        <p:spPr>
          <a:xfrm>
            <a:off x="548640" y="5989320"/>
            <a:ext cx="11064240" cy="457200"/>
          </a:xfrm>
          <a:prstGeom prst="rect">
            <a:avLst/>
          </a:prstGeom>
          <a:noFill/>
          <a:ln/>
        </p:spPr>
        <p:txBody>
          <a:bodyPr wrap="square" lIns="0" tIns="0" rIns="0" bIns="0" rtlCol="0" anchor="ctr"/>
          <a:lstStyle/>
          <a:p>
            <a:pPr marL="0" indent="0">
              <a:buNone/>
            </a:pPr>
            <a:r>
              <a:rPr lang="en-US" sz="1150" i="1" dirty="0">
                <a:solidFill>
                  <a:srgbClr val="64748B"/>
                </a:solidFill>
                <a:latin typeface="Calibri" pitchFamily="34" charset="0"/>
                <a:ea typeface="Calibri" pitchFamily="34" charset="-122"/>
                <a:cs typeface="Calibri" pitchFamily="34" charset="-120"/>
              </a:rPr>
              <a:t>Project structure follows a Feature/Layer-First Architecture: lib/models (ERD: user, product, order), lib/providers (Riverpod logic), lib/screens (UI), lib/l10n (EN/ID translation dictionaries).</a:t>
            </a:r>
            <a:endParaRPr lang="en-US" sz="1150" dirty="0"/>
          </a:p>
        </p:txBody>
      </p:sp>
      <p:sp>
        <p:nvSpPr>
          <p:cNvPr id="36" name="Text 29"/>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Ch.6.1, Appendix A (GitHub)</a:t>
            </a:r>
            <a:endParaRPr lang="en-US" sz="1000" dirty="0"/>
          </a:p>
        </p:txBody>
      </p:sp>
      <p:sp>
        <p:nvSpPr>
          <p:cNvPr id="37" name="Text 30"/>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6.1–6.2 — BACKEND &amp; CONSISTENCY CHECK</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A Real Cloud Backend, Verified Against Figma</a:t>
            </a:r>
            <a:endParaRPr lang="en-US" sz="3200" dirty="0"/>
          </a:p>
        </p:txBody>
      </p:sp>
      <p:sp>
        <p:nvSpPr>
          <p:cNvPr id="4" name="Shape 2"/>
          <p:cNvSpPr/>
          <p:nvPr/>
        </p:nvSpPr>
        <p:spPr>
          <a:xfrm>
            <a:off x="548640" y="1645920"/>
            <a:ext cx="5760720" cy="4160520"/>
          </a:xfrm>
          <a:prstGeom prst="roundRect">
            <a:avLst>
              <a:gd name="adj" fmla="val 1319"/>
            </a:avLst>
          </a:prstGeom>
          <a:solidFill>
            <a:srgbClr val="1A1A1A"/>
          </a:solidFill>
          <a:ln/>
          <a:effectLst>
            <a:outerShdw blurRad="101600" dist="38100" dir="2700000" algn="bl" rotWithShape="0">
              <a:srgbClr val="1B5E20">
                <a:alpha val="18000"/>
              </a:srgbClr>
            </a:outerShdw>
          </a:effectLst>
        </p:spPr>
      </p:sp>
      <p:pic>
        <p:nvPicPr>
          <p:cNvPr id="5" name="Image 0" descr="images/p19_0.png"/>
          <p:cNvPicPr>
            <a:picLocks noChangeAspect="1"/>
          </p:cNvPicPr>
          <p:nvPr/>
        </p:nvPicPr>
        <p:blipFill>
          <a:blip r:embed="rId3"/>
          <a:srcRect/>
          <a:stretch/>
        </p:blipFill>
        <p:spPr>
          <a:xfrm>
            <a:off x="1620375" y="1737360"/>
            <a:ext cx="3617250" cy="3977640"/>
          </a:xfrm>
          <a:prstGeom prst="rect">
            <a:avLst/>
          </a:prstGeom>
        </p:spPr>
      </p:pic>
      <p:sp>
        <p:nvSpPr>
          <p:cNvPr id="6" name="Text 3"/>
          <p:cNvSpPr/>
          <p:nvPr/>
        </p:nvSpPr>
        <p:spPr>
          <a:xfrm>
            <a:off x="548640" y="5852160"/>
            <a:ext cx="576072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Firebase Console — Authentication &amp; Firestore Orders collection (live data)</a:t>
            </a:r>
            <a:endParaRPr lang="en-US" sz="1100" dirty="0"/>
          </a:p>
        </p:txBody>
      </p:sp>
      <p:sp>
        <p:nvSpPr>
          <p:cNvPr id="7" name="Shape 4"/>
          <p:cNvSpPr/>
          <p:nvPr/>
        </p:nvSpPr>
        <p:spPr>
          <a:xfrm>
            <a:off x="6492240" y="1645920"/>
            <a:ext cx="5120640" cy="4160520"/>
          </a:xfrm>
          <a:prstGeom prst="roundRect">
            <a:avLst>
              <a:gd name="adj" fmla="val 1319"/>
            </a:avLst>
          </a:prstGeom>
          <a:solidFill>
            <a:srgbClr val="1A1A1A"/>
          </a:solidFill>
          <a:ln/>
          <a:effectLst>
            <a:outerShdw blurRad="101600" dist="38100" dir="2700000" algn="bl" rotWithShape="0">
              <a:srgbClr val="1B5E20">
                <a:alpha val="18000"/>
              </a:srgbClr>
            </a:outerShdw>
          </a:effectLst>
        </p:spPr>
      </p:sp>
      <p:pic>
        <p:nvPicPr>
          <p:cNvPr id="8" name="Image 1" descr="images/p20_1.png"/>
          <p:cNvPicPr>
            <a:picLocks noChangeAspect="1"/>
          </p:cNvPicPr>
          <p:nvPr/>
        </p:nvPicPr>
        <p:blipFill>
          <a:blip r:embed="rId4"/>
          <a:srcRect/>
          <a:stretch/>
        </p:blipFill>
        <p:spPr>
          <a:xfrm>
            <a:off x="7097759" y="1737360"/>
            <a:ext cx="3909601" cy="3977640"/>
          </a:xfrm>
          <a:prstGeom prst="rect">
            <a:avLst/>
          </a:prstGeom>
        </p:spPr>
      </p:pic>
      <p:sp>
        <p:nvSpPr>
          <p:cNvPr id="9" name="Text 5"/>
          <p:cNvSpPr/>
          <p:nvPr/>
        </p:nvSpPr>
        <p:spPr>
          <a:xfrm>
            <a:off x="6492240" y="5852160"/>
            <a:ext cx="512064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6.2 Consistency Check — Figma prototype (right) vs. Flutter Web implementation (left)</a:t>
            </a:r>
            <a:endParaRPr lang="en-US" sz="1100" dirty="0"/>
          </a:p>
        </p:txBody>
      </p:sp>
      <p:sp>
        <p:nvSpPr>
          <p:cNvPr id="10" name="Text 6"/>
          <p:cNvSpPr/>
          <p:nvPr/>
        </p:nvSpPr>
        <p:spPr>
          <a:xfrm>
            <a:off x="548640" y="6263640"/>
            <a:ext cx="11064240" cy="320040"/>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Authentication, Firestore product/order/user collections, and the side-by-side check confirm the Flutter UI replicates the Figma layout, typography, and exact color hex codes.</a:t>
            </a:r>
            <a:endParaRPr lang="en-US" sz="1150" dirty="0"/>
          </a:p>
        </p:txBody>
      </p:sp>
      <p:sp>
        <p:nvSpPr>
          <p:cNvPr id="11" name="Text 7"/>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Fig. 6.1a–6.2</a:t>
            </a:r>
            <a:endParaRPr lang="en-US" sz="1000" dirty="0"/>
          </a:p>
        </p:txBody>
      </p:sp>
      <p:sp>
        <p:nvSpPr>
          <p:cNvPr id="12" name="Text 8"/>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5E20"/>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CHAPTER 6.3–6.4 — ADVANCED FEATURES &amp; DATA FLOW</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Responsive, Dark-Mode, Cloud-Connected</a:t>
            </a:r>
            <a:endParaRPr lang="en-US" sz="3200" dirty="0"/>
          </a:p>
        </p:txBody>
      </p:sp>
      <p:sp>
        <p:nvSpPr>
          <p:cNvPr id="4" name="Shape 2"/>
          <p:cNvSpPr/>
          <p:nvPr/>
        </p:nvSpPr>
        <p:spPr>
          <a:xfrm>
            <a:off x="548640" y="1600200"/>
            <a:ext cx="6035040" cy="3429000"/>
          </a:xfrm>
          <a:prstGeom prst="roundRect">
            <a:avLst>
              <a:gd name="adj" fmla="val 1600"/>
            </a:avLst>
          </a:prstGeom>
          <a:solidFill>
            <a:srgbClr val="0F0F0F"/>
          </a:solidFill>
          <a:ln/>
          <a:effectLst>
            <a:outerShdw blurRad="101600" dist="38100" dir="2700000" algn="bl" rotWithShape="0">
              <a:srgbClr val="1B5E20">
                <a:alpha val="18000"/>
              </a:srgbClr>
            </a:outerShdw>
          </a:effectLst>
        </p:spPr>
      </p:sp>
      <p:pic>
        <p:nvPicPr>
          <p:cNvPr id="5" name="Image 0" descr="images/p21_0.png"/>
          <p:cNvPicPr>
            <a:picLocks noChangeAspect="1"/>
          </p:cNvPicPr>
          <p:nvPr/>
        </p:nvPicPr>
        <p:blipFill>
          <a:blip r:embed="rId3"/>
          <a:srcRect/>
          <a:stretch/>
        </p:blipFill>
        <p:spPr>
          <a:xfrm>
            <a:off x="1130053" y="1691640"/>
            <a:ext cx="4872214" cy="3246120"/>
          </a:xfrm>
          <a:prstGeom prst="rect">
            <a:avLst/>
          </a:prstGeom>
        </p:spPr>
      </p:pic>
      <p:sp>
        <p:nvSpPr>
          <p:cNvPr id="6" name="Text 3"/>
          <p:cNvSpPr/>
          <p:nvPr/>
        </p:nvSpPr>
        <p:spPr>
          <a:xfrm>
            <a:off x="548640" y="5074920"/>
            <a:ext cx="6035040" cy="320040"/>
          </a:xfrm>
          <a:prstGeom prst="rect">
            <a:avLst/>
          </a:prstGeom>
          <a:noFill/>
          <a:ln/>
        </p:spPr>
        <p:txBody>
          <a:bodyPr wrap="square" lIns="0" tIns="0" rIns="0" bIns="0" rtlCol="0" anchor="ctr"/>
          <a:lstStyle/>
          <a:p>
            <a:pPr marL="0" indent="0" algn="ctr">
              <a:buNone/>
            </a:pPr>
            <a:r>
              <a:rPr lang="en-US" sz="1100" i="1" dirty="0">
                <a:solidFill>
                  <a:srgbClr val="DCEDC8"/>
                </a:solidFill>
                <a:latin typeface="Calibri" pitchFamily="34" charset="0"/>
                <a:ea typeface="Calibri" pitchFamily="34" charset="-122"/>
                <a:cs typeface="Calibri" pitchFamily="34" charset="-120"/>
              </a:rPr>
              <a:t>Live Web App — responsive desktop layout, full product grid, Dark Mode</a:t>
            </a:r>
            <a:endParaRPr lang="en-US" sz="1100" dirty="0"/>
          </a:p>
        </p:txBody>
      </p:sp>
      <p:sp>
        <p:nvSpPr>
          <p:cNvPr id="7" name="Text 4"/>
          <p:cNvSpPr/>
          <p:nvPr/>
        </p:nvSpPr>
        <p:spPr>
          <a:xfrm>
            <a:off x="548640" y="5440680"/>
            <a:ext cx="6035040" cy="960120"/>
          </a:xfrm>
          <a:prstGeom prst="rect">
            <a:avLst/>
          </a:prstGeom>
          <a:noFill/>
          <a:ln/>
        </p:spPr>
        <p:txBody>
          <a:bodyPr wrap="square" lIns="0" tIns="0" rIns="0" bIns="0" rtlCol="0" anchor="ctr"/>
          <a:lstStyle/>
          <a:p>
            <a:pPr marL="0" indent="0">
              <a:lnSpc>
                <a:spcPct val="110000"/>
              </a:lnSpc>
              <a:buNone/>
            </a:pPr>
            <a:r>
              <a:rPr lang="en-US" sz="1150" b="1" dirty="0">
                <a:solidFill>
                  <a:srgbClr val="97BC62"/>
                </a:solidFill>
                <a:latin typeface="Calibri" pitchFamily="34" charset="0"/>
                <a:ea typeface="Calibri" pitchFamily="34" charset="-122"/>
                <a:cs typeface="Calibri" pitchFamily="34" charset="-120"/>
              </a:rPr>
              <a:t>Adaptive Responsive Design: </a:t>
            </a:r>
            <a:r>
              <a:rPr lang="en-US" sz="1150" dirty="0">
                <a:solidFill>
                  <a:srgbClr val="DCEDC8"/>
                </a:solidFill>
                <a:latin typeface="Calibri" pitchFamily="34" charset="0"/>
                <a:ea typeface="Calibri" pitchFamily="34" charset="-122"/>
                <a:cs typeface="Calibri" pitchFamily="34" charset="-120"/>
              </a:rPr>
              <a:t>ProfileScreen uses MediaQuery to detect screen width — edge-to-edge on mobile, centered on desktop/web.</a:t>
            </a:r>
            <a:endParaRPr lang="en-US" sz="1150" dirty="0"/>
          </a:p>
          <a:p>
            <a:pPr marL="0" indent="0">
              <a:lnSpc>
                <a:spcPct val="110000"/>
              </a:lnSpc>
              <a:buNone/>
            </a:pPr>
            <a:r>
              <a:rPr lang="en-US" sz="1150" b="1" dirty="0">
                <a:solidFill>
                  <a:srgbClr val="97BC62"/>
                </a:solidFill>
                <a:latin typeface="Calibri" pitchFamily="34" charset="0"/>
                <a:ea typeface="Calibri" pitchFamily="34" charset="-122"/>
                <a:cs typeface="Calibri" pitchFamily="34" charset="-120"/>
              </a:rPr>
              <a:t>Dark Mode: </a:t>
            </a:r>
            <a:r>
              <a:rPr lang="en-US" sz="1150" dirty="0">
                <a:solidFill>
                  <a:srgbClr val="DCEDC8"/>
                </a:solidFill>
                <a:latin typeface="Calibri" pitchFamily="34" charset="0"/>
                <a:ea typeface="Calibri" pitchFamily="34" charset="-122"/>
                <a:cs typeface="Calibri" pitchFamily="34" charset="-120"/>
              </a:rPr>
              <a:t>Dynamic toggle reduces eye strain for nighttime medicine searches — directly addresses physiological ergonomic needs.</a:t>
            </a:r>
            <a:endParaRPr lang="en-US" sz="1150" dirty="0"/>
          </a:p>
        </p:txBody>
      </p:sp>
      <p:sp>
        <p:nvSpPr>
          <p:cNvPr id="8" name="Text 5"/>
          <p:cNvSpPr/>
          <p:nvPr/>
        </p:nvSpPr>
        <p:spPr>
          <a:xfrm>
            <a:off x="6903720" y="1645920"/>
            <a:ext cx="475488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6.4 The Data Flow</a:t>
            </a:r>
            <a:endParaRPr lang="en-US" sz="1600" dirty="0"/>
          </a:p>
        </p:txBody>
      </p:sp>
      <p:sp>
        <p:nvSpPr>
          <p:cNvPr id="9" name="Shape 6"/>
          <p:cNvSpPr/>
          <p:nvPr/>
        </p:nvSpPr>
        <p:spPr>
          <a:xfrm>
            <a:off x="6903720" y="2103120"/>
            <a:ext cx="365760" cy="365760"/>
          </a:xfrm>
          <a:prstGeom prst="ellipse">
            <a:avLst/>
          </a:prstGeom>
          <a:solidFill>
            <a:srgbClr val="2E7D32">
              <a:alpha val="70000"/>
            </a:srgbClr>
          </a:solidFill>
          <a:ln w="12700">
            <a:solidFill>
              <a:srgbClr val="97BC62"/>
            </a:solidFill>
            <a:prstDash val="solid"/>
          </a:ln>
        </p:spPr>
      </p:sp>
      <p:sp>
        <p:nvSpPr>
          <p:cNvPr id="10" name="Text 7"/>
          <p:cNvSpPr/>
          <p:nvPr/>
        </p:nvSpPr>
        <p:spPr>
          <a:xfrm>
            <a:off x="6903720" y="210312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p:nvPr/>
        </p:nvSpPr>
        <p:spPr>
          <a:xfrm>
            <a:off x="7406640" y="2075688"/>
            <a:ext cx="1097280" cy="365760"/>
          </a:xfrm>
          <a:prstGeom prst="rect">
            <a:avLst/>
          </a:prstGeom>
          <a:noFill/>
          <a:ln/>
        </p:spPr>
        <p:txBody>
          <a:bodyPr wrap="square" lIns="0" tIns="0" rIns="0" bIns="0" rtlCol="0" anchor="ctr"/>
          <a:lstStyle/>
          <a:p>
            <a:pPr marL="0" indent="0">
              <a:buNone/>
            </a:pPr>
            <a:r>
              <a:rPr lang="en-US" sz="1300" b="1" dirty="0">
                <a:solidFill>
                  <a:srgbClr val="97BC62"/>
                </a:solidFill>
                <a:latin typeface="Calibri" pitchFamily="34" charset="0"/>
                <a:ea typeface="Calibri" pitchFamily="34" charset="-122"/>
                <a:cs typeface="Calibri" pitchFamily="34" charset="-120"/>
              </a:rPr>
              <a:t>Init</a:t>
            </a:r>
            <a:endParaRPr lang="en-US" sz="1300" dirty="0"/>
          </a:p>
        </p:txBody>
      </p:sp>
      <p:sp>
        <p:nvSpPr>
          <p:cNvPr id="12" name="Text 9"/>
          <p:cNvSpPr/>
          <p:nvPr/>
        </p:nvSpPr>
        <p:spPr>
          <a:xfrm>
            <a:off x="8458200" y="2075688"/>
            <a:ext cx="3520440" cy="502920"/>
          </a:xfrm>
          <a:prstGeom prst="rect">
            <a:avLst/>
          </a:prstGeom>
          <a:noFill/>
          <a:ln/>
        </p:spPr>
        <p:txBody>
          <a:bodyPr wrap="square" lIns="0" tIns="0" rIns="0" bIns="0" rtlCol="0" anchor="ctr"/>
          <a:lstStyle/>
          <a:p>
            <a:pPr marL="0" indent="0">
              <a:lnSpc>
                <a:spcPct val="100000"/>
              </a:lnSpc>
              <a:buNone/>
            </a:pPr>
            <a:r>
              <a:rPr lang="en-US" sz="1100" dirty="0">
                <a:solidFill>
                  <a:srgbClr val="DCEDC8"/>
                </a:solidFill>
                <a:latin typeface="Calibri" pitchFamily="34" charset="0"/>
                <a:ea typeface="Calibri" pitchFamily="34" charset="-122"/>
                <a:cs typeface="Calibri" pitchFamily="34" charset="-120"/>
              </a:rPr>
              <a:t>App boots → Firebase.initializeApp()</a:t>
            </a:r>
            <a:endParaRPr lang="en-US" sz="1100" dirty="0"/>
          </a:p>
        </p:txBody>
      </p:sp>
      <p:sp>
        <p:nvSpPr>
          <p:cNvPr id="13" name="Shape 10"/>
          <p:cNvSpPr/>
          <p:nvPr/>
        </p:nvSpPr>
        <p:spPr>
          <a:xfrm>
            <a:off x="7086600" y="2487168"/>
            <a:ext cx="0" cy="292608"/>
          </a:xfrm>
          <a:prstGeom prst="line">
            <a:avLst/>
          </a:prstGeom>
          <a:noFill/>
          <a:ln w="9525">
            <a:solidFill>
              <a:srgbClr val="97BC62"/>
            </a:solidFill>
            <a:prstDash val="dash"/>
          </a:ln>
        </p:spPr>
      </p:sp>
      <p:sp>
        <p:nvSpPr>
          <p:cNvPr id="14" name="Shape 11"/>
          <p:cNvSpPr/>
          <p:nvPr/>
        </p:nvSpPr>
        <p:spPr>
          <a:xfrm>
            <a:off x="6903720" y="2816352"/>
            <a:ext cx="365760" cy="365760"/>
          </a:xfrm>
          <a:prstGeom prst="ellipse">
            <a:avLst/>
          </a:prstGeom>
          <a:solidFill>
            <a:srgbClr val="2E7D32">
              <a:alpha val="70000"/>
            </a:srgbClr>
          </a:solidFill>
          <a:ln w="12700">
            <a:solidFill>
              <a:srgbClr val="97BC62"/>
            </a:solidFill>
            <a:prstDash val="solid"/>
          </a:ln>
        </p:spPr>
      </p:sp>
      <p:sp>
        <p:nvSpPr>
          <p:cNvPr id="15" name="Text 12"/>
          <p:cNvSpPr/>
          <p:nvPr/>
        </p:nvSpPr>
        <p:spPr>
          <a:xfrm>
            <a:off x="6903720" y="281635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7406640" y="2788920"/>
            <a:ext cx="1097280" cy="365760"/>
          </a:xfrm>
          <a:prstGeom prst="rect">
            <a:avLst/>
          </a:prstGeom>
          <a:noFill/>
          <a:ln/>
        </p:spPr>
        <p:txBody>
          <a:bodyPr wrap="square" lIns="0" tIns="0" rIns="0" bIns="0" rtlCol="0" anchor="ctr"/>
          <a:lstStyle/>
          <a:p>
            <a:pPr marL="0" indent="0">
              <a:buNone/>
            </a:pPr>
            <a:r>
              <a:rPr lang="en-US" sz="1300" b="1" dirty="0">
                <a:solidFill>
                  <a:srgbClr val="97BC62"/>
                </a:solidFill>
                <a:latin typeface="Calibri" pitchFamily="34" charset="0"/>
                <a:ea typeface="Calibri" pitchFamily="34" charset="-122"/>
                <a:cs typeface="Calibri" pitchFamily="34" charset="-120"/>
              </a:rPr>
              <a:t>Auth</a:t>
            </a:r>
            <a:endParaRPr lang="en-US" sz="1300" dirty="0"/>
          </a:p>
        </p:txBody>
      </p:sp>
      <p:sp>
        <p:nvSpPr>
          <p:cNvPr id="17" name="Text 14"/>
          <p:cNvSpPr/>
          <p:nvPr/>
        </p:nvSpPr>
        <p:spPr>
          <a:xfrm>
            <a:off x="8458200" y="2788920"/>
            <a:ext cx="3520440" cy="502920"/>
          </a:xfrm>
          <a:prstGeom prst="rect">
            <a:avLst/>
          </a:prstGeom>
          <a:noFill/>
          <a:ln/>
        </p:spPr>
        <p:txBody>
          <a:bodyPr wrap="square" lIns="0" tIns="0" rIns="0" bIns="0" rtlCol="0" anchor="ctr"/>
          <a:lstStyle/>
          <a:p>
            <a:pPr marL="0" indent="0">
              <a:lnSpc>
                <a:spcPct val="100000"/>
              </a:lnSpc>
              <a:buNone/>
            </a:pPr>
            <a:r>
              <a:rPr lang="en-US" sz="1100" dirty="0">
                <a:solidFill>
                  <a:srgbClr val="DCEDC8"/>
                </a:solidFill>
                <a:latin typeface="Calibri" pitchFamily="34" charset="0"/>
                <a:ea typeface="Calibri" pitchFamily="34" charset="-122"/>
                <a:cs typeface="Calibri" pitchFamily="34" charset="-120"/>
              </a:rPr>
              <a:t>User logs in → auth_provider saves ID into memory</a:t>
            </a:r>
            <a:endParaRPr lang="en-US" sz="1100" dirty="0"/>
          </a:p>
        </p:txBody>
      </p:sp>
      <p:sp>
        <p:nvSpPr>
          <p:cNvPr id="18" name="Shape 15"/>
          <p:cNvSpPr/>
          <p:nvPr/>
        </p:nvSpPr>
        <p:spPr>
          <a:xfrm>
            <a:off x="7086600" y="3200400"/>
            <a:ext cx="0" cy="292608"/>
          </a:xfrm>
          <a:prstGeom prst="line">
            <a:avLst/>
          </a:prstGeom>
          <a:noFill/>
          <a:ln w="9525">
            <a:solidFill>
              <a:srgbClr val="97BC62"/>
            </a:solidFill>
            <a:prstDash val="dash"/>
          </a:ln>
        </p:spPr>
      </p:sp>
      <p:sp>
        <p:nvSpPr>
          <p:cNvPr id="19" name="Shape 16"/>
          <p:cNvSpPr/>
          <p:nvPr/>
        </p:nvSpPr>
        <p:spPr>
          <a:xfrm>
            <a:off x="6903720" y="3529584"/>
            <a:ext cx="365760" cy="365760"/>
          </a:xfrm>
          <a:prstGeom prst="ellipse">
            <a:avLst/>
          </a:prstGeom>
          <a:solidFill>
            <a:srgbClr val="2E7D32">
              <a:alpha val="70000"/>
            </a:srgbClr>
          </a:solidFill>
          <a:ln w="12700">
            <a:solidFill>
              <a:srgbClr val="97BC62"/>
            </a:solidFill>
            <a:prstDash val="solid"/>
          </a:ln>
        </p:spPr>
      </p:sp>
      <p:sp>
        <p:nvSpPr>
          <p:cNvPr id="20" name="Text 17"/>
          <p:cNvSpPr/>
          <p:nvPr/>
        </p:nvSpPr>
        <p:spPr>
          <a:xfrm>
            <a:off x="6903720" y="3529584"/>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p:nvPr/>
        </p:nvSpPr>
        <p:spPr>
          <a:xfrm>
            <a:off x="7406640" y="3502152"/>
            <a:ext cx="1097280" cy="365760"/>
          </a:xfrm>
          <a:prstGeom prst="rect">
            <a:avLst/>
          </a:prstGeom>
          <a:noFill/>
          <a:ln/>
        </p:spPr>
        <p:txBody>
          <a:bodyPr wrap="square" lIns="0" tIns="0" rIns="0" bIns="0" rtlCol="0" anchor="ctr"/>
          <a:lstStyle/>
          <a:p>
            <a:pPr marL="0" indent="0">
              <a:buNone/>
            </a:pPr>
            <a:r>
              <a:rPr lang="en-US" sz="1300" b="1" dirty="0">
                <a:solidFill>
                  <a:srgbClr val="97BC62"/>
                </a:solidFill>
                <a:latin typeface="Calibri" pitchFamily="34" charset="0"/>
                <a:ea typeface="Calibri" pitchFamily="34" charset="-122"/>
                <a:cs typeface="Calibri" pitchFamily="34" charset="-120"/>
              </a:rPr>
              <a:t>Fetch</a:t>
            </a:r>
            <a:endParaRPr lang="en-US" sz="1300" dirty="0"/>
          </a:p>
        </p:txBody>
      </p:sp>
      <p:sp>
        <p:nvSpPr>
          <p:cNvPr id="22" name="Text 19"/>
          <p:cNvSpPr/>
          <p:nvPr/>
        </p:nvSpPr>
        <p:spPr>
          <a:xfrm>
            <a:off x="8458200" y="3502152"/>
            <a:ext cx="3520440" cy="502920"/>
          </a:xfrm>
          <a:prstGeom prst="rect">
            <a:avLst/>
          </a:prstGeom>
          <a:noFill/>
          <a:ln/>
        </p:spPr>
        <p:txBody>
          <a:bodyPr wrap="square" lIns="0" tIns="0" rIns="0" bIns="0" rtlCol="0" anchor="ctr"/>
          <a:lstStyle/>
          <a:p>
            <a:pPr marL="0" indent="0">
              <a:lnSpc>
                <a:spcPct val="100000"/>
              </a:lnSpc>
              <a:buNone/>
            </a:pPr>
            <a:r>
              <a:rPr lang="en-US" sz="1100" dirty="0">
                <a:solidFill>
                  <a:srgbClr val="DCEDC8"/>
                </a:solidFill>
                <a:latin typeface="Calibri" pitchFamily="34" charset="0"/>
                <a:ea typeface="Calibri" pitchFamily="34" charset="-122"/>
                <a:cs typeface="Calibri" pitchFamily="34" charset="-120"/>
              </a:rPr>
              <a:t>product_provider queries Firestore → paints Home grid</a:t>
            </a:r>
            <a:endParaRPr lang="en-US" sz="1100" dirty="0"/>
          </a:p>
        </p:txBody>
      </p:sp>
      <p:sp>
        <p:nvSpPr>
          <p:cNvPr id="23" name="Shape 20"/>
          <p:cNvSpPr/>
          <p:nvPr/>
        </p:nvSpPr>
        <p:spPr>
          <a:xfrm>
            <a:off x="7086600" y="3913632"/>
            <a:ext cx="0" cy="292608"/>
          </a:xfrm>
          <a:prstGeom prst="line">
            <a:avLst/>
          </a:prstGeom>
          <a:noFill/>
          <a:ln w="9525">
            <a:solidFill>
              <a:srgbClr val="97BC62"/>
            </a:solidFill>
            <a:prstDash val="dash"/>
          </a:ln>
        </p:spPr>
      </p:sp>
      <p:sp>
        <p:nvSpPr>
          <p:cNvPr id="24" name="Shape 21"/>
          <p:cNvSpPr/>
          <p:nvPr/>
        </p:nvSpPr>
        <p:spPr>
          <a:xfrm>
            <a:off x="6903720" y="4242816"/>
            <a:ext cx="365760" cy="365760"/>
          </a:xfrm>
          <a:prstGeom prst="ellipse">
            <a:avLst/>
          </a:prstGeom>
          <a:solidFill>
            <a:srgbClr val="2E7D32">
              <a:alpha val="70000"/>
            </a:srgbClr>
          </a:solidFill>
          <a:ln w="12700">
            <a:solidFill>
              <a:srgbClr val="97BC62"/>
            </a:solidFill>
            <a:prstDash val="solid"/>
          </a:ln>
        </p:spPr>
      </p:sp>
      <p:sp>
        <p:nvSpPr>
          <p:cNvPr id="25" name="Text 22"/>
          <p:cNvSpPr/>
          <p:nvPr/>
        </p:nvSpPr>
        <p:spPr>
          <a:xfrm>
            <a:off x="6903720" y="4242816"/>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p:nvPr/>
        </p:nvSpPr>
        <p:spPr>
          <a:xfrm>
            <a:off x="7406640" y="4215384"/>
            <a:ext cx="1097280" cy="365760"/>
          </a:xfrm>
          <a:prstGeom prst="rect">
            <a:avLst/>
          </a:prstGeom>
          <a:noFill/>
          <a:ln/>
        </p:spPr>
        <p:txBody>
          <a:bodyPr wrap="square" lIns="0" tIns="0" rIns="0" bIns="0" rtlCol="0" anchor="ctr"/>
          <a:lstStyle/>
          <a:p>
            <a:pPr marL="0" indent="0">
              <a:buNone/>
            </a:pPr>
            <a:r>
              <a:rPr lang="en-US" sz="1300" b="1" dirty="0">
                <a:solidFill>
                  <a:srgbClr val="97BC62"/>
                </a:solidFill>
                <a:latin typeface="Calibri" pitchFamily="34" charset="0"/>
                <a:ea typeface="Calibri" pitchFamily="34" charset="-122"/>
                <a:cs typeface="Calibri" pitchFamily="34" charset="-120"/>
              </a:rPr>
              <a:t>Interact</a:t>
            </a:r>
            <a:endParaRPr lang="en-US" sz="1300" dirty="0"/>
          </a:p>
        </p:txBody>
      </p:sp>
      <p:sp>
        <p:nvSpPr>
          <p:cNvPr id="27" name="Text 24"/>
          <p:cNvSpPr/>
          <p:nvPr/>
        </p:nvSpPr>
        <p:spPr>
          <a:xfrm>
            <a:off x="8458200" y="4215384"/>
            <a:ext cx="3520440" cy="502920"/>
          </a:xfrm>
          <a:prstGeom prst="rect">
            <a:avLst/>
          </a:prstGeom>
          <a:noFill/>
          <a:ln/>
        </p:spPr>
        <p:txBody>
          <a:bodyPr wrap="square" lIns="0" tIns="0" rIns="0" bIns="0" rtlCol="0" anchor="ctr"/>
          <a:lstStyle/>
          <a:p>
            <a:pPr marL="0" indent="0">
              <a:lnSpc>
                <a:spcPct val="100000"/>
              </a:lnSpc>
              <a:buNone/>
            </a:pPr>
            <a:r>
              <a:rPr lang="en-US" sz="1100" dirty="0">
                <a:solidFill>
                  <a:srgbClr val="DCEDC8"/>
                </a:solidFill>
                <a:latin typeface="Calibri" pitchFamily="34" charset="0"/>
                <a:ea typeface="Calibri" pitchFamily="34" charset="-122"/>
                <a:cs typeface="Calibri" pitchFamily="34" charset="-120"/>
              </a:rPr>
              <a:t>'Add to Cart' → saved in cart_provider (RAM, instant)</a:t>
            </a:r>
            <a:endParaRPr lang="en-US" sz="1100" dirty="0"/>
          </a:p>
        </p:txBody>
      </p:sp>
      <p:sp>
        <p:nvSpPr>
          <p:cNvPr id="28" name="Shape 25"/>
          <p:cNvSpPr/>
          <p:nvPr/>
        </p:nvSpPr>
        <p:spPr>
          <a:xfrm>
            <a:off x="7086600" y="4626864"/>
            <a:ext cx="0" cy="292608"/>
          </a:xfrm>
          <a:prstGeom prst="line">
            <a:avLst/>
          </a:prstGeom>
          <a:noFill/>
          <a:ln w="9525">
            <a:solidFill>
              <a:srgbClr val="97BC62"/>
            </a:solidFill>
            <a:prstDash val="dash"/>
          </a:ln>
        </p:spPr>
      </p:sp>
      <p:sp>
        <p:nvSpPr>
          <p:cNvPr id="29" name="Shape 26"/>
          <p:cNvSpPr/>
          <p:nvPr/>
        </p:nvSpPr>
        <p:spPr>
          <a:xfrm>
            <a:off x="6903720" y="4956048"/>
            <a:ext cx="365760" cy="365760"/>
          </a:xfrm>
          <a:prstGeom prst="ellipse">
            <a:avLst/>
          </a:prstGeom>
          <a:solidFill>
            <a:srgbClr val="2E7D32">
              <a:alpha val="70000"/>
            </a:srgbClr>
          </a:solidFill>
          <a:ln w="12700">
            <a:solidFill>
              <a:srgbClr val="97BC62"/>
            </a:solidFill>
            <a:prstDash val="solid"/>
          </a:ln>
        </p:spPr>
      </p:sp>
      <p:sp>
        <p:nvSpPr>
          <p:cNvPr id="30" name="Text 27"/>
          <p:cNvSpPr/>
          <p:nvPr/>
        </p:nvSpPr>
        <p:spPr>
          <a:xfrm>
            <a:off x="6903720" y="49560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8"/>
          <p:cNvSpPr/>
          <p:nvPr/>
        </p:nvSpPr>
        <p:spPr>
          <a:xfrm>
            <a:off x="7406640" y="4928616"/>
            <a:ext cx="1097280" cy="365760"/>
          </a:xfrm>
          <a:prstGeom prst="rect">
            <a:avLst/>
          </a:prstGeom>
          <a:noFill/>
          <a:ln/>
        </p:spPr>
        <p:txBody>
          <a:bodyPr wrap="square" lIns="0" tIns="0" rIns="0" bIns="0" rtlCol="0" anchor="ctr"/>
          <a:lstStyle/>
          <a:p>
            <a:pPr marL="0" indent="0">
              <a:buNone/>
            </a:pPr>
            <a:r>
              <a:rPr lang="en-US" sz="1300" b="1" dirty="0">
                <a:solidFill>
                  <a:srgbClr val="97BC62"/>
                </a:solidFill>
                <a:latin typeface="Calibri" pitchFamily="34" charset="0"/>
                <a:ea typeface="Calibri" pitchFamily="34" charset="-122"/>
                <a:cs typeface="Calibri" pitchFamily="34" charset="-120"/>
              </a:rPr>
              <a:t>Checkout</a:t>
            </a:r>
            <a:endParaRPr lang="en-US" sz="1300" dirty="0"/>
          </a:p>
        </p:txBody>
      </p:sp>
      <p:sp>
        <p:nvSpPr>
          <p:cNvPr id="32" name="Text 29"/>
          <p:cNvSpPr/>
          <p:nvPr/>
        </p:nvSpPr>
        <p:spPr>
          <a:xfrm>
            <a:off x="8458200" y="4928616"/>
            <a:ext cx="3520440" cy="502920"/>
          </a:xfrm>
          <a:prstGeom prst="rect">
            <a:avLst/>
          </a:prstGeom>
          <a:noFill/>
          <a:ln/>
        </p:spPr>
        <p:txBody>
          <a:bodyPr wrap="square" lIns="0" tIns="0" rIns="0" bIns="0" rtlCol="0" anchor="ctr"/>
          <a:lstStyle/>
          <a:p>
            <a:pPr marL="0" indent="0">
              <a:lnSpc>
                <a:spcPct val="100000"/>
              </a:lnSpc>
              <a:buNone/>
            </a:pPr>
            <a:r>
              <a:rPr lang="en-US" sz="1100" dirty="0">
                <a:solidFill>
                  <a:srgbClr val="DCEDC8"/>
                </a:solidFill>
                <a:latin typeface="Calibri" pitchFamily="34" charset="0"/>
                <a:ea typeface="Calibri" pitchFamily="34" charset="-122"/>
                <a:cs typeface="Calibri" pitchFamily="34" charset="-120"/>
              </a:rPr>
              <a:t>Confirm → cart + User ID + Total POSTs to Firestore 'orders'</a:t>
            </a:r>
            <a:endParaRPr lang="en-US" sz="1100" dirty="0"/>
          </a:p>
        </p:txBody>
      </p:sp>
      <p:sp>
        <p:nvSpPr>
          <p:cNvPr id="33" name="Shape 30"/>
          <p:cNvSpPr/>
          <p:nvPr/>
        </p:nvSpPr>
        <p:spPr>
          <a:xfrm>
            <a:off x="7086600" y="5340096"/>
            <a:ext cx="0" cy="292608"/>
          </a:xfrm>
          <a:prstGeom prst="line">
            <a:avLst/>
          </a:prstGeom>
          <a:noFill/>
          <a:ln w="9525">
            <a:solidFill>
              <a:srgbClr val="97BC62"/>
            </a:solidFill>
            <a:prstDash val="dash"/>
          </a:ln>
        </p:spPr>
      </p:sp>
      <p:sp>
        <p:nvSpPr>
          <p:cNvPr id="34" name="Shape 31"/>
          <p:cNvSpPr/>
          <p:nvPr/>
        </p:nvSpPr>
        <p:spPr>
          <a:xfrm>
            <a:off x="6903720" y="5669280"/>
            <a:ext cx="365760" cy="365760"/>
          </a:xfrm>
          <a:prstGeom prst="ellipse">
            <a:avLst/>
          </a:prstGeom>
          <a:solidFill>
            <a:srgbClr val="2E7D32">
              <a:alpha val="70000"/>
            </a:srgbClr>
          </a:solidFill>
          <a:ln w="12700">
            <a:solidFill>
              <a:srgbClr val="97BC62"/>
            </a:solidFill>
            <a:prstDash val="solid"/>
          </a:ln>
        </p:spPr>
      </p:sp>
      <p:sp>
        <p:nvSpPr>
          <p:cNvPr id="35" name="Text 32"/>
          <p:cNvSpPr/>
          <p:nvPr/>
        </p:nvSpPr>
        <p:spPr>
          <a:xfrm>
            <a:off x="6903720" y="5669280"/>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3"/>
          <p:cNvSpPr/>
          <p:nvPr/>
        </p:nvSpPr>
        <p:spPr>
          <a:xfrm>
            <a:off x="7406640" y="5641848"/>
            <a:ext cx="1097280" cy="365760"/>
          </a:xfrm>
          <a:prstGeom prst="rect">
            <a:avLst/>
          </a:prstGeom>
          <a:noFill/>
          <a:ln/>
        </p:spPr>
        <p:txBody>
          <a:bodyPr wrap="square" lIns="0" tIns="0" rIns="0" bIns="0" rtlCol="0" anchor="ctr"/>
          <a:lstStyle/>
          <a:p>
            <a:pPr marL="0" indent="0">
              <a:buNone/>
            </a:pPr>
            <a:r>
              <a:rPr lang="en-US" sz="1300" b="1" dirty="0">
                <a:solidFill>
                  <a:srgbClr val="97BC62"/>
                </a:solidFill>
                <a:latin typeface="Calibri" pitchFamily="34" charset="0"/>
                <a:ea typeface="Calibri" pitchFamily="34" charset="-122"/>
                <a:cs typeface="Calibri" pitchFamily="34" charset="-120"/>
              </a:rPr>
              <a:t>Reset</a:t>
            </a:r>
            <a:endParaRPr lang="en-US" sz="1300" dirty="0"/>
          </a:p>
        </p:txBody>
      </p:sp>
      <p:sp>
        <p:nvSpPr>
          <p:cNvPr id="37" name="Text 34"/>
          <p:cNvSpPr/>
          <p:nvPr/>
        </p:nvSpPr>
        <p:spPr>
          <a:xfrm>
            <a:off x="8458200" y="5641848"/>
            <a:ext cx="3520440" cy="502920"/>
          </a:xfrm>
          <a:prstGeom prst="rect">
            <a:avLst/>
          </a:prstGeom>
          <a:noFill/>
          <a:ln/>
        </p:spPr>
        <p:txBody>
          <a:bodyPr wrap="square" lIns="0" tIns="0" rIns="0" bIns="0" rtlCol="0" anchor="ctr"/>
          <a:lstStyle/>
          <a:p>
            <a:pPr marL="0" indent="0">
              <a:lnSpc>
                <a:spcPct val="100000"/>
              </a:lnSpc>
              <a:buNone/>
            </a:pPr>
            <a:r>
              <a:rPr lang="en-US" sz="1100" dirty="0">
                <a:solidFill>
                  <a:srgbClr val="DCEDC8"/>
                </a:solidFill>
                <a:latin typeface="Calibri" pitchFamily="34" charset="0"/>
                <a:ea typeface="Calibri" pitchFamily="34" charset="-122"/>
                <a:cs typeface="Calibri" pitchFamily="34" charset="-120"/>
              </a:rPr>
              <a:t>cart_provider clears; orders_screen live-updates via Firestore listener</a:t>
            </a:r>
            <a:endParaRPr lang="en-US" sz="1100" dirty="0"/>
          </a:p>
        </p:txBody>
      </p:sp>
      <p:sp>
        <p:nvSpPr>
          <p:cNvPr id="38" name="Text 35"/>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Ch.6.3–6.4, Fig. 6.3</a:t>
            </a:r>
            <a:endParaRPr lang="en-US" sz="1000" dirty="0"/>
          </a:p>
        </p:txBody>
      </p:sp>
      <p:sp>
        <p:nvSpPr>
          <p:cNvPr id="39" name="Text 36"/>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CHAPTER 7 — EVALUATION &amp; TESTING</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78.33 SUS Score — “Acceptable” Usability</a:t>
            </a:r>
            <a:endParaRPr lang="en-US" sz="3200" dirty="0"/>
          </a:p>
        </p:txBody>
      </p:sp>
      <p:sp>
        <p:nvSpPr>
          <p:cNvPr id="4" name="Shape 2"/>
          <p:cNvSpPr/>
          <p:nvPr/>
        </p:nvSpPr>
        <p:spPr>
          <a:xfrm>
            <a:off x="548640" y="1691640"/>
            <a:ext cx="4023360" cy="2331720"/>
          </a:xfrm>
          <a:prstGeom prst="roundRect">
            <a:avLst>
              <a:gd name="adj" fmla="val 3137"/>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5" name="Shape 3"/>
          <p:cNvSpPr/>
          <p:nvPr/>
        </p:nvSpPr>
        <p:spPr>
          <a:xfrm>
            <a:off x="822960" y="1920240"/>
            <a:ext cx="548640" cy="548640"/>
          </a:xfrm>
          <a:prstGeom prst="ellipse">
            <a:avLst/>
          </a:prstGeom>
          <a:solidFill>
            <a:srgbClr val="2E7D32">
              <a:alpha val="12000"/>
            </a:srgbClr>
          </a:solidFill>
          <a:ln/>
        </p:spPr>
      </p:sp>
      <p:pic>
        <p:nvPicPr>
          <p:cNvPr id="6" name="Image 0" descr="icons/microscope_green.png"/>
          <p:cNvPicPr>
            <a:picLocks noChangeAspect="1"/>
          </p:cNvPicPr>
          <p:nvPr/>
        </p:nvPicPr>
        <p:blipFill>
          <a:blip r:embed="rId3"/>
          <a:stretch>
            <a:fillRect/>
          </a:stretch>
        </p:blipFill>
        <p:spPr>
          <a:xfrm>
            <a:off x="946404" y="2043684"/>
            <a:ext cx="301752" cy="301752"/>
          </a:xfrm>
          <a:prstGeom prst="rect">
            <a:avLst/>
          </a:prstGeom>
        </p:spPr>
      </p:pic>
      <p:sp>
        <p:nvSpPr>
          <p:cNvPr id="7" name="Text 4"/>
          <p:cNvSpPr/>
          <p:nvPr/>
        </p:nvSpPr>
        <p:spPr>
          <a:xfrm>
            <a:off x="1508760" y="1993392"/>
            <a:ext cx="2926080" cy="548640"/>
          </a:xfrm>
          <a:prstGeom prst="rect">
            <a:avLst/>
          </a:prstGeom>
          <a:noFill/>
          <a:ln/>
        </p:spPr>
        <p:txBody>
          <a:bodyPr wrap="square" lIns="0" tIns="0" rIns="0" bIns="0" rtlCol="0" anchor="ctr"/>
          <a:lstStyle/>
          <a:p>
            <a:pPr marL="0" indent="0">
              <a:lnSpc>
                <a:spcPct val="95000"/>
              </a:lnSpc>
              <a:buNone/>
            </a:pPr>
            <a:r>
              <a:rPr lang="en-US" sz="1350" b="1" dirty="0">
                <a:solidFill>
                  <a:srgbClr val="263238"/>
                </a:solidFill>
                <a:latin typeface="Calibri" pitchFamily="34" charset="0"/>
                <a:ea typeface="Calibri" pitchFamily="34" charset="-122"/>
                <a:cs typeface="Calibri" pitchFamily="34" charset="-120"/>
              </a:rPr>
              <a:t>7.1 Multi-AI Code &amp; Accessibility Testing</a:t>
            </a:r>
            <a:endParaRPr lang="en-US" sz="1350" dirty="0"/>
          </a:p>
        </p:txBody>
      </p:sp>
      <p:sp>
        <p:nvSpPr>
          <p:cNvPr id="8" name="Text 5"/>
          <p:cNvSpPr/>
          <p:nvPr/>
        </p:nvSpPr>
        <p:spPr>
          <a:xfrm>
            <a:off x="822960" y="2606040"/>
            <a:ext cx="3566160" cy="777240"/>
          </a:xfrm>
          <a:prstGeom prst="rect">
            <a:avLst/>
          </a:prstGeom>
          <a:noFill/>
          <a:ln/>
        </p:spPr>
        <p:txBody>
          <a:bodyPr wrap="square" lIns="0" tIns="0" rIns="0" bIns="0" rtlCol="0" anchor="ctr"/>
          <a:lstStyle/>
          <a:p>
            <a:pPr marL="0" indent="0">
              <a:lnSpc>
                <a:spcPct val="110000"/>
              </a:lnSpc>
              <a:buNone/>
            </a:pPr>
            <a:r>
              <a:rPr lang="en-US" sz="1150" dirty="0">
                <a:solidFill>
                  <a:srgbClr val="263238"/>
                </a:solidFill>
                <a:latin typeface="Calibri" pitchFamily="34" charset="0"/>
                <a:ea typeface="Calibri" pitchFamily="34" charset="-122"/>
                <a:cs typeface="Calibri" pitchFamily="34" charset="-120"/>
              </a:rPr>
              <a:t>The Flutter codebase was fed to Claude 3.5 Sonnet and ChatGPT to check logic flaws, edge cases, and UI accessibility — preventing developer bias.</a:t>
            </a:r>
            <a:endParaRPr lang="en-US" sz="1150" dirty="0"/>
          </a:p>
        </p:txBody>
      </p:sp>
      <p:sp>
        <p:nvSpPr>
          <p:cNvPr id="9" name="Text 6"/>
          <p:cNvSpPr/>
          <p:nvPr/>
        </p:nvSpPr>
        <p:spPr>
          <a:xfrm>
            <a:off x="822960" y="3429000"/>
            <a:ext cx="3566160" cy="594360"/>
          </a:xfrm>
          <a:prstGeom prst="rect">
            <a:avLst/>
          </a:prstGeom>
          <a:noFill/>
          <a:ln/>
        </p:spPr>
        <p:txBody>
          <a:bodyPr wrap="square" lIns="0" tIns="0" rIns="0" bIns="0" rtlCol="0" anchor="ctr"/>
          <a:lstStyle/>
          <a:p>
            <a:pPr marL="0" indent="0">
              <a:lnSpc>
                <a:spcPct val="110000"/>
              </a:lnSpc>
              <a:buNone/>
            </a:pPr>
            <a:r>
              <a:rPr lang="en-US" sz="1100" b="1" dirty="0">
                <a:solidFill>
                  <a:srgbClr val="2E7D32"/>
                </a:solidFill>
                <a:latin typeface="Calibri" pitchFamily="34" charset="0"/>
                <a:ea typeface="Calibri" pitchFamily="34" charset="-122"/>
                <a:cs typeface="Calibri" pitchFamily="34" charset="-120"/>
              </a:rPr>
              <a:t>Result: </a:t>
            </a:r>
            <a:r>
              <a:rPr lang="en-US" sz="1100" dirty="0">
                <a:solidFill>
                  <a:srgbClr val="263238"/>
                </a:solidFill>
                <a:latin typeface="Calibri" pitchFamily="34" charset="0"/>
                <a:ea typeface="Calibri" pitchFamily="34" charset="-122"/>
                <a:cs typeface="Calibri" pitchFamily="34" charset="-120"/>
              </a:rPr>
              <a:t>Contrast ratios stayed above WCAG AA in both Light &amp; Dark modes; Firestore async calls verified to use try-catch for graceful network error handling.</a:t>
            </a:r>
            <a:endParaRPr lang="en-US" sz="1100" dirty="0"/>
          </a:p>
        </p:txBody>
      </p:sp>
      <p:sp>
        <p:nvSpPr>
          <p:cNvPr id="10" name="Shape 7"/>
          <p:cNvSpPr/>
          <p:nvPr/>
        </p:nvSpPr>
        <p:spPr>
          <a:xfrm>
            <a:off x="548640" y="4160520"/>
            <a:ext cx="4023360" cy="2194560"/>
          </a:xfrm>
          <a:prstGeom prst="roundRect">
            <a:avLst>
              <a:gd name="adj" fmla="val 3333"/>
            </a:avLst>
          </a:prstGeom>
          <a:solidFill>
            <a:srgbClr val="1B5E20"/>
          </a:solidFill>
          <a:ln/>
          <a:effectLst>
            <a:outerShdw blurRad="101600" dist="38100" dir="2700000" algn="bl" rotWithShape="0">
              <a:srgbClr val="1B5E20">
                <a:alpha val="18000"/>
              </a:srgbClr>
            </a:outerShdw>
          </a:effectLst>
        </p:spPr>
      </p:sp>
      <p:sp>
        <p:nvSpPr>
          <p:cNvPr id="11" name="Text 8"/>
          <p:cNvSpPr/>
          <p:nvPr/>
        </p:nvSpPr>
        <p:spPr>
          <a:xfrm>
            <a:off x="822960" y="4370832"/>
            <a:ext cx="3474720" cy="274320"/>
          </a:xfrm>
          <a:prstGeom prst="rect">
            <a:avLst/>
          </a:prstGeom>
          <a:noFill/>
          <a:ln/>
        </p:spPr>
        <p:txBody>
          <a:bodyPr wrap="square" lIns="0" tIns="0" rIns="0" bIns="0" rtlCol="0" anchor="ctr"/>
          <a:lstStyle/>
          <a:p>
            <a:pPr marL="0" indent="0">
              <a:buNone/>
            </a:pPr>
            <a:r>
              <a:rPr lang="en-US" sz="1100" b="1" kern="0" spc="200" dirty="0">
                <a:solidFill>
                  <a:srgbClr val="97BC62"/>
                </a:solidFill>
                <a:latin typeface="Calibri" pitchFamily="34" charset="0"/>
                <a:ea typeface="Calibri" pitchFamily="34" charset="-122"/>
                <a:cs typeface="Calibri" pitchFamily="34" charset="-120"/>
              </a:rPr>
              <a:t>AVERAGE SUS SCORE (12 USERS)</a:t>
            </a:r>
            <a:endParaRPr lang="en-US" sz="1100" dirty="0"/>
          </a:p>
        </p:txBody>
      </p:sp>
      <p:sp>
        <p:nvSpPr>
          <p:cNvPr id="12" name="Text 9"/>
          <p:cNvSpPr/>
          <p:nvPr/>
        </p:nvSpPr>
        <p:spPr>
          <a:xfrm>
            <a:off x="822960" y="4526280"/>
            <a:ext cx="3474720" cy="1005840"/>
          </a:xfrm>
          <a:prstGeom prst="rect">
            <a:avLst/>
          </a:prstGeom>
          <a:noFill/>
          <a:ln/>
        </p:spPr>
        <p:txBody>
          <a:bodyPr wrap="square" lIns="0" tIns="0" rIns="0" bIns="0"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78.33</a:t>
            </a:r>
            <a:endParaRPr lang="en-US" sz="6400" dirty="0"/>
          </a:p>
        </p:txBody>
      </p:sp>
      <p:sp>
        <p:nvSpPr>
          <p:cNvPr id="13" name="Text 10"/>
          <p:cNvSpPr/>
          <p:nvPr/>
        </p:nvSpPr>
        <p:spPr>
          <a:xfrm>
            <a:off x="822960" y="5577840"/>
            <a:ext cx="3474720" cy="685800"/>
          </a:xfrm>
          <a:prstGeom prst="rect">
            <a:avLst/>
          </a:prstGeom>
          <a:noFill/>
          <a:ln/>
        </p:spPr>
        <p:txBody>
          <a:bodyPr wrap="square" lIns="0" tIns="0" rIns="0" bIns="0" rtlCol="0" anchor="ctr"/>
          <a:lstStyle/>
          <a:p>
            <a:pPr marL="0" indent="0">
              <a:lnSpc>
                <a:spcPct val="115000"/>
              </a:lnSpc>
              <a:buNone/>
            </a:pPr>
            <a:r>
              <a:rPr lang="en-US" sz="1100" dirty="0">
                <a:solidFill>
                  <a:srgbClr val="DCEDC8"/>
                </a:solidFill>
                <a:latin typeface="Calibri" pitchFamily="34" charset="0"/>
                <a:ea typeface="Calibri" pitchFamily="34" charset="-122"/>
                <a:cs typeface="Calibri" pitchFamily="34" charset="-120"/>
              </a:rPr>
              <a:t>&gt; 70 = “Acceptable (Good)”  —  Formula: ((Odd Sum − 5) + (25 − Even Sum)) × 2.5</a:t>
            </a:r>
            <a:endParaRPr lang="en-US" sz="1100" dirty="0"/>
          </a:p>
        </p:txBody>
      </p:sp>
      <p:sp>
        <p:nvSpPr>
          <p:cNvPr id="14" name="Text 11"/>
          <p:cNvSpPr/>
          <p:nvPr/>
        </p:nvSpPr>
        <p:spPr>
          <a:xfrm>
            <a:off x="4800600" y="1691640"/>
            <a:ext cx="6812280" cy="365760"/>
          </a:xfrm>
          <a:prstGeom prst="rect">
            <a:avLst/>
          </a:prstGeom>
          <a:noFill/>
          <a:ln/>
        </p:spPr>
        <p:txBody>
          <a:bodyPr wrap="square" lIns="0" tIns="0" rIns="0" bIns="0" rtlCol="0" anchor="ctr"/>
          <a:lstStyle/>
          <a:p>
            <a:pPr marL="0" indent="0">
              <a:buNone/>
            </a:pPr>
            <a:r>
              <a:rPr lang="en-US" sz="1300" b="1" dirty="0">
                <a:solidFill>
                  <a:srgbClr val="263238"/>
                </a:solidFill>
                <a:latin typeface="Calibri" pitchFamily="34" charset="0"/>
                <a:ea typeface="Calibri" pitchFamily="34" charset="-122"/>
                <a:cs typeface="Calibri" pitchFamily="34" charset="-120"/>
              </a:rPr>
              <a:t>Table 7.1 — SUS Score per Respondent (12 real users, Figma prototype)</a:t>
            </a:r>
            <a:endParaRPr lang="en-US" sz="1300" dirty="0"/>
          </a:p>
        </p:txBody>
      </p:sp>
      <p:graphicFrame>
        <p:nvGraphicFramePr>
          <p:cNvPr id="15" name="Chart 0"/>
          <p:cNvGraphicFramePr/>
          <p:nvPr/>
        </p:nvGraphicFramePr>
        <p:xfrm>
          <a:off x="4800600" y="2103120"/>
          <a:ext cx="6812280" cy="3246120"/>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 12"/>
          <p:cNvSpPr/>
          <p:nvPr/>
        </p:nvSpPr>
        <p:spPr>
          <a:xfrm>
            <a:off x="4800600" y="5486400"/>
            <a:ext cx="6812280" cy="868680"/>
          </a:xfrm>
          <a:prstGeom prst="rect">
            <a:avLst/>
          </a:prstGeom>
          <a:noFill/>
          <a:ln/>
        </p:spPr>
        <p:txBody>
          <a:bodyPr wrap="square" lIns="0" tIns="0" rIns="0" bIns="0" rtlCol="0" anchor="ctr"/>
          <a:lstStyle/>
          <a:p>
            <a:pPr marL="0" indent="0">
              <a:lnSpc>
                <a:spcPct val="110000"/>
              </a:lnSpc>
              <a:buNone/>
            </a:pPr>
            <a:r>
              <a:rPr lang="en-US" sz="1100" i="1" dirty="0">
                <a:solidFill>
                  <a:srgbClr val="64748B"/>
                </a:solidFill>
                <a:latin typeface="Calibri" pitchFamily="34" charset="0"/>
                <a:ea typeface="Calibri" pitchFamily="34" charset="-122"/>
                <a:cs typeface="Calibri" pitchFamily="34" charset="-120"/>
              </a:rPr>
              <a:t>* R4 &amp; R7 showed “straight-lining” (didn't read reverse-coded items) — retained for data authenticity. Even with these low outliers, the average stays solidly “Acceptable”.</a:t>
            </a:r>
            <a:endParaRPr lang="en-US" sz="1100" dirty="0"/>
          </a:p>
        </p:txBody>
      </p:sp>
      <p:sp>
        <p:nvSpPr>
          <p:cNvPr id="17" name="Text 13"/>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Source: Report Ch.7.1–7.3, Table 7.1</a:t>
            </a:r>
            <a:endParaRPr lang="en-US" sz="1000" dirty="0"/>
          </a:p>
        </p:txBody>
      </p:sp>
      <p:sp>
        <p:nvSpPr>
          <p:cNvPr id="18" name="Text 14"/>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5E20"/>
        </a:solidFill>
        <a:effectLst/>
      </p:bgPr>
    </p:bg>
    <p:spTree>
      <p:nvGrpSpPr>
        <p:cNvPr id="1" name=""/>
        <p:cNvGrpSpPr/>
        <p:nvPr/>
      </p:nvGrpSpPr>
      <p:grpSpPr>
        <a:xfrm>
          <a:off x="0" y="0"/>
          <a:ext cx="0" cy="0"/>
          <a:chOff x="0" y="0"/>
          <a:chExt cx="0" cy="0"/>
        </a:xfrm>
      </p:grpSpPr>
      <p:sp>
        <p:nvSpPr>
          <p:cNvPr id="2" name="Shape 0"/>
          <p:cNvSpPr/>
          <p:nvPr/>
        </p:nvSpPr>
        <p:spPr>
          <a:xfrm>
            <a:off x="9601200" y="-1371600"/>
            <a:ext cx="4114800" cy="4114800"/>
          </a:xfrm>
          <a:prstGeom prst="ellipse">
            <a:avLst/>
          </a:prstGeom>
          <a:solidFill>
            <a:srgbClr val="2E7D32">
              <a:alpha val="45000"/>
            </a:srgbClr>
          </a:solidFill>
          <a:ln/>
        </p:spPr>
      </p:sp>
      <p:sp>
        <p:nvSpPr>
          <p:cNvPr id="3" name="Shape 1"/>
          <p:cNvSpPr/>
          <p:nvPr/>
        </p:nvSpPr>
        <p:spPr>
          <a:xfrm>
            <a:off x="-1097280" y="5029200"/>
            <a:ext cx="3200400" cy="3200400"/>
          </a:xfrm>
          <a:prstGeom prst="ellipse">
            <a:avLst/>
          </a:prstGeom>
          <a:solidFill>
            <a:srgbClr val="97BC62">
              <a:alpha val="22000"/>
            </a:srgbClr>
          </a:solidFill>
          <a:ln/>
        </p:spPr>
      </p:sp>
      <p:sp>
        <p:nvSpPr>
          <p:cNvPr id="4" name="Text 2"/>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97BC62"/>
                </a:solidFill>
                <a:latin typeface="Calibri" pitchFamily="34" charset="0"/>
                <a:ea typeface="Calibri" pitchFamily="34" charset="-122"/>
                <a:cs typeface="Calibri" pitchFamily="34" charset="-120"/>
              </a:rPr>
              <a:t>CHAPTER 8 — CONCLUSION &amp; FUTURE WORK</a:t>
            </a:r>
            <a:endParaRPr lang="en-US" sz="1200" dirty="0"/>
          </a:p>
        </p:txBody>
      </p:sp>
      <p:sp>
        <p:nvSpPr>
          <p:cNvPr id="5" name="Text 3"/>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From Cluttered to Confident</a:t>
            </a:r>
            <a:endParaRPr lang="en-US" sz="3200" dirty="0"/>
          </a:p>
        </p:txBody>
      </p:sp>
      <p:sp>
        <p:nvSpPr>
          <p:cNvPr id="6" name="Shape 4"/>
          <p:cNvSpPr/>
          <p:nvPr/>
        </p:nvSpPr>
        <p:spPr>
          <a:xfrm>
            <a:off x="548640" y="1737360"/>
            <a:ext cx="6949440" cy="4572000"/>
          </a:xfrm>
          <a:prstGeom prst="roundRect">
            <a:avLst>
              <a:gd name="adj" fmla="val 1600"/>
            </a:avLst>
          </a:prstGeom>
          <a:solidFill>
            <a:srgbClr val="2E7D32">
              <a:alpha val="65000"/>
            </a:srgbClr>
          </a:solidFill>
          <a:ln/>
        </p:spPr>
      </p:sp>
      <p:sp>
        <p:nvSpPr>
          <p:cNvPr id="7" name="Shape 5"/>
          <p:cNvSpPr/>
          <p:nvPr/>
        </p:nvSpPr>
        <p:spPr>
          <a:xfrm>
            <a:off x="822960" y="1965960"/>
            <a:ext cx="594360" cy="594360"/>
          </a:xfrm>
          <a:prstGeom prst="ellipse">
            <a:avLst/>
          </a:prstGeom>
          <a:solidFill>
            <a:srgbClr val="FFFFFF">
              <a:alpha val="88000"/>
            </a:srgbClr>
          </a:solidFill>
          <a:ln/>
        </p:spPr>
      </p:sp>
      <p:pic>
        <p:nvPicPr>
          <p:cNvPr id="8" name="Image 0" descr="icons/check_green.png"/>
          <p:cNvPicPr>
            <a:picLocks noChangeAspect="1"/>
          </p:cNvPicPr>
          <p:nvPr/>
        </p:nvPicPr>
        <p:blipFill>
          <a:blip r:embed="rId3"/>
          <a:stretch>
            <a:fillRect/>
          </a:stretch>
        </p:blipFill>
        <p:spPr>
          <a:xfrm>
            <a:off x="956691" y="2099691"/>
            <a:ext cx="326898" cy="326898"/>
          </a:xfrm>
          <a:prstGeom prst="rect">
            <a:avLst/>
          </a:prstGeom>
        </p:spPr>
      </p:pic>
      <p:sp>
        <p:nvSpPr>
          <p:cNvPr id="9" name="Text 6"/>
          <p:cNvSpPr/>
          <p:nvPr/>
        </p:nvSpPr>
        <p:spPr>
          <a:xfrm>
            <a:off x="1554480" y="2029968"/>
            <a:ext cx="4572000" cy="4572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8.1 Summary</a:t>
            </a:r>
            <a:endParaRPr lang="en-US" sz="1700" dirty="0"/>
          </a:p>
        </p:txBody>
      </p:sp>
      <p:sp>
        <p:nvSpPr>
          <p:cNvPr id="10" name="Text 7"/>
          <p:cNvSpPr/>
          <p:nvPr/>
        </p:nvSpPr>
        <p:spPr>
          <a:xfrm>
            <a:off x="822960" y="2606040"/>
            <a:ext cx="6400800" cy="777240"/>
          </a:xfrm>
          <a:prstGeom prst="rect">
            <a:avLst/>
          </a:prstGeom>
          <a:noFill/>
          <a:ln/>
        </p:spPr>
        <p:txBody>
          <a:bodyPr wrap="square" lIns="0" tIns="0" rIns="0" bIns="0" rtlCol="0" anchor="ctr"/>
          <a:lstStyle/>
          <a:p>
            <a:pPr marL="0" indent="0">
              <a:lnSpc>
                <a:spcPct val="120000"/>
              </a:lnSpc>
              <a:buNone/>
            </a:pPr>
            <a:r>
              <a:rPr lang="en-US" sz="1300" dirty="0">
                <a:solidFill>
                  <a:srgbClr val="DCEDC8"/>
                </a:solidFill>
                <a:latin typeface="Calibri" pitchFamily="34" charset="0"/>
                <a:ea typeface="Calibri" pitchFamily="34" charset="-122"/>
                <a:cs typeface="Calibri" pitchFamily="34" charset="-120"/>
              </a:rPr>
              <a:t>Applying Design Thinking end-to-end — grounded in real data from 32 survey respondents and on-site stakeholder interviews — the three core UX flaws of K24Klik were identified and resolved:</a:t>
            </a:r>
            <a:endParaRPr lang="en-US" sz="1300" dirty="0"/>
          </a:p>
        </p:txBody>
      </p:sp>
      <p:sp>
        <p:nvSpPr>
          <p:cNvPr id="11" name="Shape 8"/>
          <p:cNvSpPr/>
          <p:nvPr/>
        </p:nvSpPr>
        <p:spPr>
          <a:xfrm>
            <a:off x="868680" y="3575304"/>
            <a:ext cx="146304" cy="146304"/>
          </a:xfrm>
          <a:prstGeom prst="ellipse">
            <a:avLst/>
          </a:prstGeom>
          <a:solidFill>
            <a:srgbClr val="97BC62"/>
          </a:solidFill>
          <a:ln/>
        </p:spPr>
      </p:sp>
      <p:sp>
        <p:nvSpPr>
          <p:cNvPr id="12" name="Text 9"/>
          <p:cNvSpPr/>
          <p:nvPr/>
        </p:nvSpPr>
        <p:spPr>
          <a:xfrm>
            <a:off x="1143000" y="3520440"/>
            <a:ext cx="612648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Visual clutter</a:t>
            </a:r>
            <a:r>
              <a:rPr lang="en-US" sz="1300" dirty="0">
                <a:solidFill>
                  <a:srgbClr val="DCEDC8"/>
                </a:solidFill>
                <a:latin typeface="Calibri" pitchFamily="34" charset="0"/>
                <a:ea typeface="Calibri" pitchFamily="34" charset="-122"/>
                <a:cs typeface="Calibri" pitchFamily="34" charset="-120"/>
              </a:rPr>
              <a:t>  → minimalist home screen, no aggressive pop-ups</a:t>
            </a:r>
            <a:endParaRPr lang="en-US" sz="1300" dirty="0"/>
          </a:p>
        </p:txBody>
      </p:sp>
      <p:sp>
        <p:nvSpPr>
          <p:cNvPr id="13" name="Shape 10"/>
          <p:cNvSpPr/>
          <p:nvPr/>
        </p:nvSpPr>
        <p:spPr>
          <a:xfrm>
            <a:off x="868680" y="4169664"/>
            <a:ext cx="146304" cy="146304"/>
          </a:xfrm>
          <a:prstGeom prst="ellipse">
            <a:avLst/>
          </a:prstGeom>
          <a:solidFill>
            <a:srgbClr val="97BC62"/>
          </a:solidFill>
          <a:ln/>
        </p:spPr>
      </p:sp>
      <p:sp>
        <p:nvSpPr>
          <p:cNvPr id="14" name="Text 11"/>
          <p:cNvSpPr/>
          <p:nvPr/>
        </p:nvSpPr>
        <p:spPr>
          <a:xfrm>
            <a:off x="1143000" y="4114800"/>
            <a:ext cx="612648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Cognitive overload</a:t>
            </a:r>
            <a:r>
              <a:rPr lang="en-US" sz="1300" dirty="0">
                <a:solidFill>
                  <a:srgbClr val="DCEDC8"/>
                </a:solidFill>
                <a:latin typeface="Calibri" pitchFamily="34" charset="0"/>
                <a:ea typeface="Calibri" pitchFamily="34" charset="-122"/>
                <a:cs typeface="Calibri" pitchFamily="34" charset="-120"/>
              </a:rPr>
              <a:t>  → collapsible Accordion tabs for medical text</a:t>
            </a:r>
            <a:endParaRPr lang="en-US" sz="1300" dirty="0"/>
          </a:p>
        </p:txBody>
      </p:sp>
      <p:sp>
        <p:nvSpPr>
          <p:cNvPr id="15" name="Shape 12"/>
          <p:cNvSpPr/>
          <p:nvPr/>
        </p:nvSpPr>
        <p:spPr>
          <a:xfrm>
            <a:off x="868680" y="4764024"/>
            <a:ext cx="146304" cy="146304"/>
          </a:xfrm>
          <a:prstGeom prst="ellipse">
            <a:avLst/>
          </a:prstGeom>
          <a:solidFill>
            <a:srgbClr val="97BC62"/>
          </a:solidFill>
          <a:ln/>
        </p:spPr>
      </p:sp>
      <p:sp>
        <p:nvSpPr>
          <p:cNvPr id="16" name="Text 13"/>
          <p:cNvSpPr/>
          <p:nvPr/>
        </p:nvSpPr>
        <p:spPr>
          <a:xfrm>
            <a:off x="1143000" y="4709160"/>
            <a:ext cx="612648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Complex checkout navigation</a:t>
            </a:r>
            <a:r>
              <a:rPr lang="en-US" sz="1300" dirty="0">
                <a:solidFill>
                  <a:srgbClr val="DCEDC8"/>
                </a:solidFill>
                <a:latin typeface="Calibri" pitchFamily="34" charset="0"/>
                <a:ea typeface="Calibri" pitchFamily="34" charset="-122"/>
                <a:cs typeface="Calibri" pitchFamily="34" charset="-120"/>
              </a:rPr>
              <a:t>  → single-page, early-warning checkout flow</a:t>
            </a:r>
            <a:endParaRPr lang="en-US" sz="1300" dirty="0"/>
          </a:p>
        </p:txBody>
      </p:sp>
      <p:sp>
        <p:nvSpPr>
          <p:cNvPr id="17" name="Text 14"/>
          <p:cNvSpPr/>
          <p:nvPr/>
        </p:nvSpPr>
        <p:spPr>
          <a:xfrm>
            <a:off x="822960" y="5532120"/>
            <a:ext cx="6400800" cy="594360"/>
          </a:xfrm>
          <a:prstGeom prst="rect">
            <a:avLst/>
          </a:prstGeom>
          <a:noFill/>
          <a:ln/>
        </p:spPr>
        <p:txBody>
          <a:bodyPr wrap="square" lIns="0" tIns="0" rIns="0" bIns="0" rtlCol="0" anchor="ctr"/>
          <a:lstStyle/>
          <a:p>
            <a:pPr marL="0" indent="0">
              <a:lnSpc>
                <a:spcPct val="115000"/>
              </a:lnSpc>
              <a:buNone/>
            </a:pPr>
            <a:r>
              <a:rPr lang="en-US" sz="1350" b="1" i="1" dirty="0">
                <a:solidFill>
                  <a:srgbClr val="FFFFFF"/>
                </a:solidFill>
                <a:latin typeface="Calibri" pitchFamily="34" charset="0"/>
                <a:ea typeface="Calibri" pitchFamily="34" charset="-122"/>
                <a:cs typeface="Calibri" pitchFamily="34" charset="-120"/>
              </a:rPr>
              <a:t>Result: a clean, ergonomic, bilingual, cloud-connected Flutter MVP with a highly acceptable SUS score of 78.33.</a:t>
            </a:r>
            <a:endParaRPr lang="en-US" sz="1350" dirty="0"/>
          </a:p>
        </p:txBody>
      </p:sp>
      <p:sp>
        <p:nvSpPr>
          <p:cNvPr id="18" name="Shape 15"/>
          <p:cNvSpPr/>
          <p:nvPr/>
        </p:nvSpPr>
        <p:spPr>
          <a:xfrm>
            <a:off x="7757160" y="1737360"/>
            <a:ext cx="3886200" cy="4572000"/>
          </a:xfrm>
          <a:prstGeom prst="roundRect">
            <a:avLst>
              <a:gd name="adj" fmla="val 1882"/>
            </a:avLst>
          </a:prstGeom>
          <a:solidFill>
            <a:srgbClr val="2E7D32">
              <a:alpha val="75000"/>
            </a:srgbClr>
          </a:solidFill>
          <a:ln/>
        </p:spPr>
      </p:sp>
      <p:sp>
        <p:nvSpPr>
          <p:cNvPr id="19" name="Shape 16"/>
          <p:cNvSpPr/>
          <p:nvPr/>
        </p:nvSpPr>
        <p:spPr>
          <a:xfrm>
            <a:off x="8001000" y="1965960"/>
            <a:ext cx="594360" cy="594360"/>
          </a:xfrm>
          <a:prstGeom prst="ellipse">
            <a:avLst/>
          </a:prstGeom>
          <a:solidFill>
            <a:srgbClr val="FFFFFF">
              <a:alpha val="88000"/>
            </a:srgbClr>
          </a:solidFill>
          <a:ln/>
        </p:spPr>
      </p:sp>
      <p:pic>
        <p:nvPicPr>
          <p:cNvPr id="20" name="Image 1" descr="icons/bulb_green.png"/>
          <p:cNvPicPr>
            <a:picLocks noChangeAspect="1"/>
          </p:cNvPicPr>
          <p:nvPr/>
        </p:nvPicPr>
        <p:blipFill>
          <a:blip r:embed="rId4"/>
          <a:stretch>
            <a:fillRect/>
          </a:stretch>
        </p:blipFill>
        <p:spPr>
          <a:xfrm>
            <a:off x="8134731" y="2099691"/>
            <a:ext cx="326898" cy="326898"/>
          </a:xfrm>
          <a:prstGeom prst="rect">
            <a:avLst/>
          </a:prstGeom>
        </p:spPr>
      </p:pic>
      <p:sp>
        <p:nvSpPr>
          <p:cNvPr id="21" name="Text 17"/>
          <p:cNvSpPr/>
          <p:nvPr/>
        </p:nvSpPr>
        <p:spPr>
          <a:xfrm>
            <a:off x="8732520" y="2029968"/>
            <a:ext cx="2743200" cy="4572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8.2 Future Work</a:t>
            </a:r>
            <a:endParaRPr lang="en-US" sz="1700" dirty="0"/>
          </a:p>
        </p:txBody>
      </p:sp>
      <p:sp>
        <p:nvSpPr>
          <p:cNvPr id="22" name="Shape 18"/>
          <p:cNvSpPr/>
          <p:nvPr/>
        </p:nvSpPr>
        <p:spPr>
          <a:xfrm>
            <a:off x="8001000" y="2697480"/>
            <a:ext cx="502920" cy="502920"/>
          </a:xfrm>
          <a:prstGeom prst="ellipse">
            <a:avLst/>
          </a:prstGeom>
          <a:solidFill>
            <a:srgbClr val="FFFFFF">
              <a:alpha val="88000"/>
            </a:srgbClr>
          </a:solidFill>
          <a:ln/>
        </p:spPr>
      </p:sp>
      <p:pic>
        <p:nvPicPr>
          <p:cNvPr id="23" name="Image 2" descr="icons/truck_green.png"/>
          <p:cNvPicPr>
            <a:picLocks noChangeAspect="1"/>
          </p:cNvPicPr>
          <p:nvPr/>
        </p:nvPicPr>
        <p:blipFill>
          <a:blip r:embed="rId5"/>
          <a:stretch>
            <a:fillRect/>
          </a:stretch>
        </p:blipFill>
        <p:spPr>
          <a:xfrm>
            <a:off x="8114157" y="2810637"/>
            <a:ext cx="276606" cy="276606"/>
          </a:xfrm>
          <a:prstGeom prst="rect">
            <a:avLst/>
          </a:prstGeom>
        </p:spPr>
      </p:pic>
      <p:sp>
        <p:nvSpPr>
          <p:cNvPr id="24" name="Text 19"/>
          <p:cNvSpPr/>
          <p:nvPr/>
        </p:nvSpPr>
        <p:spPr>
          <a:xfrm>
            <a:off x="8001000" y="3291840"/>
            <a:ext cx="3383280" cy="731520"/>
          </a:xfrm>
          <a:prstGeom prst="rect">
            <a:avLst/>
          </a:prstGeom>
          <a:noFill/>
          <a:ln/>
        </p:spPr>
        <p:txBody>
          <a:bodyPr wrap="square" lIns="0" tIns="0" rIns="0" bIns="0" rtlCol="0" anchor="ctr"/>
          <a:lstStyle/>
          <a:p>
            <a:pPr marL="0" indent="0">
              <a:lnSpc>
                <a:spcPct val="115000"/>
              </a:lnSpc>
              <a:buNone/>
            </a:pPr>
            <a:r>
              <a:rPr lang="en-US" sz="1200" dirty="0">
                <a:solidFill>
                  <a:srgbClr val="DCEDC8"/>
                </a:solidFill>
                <a:latin typeface="Calibri" pitchFamily="34" charset="0"/>
                <a:ea typeface="Calibri" pitchFamily="34" charset="-122"/>
                <a:cs typeface="Calibri" pitchFamily="34" charset="-120"/>
              </a:rPr>
              <a:t>Real-time Maps API for accurate delivery tracking</a:t>
            </a:r>
            <a:endParaRPr lang="en-US" sz="1200" dirty="0"/>
          </a:p>
        </p:txBody>
      </p:sp>
      <p:sp>
        <p:nvSpPr>
          <p:cNvPr id="25" name="Shape 20"/>
          <p:cNvSpPr/>
          <p:nvPr/>
        </p:nvSpPr>
        <p:spPr>
          <a:xfrm>
            <a:off x="8001000" y="4114800"/>
            <a:ext cx="502920" cy="502920"/>
          </a:xfrm>
          <a:prstGeom prst="ellipse">
            <a:avLst/>
          </a:prstGeom>
          <a:solidFill>
            <a:srgbClr val="FFFFFF">
              <a:alpha val="88000"/>
            </a:srgbClr>
          </a:solidFill>
          <a:ln/>
        </p:spPr>
      </p:sp>
      <p:pic>
        <p:nvPicPr>
          <p:cNvPr id="26" name="Image 3" descr="icons/mobile_green.png"/>
          <p:cNvPicPr>
            <a:picLocks noChangeAspect="1"/>
          </p:cNvPicPr>
          <p:nvPr/>
        </p:nvPicPr>
        <p:blipFill>
          <a:blip r:embed="rId6"/>
          <a:stretch>
            <a:fillRect/>
          </a:stretch>
        </p:blipFill>
        <p:spPr>
          <a:xfrm>
            <a:off x="8114157" y="4227957"/>
            <a:ext cx="276606" cy="276606"/>
          </a:xfrm>
          <a:prstGeom prst="rect">
            <a:avLst/>
          </a:prstGeom>
        </p:spPr>
      </p:pic>
      <p:sp>
        <p:nvSpPr>
          <p:cNvPr id="27" name="Text 21"/>
          <p:cNvSpPr/>
          <p:nvPr/>
        </p:nvSpPr>
        <p:spPr>
          <a:xfrm>
            <a:off x="8001000" y="4709160"/>
            <a:ext cx="3383280" cy="731520"/>
          </a:xfrm>
          <a:prstGeom prst="rect">
            <a:avLst/>
          </a:prstGeom>
          <a:noFill/>
          <a:ln/>
        </p:spPr>
        <p:txBody>
          <a:bodyPr wrap="square" lIns="0" tIns="0" rIns="0" bIns="0" rtlCol="0" anchor="ctr"/>
          <a:lstStyle/>
          <a:p>
            <a:pPr marL="0" indent="0">
              <a:lnSpc>
                <a:spcPct val="115000"/>
              </a:lnSpc>
              <a:buNone/>
            </a:pPr>
            <a:r>
              <a:rPr lang="en-US" sz="1200" dirty="0">
                <a:solidFill>
                  <a:srgbClr val="DCEDC8"/>
                </a:solidFill>
                <a:latin typeface="Calibri" pitchFamily="34" charset="0"/>
                <a:ea typeface="Calibri" pitchFamily="34" charset="-122"/>
                <a:cs typeface="Calibri" pitchFamily="34" charset="-120"/>
              </a:rPr>
              <a:t>Encrypted Telemedicine consultation feature</a:t>
            </a:r>
            <a:endParaRPr lang="en-US" sz="1200" dirty="0"/>
          </a:p>
        </p:txBody>
      </p:sp>
      <p:sp>
        <p:nvSpPr>
          <p:cNvPr id="28" name="Shape 22"/>
          <p:cNvSpPr/>
          <p:nvPr/>
        </p:nvSpPr>
        <p:spPr>
          <a:xfrm>
            <a:off x="8001000" y="5532120"/>
            <a:ext cx="502920" cy="502920"/>
          </a:xfrm>
          <a:prstGeom prst="ellipse">
            <a:avLst/>
          </a:prstGeom>
          <a:solidFill>
            <a:srgbClr val="FFFFFF">
              <a:alpha val="88000"/>
            </a:srgbClr>
          </a:solidFill>
          <a:ln/>
        </p:spPr>
      </p:sp>
      <p:pic>
        <p:nvPicPr>
          <p:cNvPr id="29" name="Image 4" descr="icons/chart_green.png"/>
          <p:cNvPicPr>
            <a:picLocks noChangeAspect="1"/>
          </p:cNvPicPr>
          <p:nvPr/>
        </p:nvPicPr>
        <p:blipFill>
          <a:blip r:embed="rId7"/>
          <a:stretch>
            <a:fillRect/>
          </a:stretch>
        </p:blipFill>
        <p:spPr>
          <a:xfrm>
            <a:off x="8114157" y="5645277"/>
            <a:ext cx="276606" cy="276606"/>
          </a:xfrm>
          <a:prstGeom prst="rect">
            <a:avLst/>
          </a:prstGeom>
        </p:spPr>
      </p:pic>
      <p:sp>
        <p:nvSpPr>
          <p:cNvPr id="30" name="Text 23"/>
          <p:cNvSpPr/>
          <p:nvPr/>
        </p:nvSpPr>
        <p:spPr>
          <a:xfrm>
            <a:off x="8001000" y="6126480"/>
            <a:ext cx="3383280" cy="731520"/>
          </a:xfrm>
          <a:prstGeom prst="rect">
            <a:avLst/>
          </a:prstGeom>
          <a:noFill/>
          <a:ln/>
        </p:spPr>
        <p:txBody>
          <a:bodyPr wrap="square" lIns="0" tIns="0" rIns="0" bIns="0" rtlCol="0" anchor="ctr"/>
          <a:lstStyle/>
          <a:p>
            <a:pPr marL="0" indent="0">
              <a:lnSpc>
                <a:spcPct val="115000"/>
              </a:lnSpc>
              <a:buNone/>
            </a:pPr>
            <a:r>
              <a:rPr lang="en-US" sz="1200" dirty="0">
                <a:solidFill>
                  <a:srgbClr val="DCEDC8"/>
                </a:solidFill>
                <a:latin typeface="Calibri" pitchFamily="34" charset="0"/>
                <a:ea typeface="Calibri" pitchFamily="34" charset="-122"/>
                <a:cs typeface="Calibri" pitchFamily="34" charset="-120"/>
              </a:rPr>
              <a:t>Deeper A/B testing on the Cart UI to optimize conversion</a:t>
            </a:r>
            <a:endParaRPr lang="en-US" sz="1200" dirty="0"/>
          </a:p>
        </p:txBody>
      </p:sp>
      <p:sp>
        <p:nvSpPr>
          <p:cNvPr id="31" name="Text 24"/>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54864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APPENDIX A — LIVE PROJECT LINKS</a:t>
            </a:r>
            <a:endParaRPr lang="en-US" sz="1200" dirty="0"/>
          </a:p>
        </p:txBody>
      </p:sp>
      <p:sp>
        <p:nvSpPr>
          <p:cNvPr id="3" name="Text 1"/>
          <p:cNvSpPr/>
          <p:nvPr/>
        </p:nvSpPr>
        <p:spPr>
          <a:xfrm>
            <a:off x="548640" y="685800"/>
            <a:ext cx="11064240" cy="822960"/>
          </a:xfrm>
          <a:prstGeom prst="rect">
            <a:avLst/>
          </a:prstGeom>
          <a:noFill/>
          <a:ln/>
        </p:spPr>
        <p:txBody>
          <a:bodyPr wrap="square" lIns="0" tIns="0" rIns="0" bIns="0" rtlCol="0" anchor="ctr"/>
          <a:lstStyle/>
          <a:p>
            <a:pPr marL="0" indent="0">
              <a:buNone/>
            </a:pPr>
            <a:r>
              <a:rPr lang="en-US" sz="3200" b="1" dirty="0">
                <a:solidFill>
                  <a:srgbClr val="263238"/>
                </a:solidFill>
                <a:latin typeface="Cambria" pitchFamily="34" charset="0"/>
                <a:ea typeface="Cambria" pitchFamily="34" charset="-122"/>
                <a:cs typeface="Cambria" pitchFamily="34" charset="-120"/>
              </a:rPr>
              <a:t>Everything Is Live &amp; Verifiable</a:t>
            </a:r>
            <a:endParaRPr lang="en-US" sz="3200" dirty="0"/>
          </a:p>
        </p:txBody>
      </p:sp>
      <p:sp>
        <p:nvSpPr>
          <p:cNvPr id="4" name="Text 2"/>
          <p:cNvSpPr/>
          <p:nvPr/>
        </p:nvSpPr>
        <p:spPr>
          <a:xfrm>
            <a:off x="548640" y="1554480"/>
            <a:ext cx="10972800" cy="365760"/>
          </a:xfrm>
          <a:prstGeom prst="rect">
            <a:avLst/>
          </a:prstGeom>
          <a:noFill/>
          <a:ln/>
        </p:spPr>
        <p:txBody>
          <a:bodyPr wrap="square" lIns="0" tIns="0" rIns="0" bIns="0" rtlCol="0" anchor="ctr"/>
          <a:lstStyle/>
          <a:p>
            <a:pPr marL="0" indent="0">
              <a:buNone/>
            </a:pPr>
            <a:r>
              <a:rPr lang="en-US" sz="1350" dirty="0">
                <a:solidFill>
                  <a:srgbClr val="64748B"/>
                </a:solidFill>
                <a:latin typeface="Calibri" pitchFamily="34" charset="0"/>
                <a:ea typeface="Calibri" pitchFamily="34" charset="-122"/>
                <a:cs typeface="Calibri" pitchFamily="34" charset="-120"/>
              </a:rPr>
              <a:t>Every artifact referenced in this presentation — wireframes, prototype, code, and the live app — is publicly accessible.</a:t>
            </a:r>
            <a:endParaRPr lang="en-US" sz="1350" dirty="0"/>
          </a:p>
        </p:txBody>
      </p:sp>
      <p:sp>
        <p:nvSpPr>
          <p:cNvPr id="5" name="Shape 3"/>
          <p:cNvSpPr/>
          <p:nvPr/>
        </p:nvSpPr>
        <p:spPr>
          <a:xfrm>
            <a:off x="548640" y="2103120"/>
            <a:ext cx="5486400" cy="1371600"/>
          </a:xfrm>
          <a:prstGeom prst="roundRect">
            <a:avLst>
              <a:gd name="adj" fmla="val 5333"/>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6" name="Shape 4"/>
          <p:cNvSpPr/>
          <p:nvPr/>
        </p:nvSpPr>
        <p:spPr>
          <a:xfrm>
            <a:off x="777240" y="2468880"/>
            <a:ext cx="640080" cy="640080"/>
          </a:xfrm>
          <a:prstGeom prst="ellipse">
            <a:avLst/>
          </a:prstGeom>
          <a:solidFill>
            <a:srgbClr val="2E7D32">
              <a:alpha val="12000"/>
            </a:srgbClr>
          </a:solidFill>
          <a:ln/>
        </p:spPr>
      </p:sp>
      <p:pic>
        <p:nvPicPr>
          <p:cNvPr id="7" name="Image 0" descr="icons/code_green.png"/>
          <p:cNvPicPr>
            <a:picLocks noChangeAspect="1"/>
          </p:cNvPicPr>
          <p:nvPr/>
        </p:nvPicPr>
        <p:blipFill>
          <a:blip r:embed="rId3"/>
          <a:stretch>
            <a:fillRect/>
          </a:stretch>
        </p:blipFill>
        <p:spPr>
          <a:xfrm>
            <a:off x="921258" y="2612898"/>
            <a:ext cx="352044" cy="352044"/>
          </a:xfrm>
          <a:prstGeom prst="rect">
            <a:avLst/>
          </a:prstGeom>
        </p:spPr>
      </p:pic>
      <p:sp>
        <p:nvSpPr>
          <p:cNvPr id="8" name="Text 5"/>
          <p:cNvSpPr/>
          <p:nvPr/>
        </p:nvSpPr>
        <p:spPr>
          <a:xfrm>
            <a:off x="1600200" y="2304288"/>
            <a:ext cx="4206240" cy="41148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GitHub Repository (Source Code)</a:t>
            </a:r>
            <a:endParaRPr lang="en-US" sz="1400" dirty="0"/>
          </a:p>
        </p:txBody>
      </p:sp>
      <p:sp>
        <p:nvSpPr>
          <p:cNvPr id="9" name="Text 6"/>
          <p:cNvSpPr/>
          <p:nvPr/>
        </p:nvSpPr>
        <p:spPr>
          <a:xfrm>
            <a:off x="1600200" y="2724912"/>
            <a:ext cx="4206240" cy="59436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Calibri" pitchFamily="34" charset="0"/>
                <a:ea typeface="Calibri" pitchFamily="34" charset="-122"/>
                <a:cs typeface="Calibri" pitchFamily="34" charset="-120"/>
              </a:rPr>
              <a:t>github.com/BandarAbdulrab/Final-Project-UAS-of-Human-Computer-Interaction-UI-UX-Course</a:t>
            </a:r>
            <a:endParaRPr lang="en-US" sz="1050" dirty="0"/>
          </a:p>
        </p:txBody>
      </p:sp>
      <p:sp>
        <p:nvSpPr>
          <p:cNvPr id="10" name="Shape 7"/>
          <p:cNvSpPr/>
          <p:nvPr/>
        </p:nvSpPr>
        <p:spPr>
          <a:xfrm>
            <a:off x="6492240" y="2103120"/>
            <a:ext cx="5486400" cy="1371600"/>
          </a:xfrm>
          <a:prstGeom prst="roundRect">
            <a:avLst>
              <a:gd name="adj" fmla="val 5333"/>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1" name="Shape 8"/>
          <p:cNvSpPr/>
          <p:nvPr/>
        </p:nvSpPr>
        <p:spPr>
          <a:xfrm>
            <a:off x="6720840" y="2468880"/>
            <a:ext cx="640080" cy="640080"/>
          </a:xfrm>
          <a:prstGeom prst="ellipse">
            <a:avLst/>
          </a:prstGeom>
          <a:solidFill>
            <a:srgbClr val="2E7D32">
              <a:alpha val="12000"/>
            </a:srgbClr>
          </a:solidFill>
          <a:ln/>
        </p:spPr>
      </p:sp>
      <p:pic>
        <p:nvPicPr>
          <p:cNvPr id="12" name="Image 1" descr="icons/mobile_green.png"/>
          <p:cNvPicPr>
            <a:picLocks noChangeAspect="1"/>
          </p:cNvPicPr>
          <p:nvPr/>
        </p:nvPicPr>
        <p:blipFill>
          <a:blip r:embed="rId4"/>
          <a:stretch>
            <a:fillRect/>
          </a:stretch>
        </p:blipFill>
        <p:spPr>
          <a:xfrm>
            <a:off x="6864858" y="2612898"/>
            <a:ext cx="352044" cy="352044"/>
          </a:xfrm>
          <a:prstGeom prst="rect">
            <a:avLst/>
          </a:prstGeom>
        </p:spPr>
      </p:pic>
      <p:sp>
        <p:nvSpPr>
          <p:cNvPr id="13" name="Text 9"/>
          <p:cNvSpPr/>
          <p:nvPr/>
        </p:nvSpPr>
        <p:spPr>
          <a:xfrm>
            <a:off x="7543800" y="2304288"/>
            <a:ext cx="4206240" cy="41148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Live Web App (Firebase Hosting)</a:t>
            </a:r>
            <a:endParaRPr lang="en-US" sz="1400" dirty="0"/>
          </a:p>
        </p:txBody>
      </p:sp>
      <p:sp>
        <p:nvSpPr>
          <p:cNvPr id="14" name="Text 10"/>
          <p:cNvSpPr/>
          <p:nvPr/>
        </p:nvSpPr>
        <p:spPr>
          <a:xfrm>
            <a:off x="7543800" y="2724912"/>
            <a:ext cx="4206240" cy="59436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Calibri" pitchFamily="34" charset="0"/>
                <a:ea typeface="Calibri" pitchFamily="34" charset="-122"/>
                <a:cs typeface="Calibri" pitchFamily="34" charset="-120"/>
              </a:rPr>
              <a:t>k24-klik-redesign.web.app</a:t>
            </a:r>
            <a:endParaRPr lang="en-US" sz="1050" dirty="0"/>
          </a:p>
        </p:txBody>
      </p:sp>
      <p:sp>
        <p:nvSpPr>
          <p:cNvPr id="15" name="Shape 11"/>
          <p:cNvSpPr/>
          <p:nvPr/>
        </p:nvSpPr>
        <p:spPr>
          <a:xfrm>
            <a:off x="548640" y="3749040"/>
            <a:ext cx="5486400" cy="1371600"/>
          </a:xfrm>
          <a:prstGeom prst="roundRect">
            <a:avLst>
              <a:gd name="adj" fmla="val 5333"/>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16" name="Shape 12"/>
          <p:cNvSpPr/>
          <p:nvPr/>
        </p:nvSpPr>
        <p:spPr>
          <a:xfrm>
            <a:off x="777240" y="4114800"/>
            <a:ext cx="640080" cy="640080"/>
          </a:xfrm>
          <a:prstGeom prst="ellipse">
            <a:avLst/>
          </a:prstGeom>
          <a:solidFill>
            <a:srgbClr val="2E7D32">
              <a:alpha val="12000"/>
            </a:srgbClr>
          </a:solidFill>
          <a:ln/>
        </p:spPr>
      </p:sp>
      <p:pic>
        <p:nvPicPr>
          <p:cNvPr id="17" name="Image 2" descr="icons/figma_green.png"/>
          <p:cNvPicPr>
            <a:picLocks noChangeAspect="1"/>
          </p:cNvPicPr>
          <p:nvPr/>
        </p:nvPicPr>
        <p:blipFill>
          <a:blip r:embed="rId5"/>
          <a:stretch>
            <a:fillRect/>
          </a:stretch>
        </p:blipFill>
        <p:spPr>
          <a:xfrm>
            <a:off x="921258" y="4258818"/>
            <a:ext cx="352044" cy="352044"/>
          </a:xfrm>
          <a:prstGeom prst="rect">
            <a:avLst/>
          </a:prstGeom>
        </p:spPr>
      </p:pic>
      <p:sp>
        <p:nvSpPr>
          <p:cNvPr id="18" name="Text 13"/>
          <p:cNvSpPr/>
          <p:nvPr/>
        </p:nvSpPr>
        <p:spPr>
          <a:xfrm>
            <a:off x="1600200" y="3950208"/>
            <a:ext cx="4206240" cy="41148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Figma Hi-Fi Prototype</a:t>
            </a:r>
            <a:endParaRPr lang="en-US" sz="1400" dirty="0"/>
          </a:p>
        </p:txBody>
      </p:sp>
      <p:sp>
        <p:nvSpPr>
          <p:cNvPr id="19" name="Text 14"/>
          <p:cNvSpPr/>
          <p:nvPr/>
        </p:nvSpPr>
        <p:spPr>
          <a:xfrm>
            <a:off x="1600200" y="4370832"/>
            <a:ext cx="4206240" cy="59436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Calibri" pitchFamily="34" charset="0"/>
                <a:ea typeface="Calibri" pitchFamily="34" charset="-122"/>
                <a:cs typeface="Calibri" pitchFamily="34" charset="-120"/>
              </a:rPr>
              <a:t>Linked in report Appendix A — “View Hi-Fi Prototype”</a:t>
            </a:r>
            <a:endParaRPr lang="en-US" sz="1050" dirty="0"/>
          </a:p>
        </p:txBody>
      </p:sp>
      <p:sp>
        <p:nvSpPr>
          <p:cNvPr id="20" name="Shape 15"/>
          <p:cNvSpPr/>
          <p:nvPr/>
        </p:nvSpPr>
        <p:spPr>
          <a:xfrm>
            <a:off x="6492240" y="3749040"/>
            <a:ext cx="5486400" cy="1371600"/>
          </a:xfrm>
          <a:prstGeom prst="roundRect">
            <a:avLst>
              <a:gd name="adj" fmla="val 5333"/>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21" name="Shape 16"/>
          <p:cNvSpPr/>
          <p:nvPr/>
        </p:nvSpPr>
        <p:spPr>
          <a:xfrm>
            <a:off x="6720840" y="4114800"/>
            <a:ext cx="640080" cy="640080"/>
          </a:xfrm>
          <a:prstGeom prst="ellipse">
            <a:avLst/>
          </a:prstGeom>
          <a:solidFill>
            <a:srgbClr val="2E7D32">
              <a:alpha val="12000"/>
            </a:srgbClr>
          </a:solidFill>
          <a:ln/>
        </p:spPr>
      </p:sp>
      <p:pic>
        <p:nvPicPr>
          <p:cNvPr id="22" name="Image 3" descr="icons/cart_green.png"/>
          <p:cNvPicPr>
            <a:picLocks noChangeAspect="1"/>
          </p:cNvPicPr>
          <p:nvPr/>
        </p:nvPicPr>
        <p:blipFill>
          <a:blip r:embed="rId6"/>
          <a:stretch>
            <a:fillRect/>
          </a:stretch>
        </p:blipFill>
        <p:spPr>
          <a:xfrm>
            <a:off x="6864858" y="4258818"/>
            <a:ext cx="352044" cy="352044"/>
          </a:xfrm>
          <a:prstGeom prst="rect">
            <a:avLst/>
          </a:prstGeom>
        </p:spPr>
      </p:pic>
      <p:sp>
        <p:nvSpPr>
          <p:cNvPr id="23" name="Text 17"/>
          <p:cNvSpPr/>
          <p:nvPr/>
        </p:nvSpPr>
        <p:spPr>
          <a:xfrm>
            <a:off x="7543800" y="3950208"/>
            <a:ext cx="4206240" cy="41148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Android APK Download</a:t>
            </a:r>
            <a:endParaRPr lang="en-US" sz="1400" dirty="0"/>
          </a:p>
        </p:txBody>
      </p:sp>
      <p:sp>
        <p:nvSpPr>
          <p:cNvPr id="24" name="Text 18"/>
          <p:cNvSpPr/>
          <p:nvPr/>
        </p:nvSpPr>
        <p:spPr>
          <a:xfrm>
            <a:off x="7543800" y="4370832"/>
            <a:ext cx="4206240" cy="59436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Calibri" pitchFamily="34" charset="0"/>
                <a:ea typeface="Calibri" pitchFamily="34" charset="-122"/>
                <a:cs typeface="Calibri" pitchFamily="34" charset="-120"/>
              </a:rPr>
              <a:t>Linked via Google Drive — report Appendix A</a:t>
            </a:r>
            <a:endParaRPr lang="en-US" sz="1050" dirty="0"/>
          </a:p>
        </p:txBody>
      </p:sp>
      <p:sp>
        <p:nvSpPr>
          <p:cNvPr id="25" name="Shape 19"/>
          <p:cNvSpPr/>
          <p:nvPr/>
        </p:nvSpPr>
        <p:spPr>
          <a:xfrm>
            <a:off x="548640" y="5394960"/>
            <a:ext cx="5486400" cy="1371600"/>
          </a:xfrm>
          <a:prstGeom prst="roundRect">
            <a:avLst>
              <a:gd name="adj" fmla="val 5333"/>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26" name="Shape 20"/>
          <p:cNvSpPr/>
          <p:nvPr/>
        </p:nvSpPr>
        <p:spPr>
          <a:xfrm>
            <a:off x="777240" y="5760720"/>
            <a:ext cx="640080" cy="640080"/>
          </a:xfrm>
          <a:prstGeom prst="ellipse">
            <a:avLst/>
          </a:prstGeom>
          <a:solidFill>
            <a:srgbClr val="2E7D32">
              <a:alpha val="12000"/>
            </a:srgbClr>
          </a:solidFill>
          <a:ln/>
        </p:spPr>
      </p:sp>
      <p:pic>
        <p:nvPicPr>
          <p:cNvPr id="27" name="Image 4" descr="icons/list_green.png"/>
          <p:cNvPicPr>
            <a:picLocks noChangeAspect="1"/>
          </p:cNvPicPr>
          <p:nvPr/>
        </p:nvPicPr>
        <p:blipFill>
          <a:blip r:embed="rId7"/>
          <a:stretch>
            <a:fillRect/>
          </a:stretch>
        </p:blipFill>
        <p:spPr>
          <a:xfrm>
            <a:off x="921258" y="5904738"/>
            <a:ext cx="352044" cy="352044"/>
          </a:xfrm>
          <a:prstGeom prst="rect">
            <a:avLst/>
          </a:prstGeom>
        </p:spPr>
      </p:pic>
      <p:sp>
        <p:nvSpPr>
          <p:cNvPr id="28" name="Text 21"/>
          <p:cNvSpPr/>
          <p:nvPr/>
        </p:nvSpPr>
        <p:spPr>
          <a:xfrm>
            <a:off x="1600200" y="5596128"/>
            <a:ext cx="4206240" cy="41148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Code Explanations (docs/)</a:t>
            </a:r>
            <a:endParaRPr lang="en-US" sz="1400" dirty="0"/>
          </a:p>
        </p:txBody>
      </p:sp>
      <p:sp>
        <p:nvSpPr>
          <p:cNvPr id="29" name="Text 22"/>
          <p:cNvSpPr/>
          <p:nvPr/>
        </p:nvSpPr>
        <p:spPr>
          <a:xfrm>
            <a:off x="1600200" y="6016752"/>
            <a:ext cx="4206240" cy="59436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Calibri" pitchFamily="34" charset="0"/>
                <a:ea typeface="Calibri" pitchFamily="34" charset="-122"/>
                <a:cs typeface="Calibri" pitchFamily="34" charset="-120"/>
              </a:rPr>
              <a:t>github.com/.../tree/main/docs/Code %26 Software Explanations</a:t>
            </a:r>
            <a:endParaRPr lang="en-US" sz="1050" dirty="0"/>
          </a:p>
        </p:txBody>
      </p:sp>
      <p:sp>
        <p:nvSpPr>
          <p:cNvPr id="30" name="Shape 23"/>
          <p:cNvSpPr/>
          <p:nvPr/>
        </p:nvSpPr>
        <p:spPr>
          <a:xfrm>
            <a:off x="6492240" y="5394960"/>
            <a:ext cx="5486400" cy="1371600"/>
          </a:xfrm>
          <a:prstGeom prst="roundRect">
            <a:avLst>
              <a:gd name="adj" fmla="val 5333"/>
            </a:avLst>
          </a:prstGeom>
          <a:solidFill>
            <a:srgbClr val="FFFFFF"/>
          </a:solidFill>
          <a:ln w="9525">
            <a:solidFill>
              <a:srgbClr val="E2E8F0"/>
            </a:solidFill>
            <a:prstDash val="solid"/>
          </a:ln>
          <a:effectLst>
            <a:outerShdw blurRad="101600" dist="38100" dir="2700000" algn="bl" rotWithShape="0">
              <a:srgbClr val="1B5E20">
                <a:alpha val="18000"/>
              </a:srgbClr>
            </a:outerShdw>
          </a:effectLst>
        </p:spPr>
      </p:sp>
      <p:sp>
        <p:nvSpPr>
          <p:cNvPr id="31" name="Shape 24"/>
          <p:cNvSpPr/>
          <p:nvPr/>
        </p:nvSpPr>
        <p:spPr>
          <a:xfrm>
            <a:off x="6720840" y="5760720"/>
            <a:ext cx="640080" cy="640080"/>
          </a:xfrm>
          <a:prstGeom prst="ellipse">
            <a:avLst/>
          </a:prstGeom>
          <a:solidFill>
            <a:srgbClr val="2E7D32">
              <a:alpha val="12000"/>
            </a:srgbClr>
          </a:solidFill>
          <a:ln/>
        </p:spPr>
      </p:sp>
      <p:pic>
        <p:nvPicPr>
          <p:cNvPr id="32" name="Image 5" descr="icons/users_green.png"/>
          <p:cNvPicPr>
            <a:picLocks noChangeAspect="1"/>
          </p:cNvPicPr>
          <p:nvPr/>
        </p:nvPicPr>
        <p:blipFill>
          <a:blip r:embed="rId8"/>
          <a:stretch>
            <a:fillRect/>
          </a:stretch>
        </p:blipFill>
        <p:spPr>
          <a:xfrm>
            <a:off x="6864858" y="5904738"/>
            <a:ext cx="352044" cy="352044"/>
          </a:xfrm>
          <a:prstGeom prst="rect">
            <a:avLst/>
          </a:prstGeom>
        </p:spPr>
      </p:pic>
      <p:sp>
        <p:nvSpPr>
          <p:cNvPr id="33" name="Text 25"/>
          <p:cNvSpPr/>
          <p:nvPr/>
        </p:nvSpPr>
        <p:spPr>
          <a:xfrm>
            <a:off x="7543800" y="5596128"/>
            <a:ext cx="4206240" cy="411480"/>
          </a:xfrm>
          <a:prstGeom prst="rect">
            <a:avLst/>
          </a:prstGeom>
          <a:noFill/>
          <a:ln/>
        </p:spPr>
        <p:txBody>
          <a:bodyPr wrap="square" lIns="0" tIns="0" rIns="0" bIns="0" rtlCol="0" anchor="ctr"/>
          <a:lstStyle/>
          <a:p>
            <a:pPr marL="0" indent="0">
              <a:buNone/>
            </a:pPr>
            <a:r>
              <a:rPr lang="en-US" sz="1400" b="1" dirty="0">
                <a:solidFill>
                  <a:srgbClr val="263238"/>
                </a:solidFill>
                <a:latin typeface="Calibri" pitchFamily="34" charset="0"/>
                <a:ea typeface="Calibri" pitchFamily="34" charset="-122"/>
                <a:cs typeface="Calibri" pitchFamily="34" charset="-120"/>
              </a:rPr>
              <a:t>Surveys &amp; Raw Data</a:t>
            </a:r>
            <a:endParaRPr lang="en-US" sz="1400" dirty="0"/>
          </a:p>
        </p:txBody>
      </p:sp>
      <p:sp>
        <p:nvSpPr>
          <p:cNvPr id="34" name="Text 26"/>
          <p:cNvSpPr/>
          <p:nvPr/>
        </p:nvSpPr>
        <p:spPr>
          <a:xfrm>
            <a:off x="7543800" y="6016752"/>
            <a:ext cx="4206240" cy="594360"/>
          </a:xfrm>
          <a:prstGeom prst="rect">
            <a:avLst/>
          </a:prstGeom>
          <a:noFill/>
          <a:ln/>
        </p:spPr>
        <p:txBody>
          <a:bodyPr wrap="square" lIns="0" tIns="0" rIns="0" bIns="0" rtlCol="0" anchor="ctr"/>
          <a:lstStyle/>
          <a:p>
            <a:pPr marL="0" indent="0">
              <a:lnSpc>
                <a:spcPct val="110000"/>
              </a:lnSpc>
              <a:buNone/>
            </a:pPr>
            <a:r>
              <a:rPr lang="en-US" sz="1050" dirty="0">
                <a:solidFill>
                  <a:srgbClr val="64748B"/>
                </a:solidFill>
                <a:latin typeface="Calibri" pitchFamily="34" charset="0"/>
                <a:ea typeface="Calibri" pitchFamily="34" charset="-122"/>
                <a:cs typeface="Calibri" pitchFamily="34" charset="-120"/>
              </a:rPr>
              <a:t>Quantitative UX survey + SUS evaluation — forms &amp; Excel data, Ch.3.2 &amp; 7.2</a:t>
            </a:r>
            <a:endParaRPr lang="en-US" sz="1050" dirty="0"/>
          </a:p>
        </p:txBody>
      </p:sp>
      <p:sp>
        <p:nvSpPr>
          <p:cNvPr id="35" name="Text 27"/>
          <p:cNvSpPr/>
          <p:nvPr/>
        </p:nvSpPr>
        <p:spPr>
          <a:xfrm>
            <a:off x="548640" y="6446520"/>
            <a:ext cx="5486400" cy="320040"/>
          </a:xfrm>
          <a:prstGeom prst="rect">
            <a:avLst/>
          </a:prstGeom>
          <a:noFill/>
          <a:ln/>
        </p:spPr>
        <p:txBody>
          <a:bodyPr wrap="square" lIns="0" tIns="0" rIns="0" bIns="0" rtlCol="0" anchor="ctr"/>
          <a:lstStyle/>
          <a:p>
            <a:pPr marL="0" indent="0">
              <a:buNone/>
            </a:pPr>
            <a:r>
              <a:rPr lang="en-US" sz="1400" b="1" i="1" dirty="0">
                <a:solidFill>
                  <a:srgbClr val="2E7D32"/>
                </a:solidFill>
                <a:latin typeface="Cambria" pitchFamily="34" charset="0"/>
                <a:ea typeface="Cambria" pitchFamily="34" charset="-122"/>
                <a:cs typeface="Cambria" pitchFamily="34" charset="-120"/>
              </a:rPr>
              <a:t>Thank you — questions welcome.</a:t>
            </a:r>
            <a:endParaRPr lang="en-US" sz="1400" dirty="0"/>
          </a:p>
        </p:txBody>
      </p:sp>
      <p:sp>
        <p:nvSpPr>
          <p:cNvPr id="36" name="Text 28"/>
          <p:cNvSpPr/>
          <p:nvPr/>
        </p:nvSpPr>
        <p:spPr>
          <a:xfrm>
            <a:off x="11521440" y="6446520"/>
            <a:ext cx="548640" cy="274320"/>
          </a:xfrm>
          <a:prstGeom prst="rect">
            <a:avLst/>
          </a:prstGeom>
          <a:noFill/>
          <a:ln/>
        </p:spPr>
        <p:txBody>
          <a:bodyPr wrap="square" lIns="0" tIns="0" rIns="0" bIns="0" rtlCol="0" anchor="ctr"/>
          <a:lstStyle/>
          <a:p>
            <a:pPr marL="0" indent="0" algn="r">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4237</Words>
  <Application>Microsoft Office PowerPoint</Application>
  <PresentationFormat>Widescreen</PresentationFormat>
  <Paragraphs>417</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Redesigning K24Klik - HCI &amp; UI/UX Final Project</dc:title>
  <dc:subject>PptxGenJS Presentation</dc:subject>
  <dc:creator>Bandar Qaid Ahmed Abdulrab</dc:creator>
  <cp:lastModifiedBy>Bandar Abdulrab</cp:lastModifiedBy>
  <cp:revision>4</cp:revision>
  <dcterms:created xsi:type="dcterms:W3CDTF">2026-06-14T13:03:10Z</dcterms:created>
  <dcterms:modified xsi:type="dcterms:W3CDTF">2026-06-14T18:14:39Z</dcterms:modified>
</cp:coreProperties>
</file>